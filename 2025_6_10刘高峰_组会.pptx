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98" r:id="rId2"/>
    <p:sldId id="257" r:id="rId3"/>
    <p:sldId id="341" r:id="rId4"/>
    <p:sldId id="491" r:id="rId5"/>
    <p:sldId id="519" r:id="rId6"/>
    <p:sldId id="520" r:id="rId7"/>
    <p:sldId id="522" r:id="rId8"/>
    <p:sldId id="521" r:id="rId9"/>
    <p:sldId id="523" r:id="rId10"/>
    <p:sldId id="346" r:id="rId11"/>
    <p:sldId id="309"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434E"/>
    <a:srgbClr val="3A5925"/>
    <a:srgbClr val="43672B"/>
    <a:srgbClr val="945358"/>
    <a:srgbClr val="5A5A5A"/>
    <a:srgbClr val="203864"/>
    <a:srgbClr val="324C20"/>
    <a:srgbClr val="3552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86776" autoAdjust="0"/>
  </p:normalViewPr>
  <p:slideViewPr>
    <p:cSldViewPr snapToGrid="0">
      <p:cViewPr varScale="1">
        <p:scale>
          <a:sx n="66" d="100"/>
          <a:sy n="66" d="100"/>
        </p:scale>
        <p:origin x="1020" y="84"/>
      </p:cViewPr>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927"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928"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929"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930"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1"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932"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A0EA98-5831-4853-B862-C702E6EB345C}" type="slidenum">
              <a:rPr lang="en-US" smtClean="0"/>
              <a:t>1</a:t>
            </a:fld>
            <a:endParaRPr lang="en-US"/>
          </a:p>
        </p:txBody>
      </p:sp>
    </p:spTree>
    <p:extLst>
      <p:ext uri="{BB962C8B-B14F-4D97-AF65-F5344CB8AC3E}">
        <p14:creationId xmlns:p14="http://schemas.microsoft.com/office/powerpoint/2010/main" val="4071264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r>
              <a:rPr lang="zh-CN" altLang="en-US" dirty="0"/>
              <a:t>汇报从以下几个部分展开</a:t>
            </a:r>
          </a:p>
        </p:txBody>
      </p:sp>
      <p:sp>
        <p:nvSpPr>
          <p:cNvPr id="4" name="灯片编号占位符 3"/>
          <p:cNvSpPr>
            <a:spLocks noGrp="1"/>
          </p:cNvSpPr>
          <p:nvPr>
            <p:ph type="sldNum" sz="quarter" idx="5"/>
          </p:nvPr>
        </p:nvSpPr>
        <p:spPr/>
        <p:txBody>
          <a:bodyPr/>
          <a:lstStyle/>
          <a:p>
            <a:fld id="{A9A0EA98-5831-4853-B862-C702E6EB345C}" type="slidenum">
              <a:rPr lang="en-US" smtClean="0"/>
              <a:t>2</a:t>
            </a:fld>
            <a:endParaRPr lang="en-US"/>
          </a:p>
        </p:txBody>
      </p:sp>
    </p:spTree>
    <p:extLst>
      <p:ext uri="{BB962C8B-B14F-4D97-AF65-F5344CB8AC3E}">
        <p14:creationId xmlns:p14="http://schemas.microsoft.com/office/powerpoint/2010/main" val="82640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algn="l"/>
            <a:endParaRPr lang="zh-CN" altLang="en-US" b="1" dirty="0">
              <a:solidFill>
                <a:srgbClr val="FF0000"/>
              </a:solidFill>
              <a:latin typeface="+mj-lt"/>
            </a:endParaRPr>
          </a:p>
        </p:txBody>
      </p:sp>
      <p:sp>
        <p:nvSpPr>
          <p:cNvPr id="4" name="灯片编号占位符 3"/>
          <p:cNvSpPr>
            <a:spLocks noGrp="1"/>
          </p:cNvSpPr>
          <p:nvPr>
            <p:ph type="sldNum" sz="quarter" idx="5"/>
          </p:nvPr>
        </p:nvSpPr>
        <p:spPr/>
        <p:txBody>
          <a:bodyPr/>
          <a:lstStyle/>
          <a:p>
            <a:fld id="{B2CB6E48-10D0-446F-A6C8-527914C46209}"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50612-31BB-3FAF-1CD9-4015628641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7A56C2-4C5F-8FC5-8874-E4F0D91D7165}"/>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8AD5A951-D0B7-4B2A-4E54-8B1F8E8DA45B}"/>
              </a:ext>
            </a:extLst>
          </p:cNvPr>
          <p:cNvSpPr>
            <a:spLocks noGrp="1"/>
          </p:cNvSpPr>
          <p:nvPr>
            <p:ph type="body" idx="1"/>
          </p:nvPr>
        </p:nvSpPr>
        <p:spPr/>
        <p:txBody>
          <a:bodyPr/>
          <a:lstStyle/>
          <a:p>
            <a:r>
              <a:rPr lang="zh-CN" altLang="en-US" dirty="0"/>
              <a:t>在图像拼接任务中，面对不同场景和挑战，研究者提出了多种技术路线。我们将主流方法分为三大类：传统几何方法、网格变形方法和深度学习方法，每类方法都有其适应场景与不足</a:t>
            </a:r>
            <a:endParaRPr lang="en-US" altLang="zh-CN" dirty="0"/>
          </a:p>
          <a:p>
            <a:r>
              <a:rPr lang="zh-CN" altLang="en-US" b="1" dirty="0"/>
              <a:t>一、传统几何方法：快速而基础的图像拼接方案</a:t>
            </a:r>
          </a:p>
          <a:p>
            <a:r>
              <a:rPr lang="zh-CN" altLang="en-US" dirty="0"/>
              <a:t>这一类方法依赖图像之间的特征点匹配，进而估计变换关系。</a:t>
            </a:r>
          </a:p>
          <a:p>
            <a:r>
              <a:rPr lang="zh-CN" altLang="en-US" b="1" dirty="0"/>
              <a:t>单应性变换（</a:t>
            </a:r>
            <a:r>
              <a:rPr lang="en-US" altLang="zh-CN" b="1" dirty="0"/>
              <a:t>Single </a:t>
            </a:r>
            <a:r>
              <a:rPr lang="en-US" altLang="zh-CN" b="1" dirty="0" err="1"/>
              <a:t>Homography</a:t>
            </a:r>
            <a:r>
              <a:rPr lang="zh-CN" altLang="en-US" b="1" dirty="0"/>
              <a:t>）</a:t>
            </a:r>
            <a:r>
              <a:rPr lang="zh-CN" altLang="en-US" dirty="0"/>
              <a:t> 是最基本的拼接方式，适合平面或远景图像，比如墙面、纸张等。优点是速度快、计算简单。但一旦场景中存在明显的深度差，则会出现错位、重影。</a:t>
            </a:r>
          </a:p>
          <a:p>
            <a:r>
              <a:rPr lang="en-US" altLang="zh-CN" b="1" dirty="0"/>
              <a:t>APAP</a:t>
            </a:r>
            <a:r>
              <a:rPr lang="zh-CN" altLang="en-US" b="1" dirty="0"/>
              <a:t>（</a:t>
            </a:r>
            <a:r>
              <a:rPr lang="en-US" altLang="zh-CN" b="1" dirty="0"/>
              <a:t>As-Projective-As-Possible</a:t>
            </a:r>
            <a:r>
              <a:rPr lang="zh-CN" altLang="en-US" b="1" dirty="0"/>
              <a:t>）</a:t>
            </a:r>
            <a:r>
              <a:rPr lang="zh-CN" altLang="en-US" dirty="0"/>
              <a:t> 方法引入了局部加权思想，对每个区域估计不同的单应性，从而缓解视差问题。虽然能提升局部对齐精度，但平滑性限制导致在物体边缘仍可能错位。</a:t>
            </a:r>
          </a:p>
          <a:p>
            <a:r>
              <a:rPr lang="en-US" altLang="zh-CN" b="1" dirty="0"/>
              <a:t>REW </a:t>
            </a:r>
            <a:r>
              <a:rPr lang="zh-CN" altLang="en-US" b="1" dirty="0"/>
              <a:t>和 </a:t>
            </a:r>
            <a:r>
              <a:rPr lang="en-US" altLang="zh-CN" b="1" dirty="0"/>
              <a:t>TFA</a:t>
            </a:r>
            <a:r>
              <a:rPr lang="zh-CN" altLang="en-US" dirty="0"/>
              <a:t> 则更进一步，分别利用弹性模型和三角网格，将图像变形为柔性匹配的形式。它们适合处理非刚性形变，但要求高质量的特征匹配，否则易失效。</a:t>
            </a:r>
          </a:p>
          <a:p>
            <a:endParaRPr lang="en-US" altLang="zh-CN" b="1" dirty="0"/>
          </a:p>
        </p:txBody>
      </p:sp>
      <p:sp>
        <p:nvSpPr>
          <p:cNvPr id="4" name="灯片编号占位符 3">
            <a:extLst>
              <a:ext uri="{FF2B5EF4-FFF2-40B4-BE49-F238E27FC236}">
                <a16:creationId xmlns:a16="http://schemas.microsoft.com/office/drawing/2014/main" id="{843F2396-95CF-00E7-275A-44292AD33CF5}"/>
              </a:ext>
            </a:extLst>
          </p:cNvPr>
          <p:cNvSpPr>
            <a:spLocks noGrp="1"/>
          </p:cNvSpPr>
          <p:nvPr>
            <p:ph type="sldNum" sz="quarter" idx="5"/>
          </p:nvPr>
        </p:nvSpPr>
        <p:spPr/>
        <p:txBody>
          <a:bodyPr/>
          <a:lstStyle/>
          <a:p>
            <a:fld id="{B2CB6E48-10D0-446F-A6C8-527914C46209}" type="slidenum">
              <a:rPr lang="zh-CN" altLang="en-US" smtClean="0"/>
              <a:t>4</a:t>
            </a:fld>
            <a:endParaRPr lang="zh-CN" altLang="en-US"/>
          </a:p>
        </p:txBody>
      </p:sp>
    </p:spTree>
    <p:extLst>
      <p:ext uri="{BB962C8B-B14F-4D97-AF65-F5344CB8AC3E}">
        <p14:creationId xmlns:p14="http://schemas.microsoft.com/office/powerpoint/2010/main" val="3057812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6AC6-14E0-FD67-33BC-30B8277DF7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C9D6A3-35D0-9344-FB48-DC8D234774DD}"/>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BD37DB88-D35E-62D4-F4A3-6458B1233CEE}"/>
              </a:ext>
            </a:extLst>
          </p:cNvPr>
          <p:cNvSpPr>
            <a:spLocks noGrp="1"/>
          </p:cNvSpPr>
          <p:nvPr>
            <p:ph type="body" idx="1"/>
          </p:nvPr>
        </p:nvSpPr>
        <p:spPr/>
        <p:txBody>
          <a:bodyPr/>
          <a:lstStyle/>
          <a:p>
            <a:r>
              <a:rPr lang="zh-CN" altLang="en-US" dirty="0"/>
              <a:t>网格变形方法：</a:t>
            </a:r>
            <a:r>
              <a:rPr lang="zh-CN" altLang="en-US" b="1" dirty="0"/>
              <a:t>结构约束提升拼接自然性</a:t>
            </a:r>
          </a:p>
          <a:p>
            <a:r>
              <a:rPr lang="zh-CN" altLang="en-US" dirty="0"/>
              <a:t>这类方法通过构建图像网格，在网格层面施加几何一致性与结构保真性约束。</a:t>
            </a:r>
          </a:p>
          <a:p>
            <a:r>
              <a:rPr lang="en-US" altLang="zh-CN" b="1" dirty="0"/>
              <a:t>GSP</a:t>
            </a:r>
            <a:r>
              <a:rPr lang="zh-CN" altLang="en-US" b="1" dirty="0"/>
              <a:t>（</a:t>
            </a:r>
            <a:r>
              <a:rPr lang="en-US" altLang="zh-CN" b="1" dirty="0"/>
              <a:t>Global Similarity Prior</a:t>
            </a:r>
            <a:r>
              <a:rPr lang="zh-CN" altLang="en-US" b="1" dirty="0"/>
              <a:t>）</a:t>
            </a:r>
            <a:r>
              <a:rPr lang="zh-CN" altLang="en-US" dirty="0"/>
              <a:t> 在变形时保持全局缩放和旋转一致，拼接结果整体更协调</a:t>
            </a:r>
            <a:r>
              <a:rPr lang="zh-CN" altLang="en-US" b="1" dirty="0"/>
              <a:t>，更适用于建筑类图像</a:t>
            </a:r>
            <a:r>
              <a:rPr lang="zh-CN" altLang="en-US" dirty="0"/>
              <a:t>，但在大视差条件下网格可能失控。</a:t>
            </a:r>
          </a:p>
          <a:p>
            <a:r>
              <a:rPr lang="en-US" altLang="zh-CN" b="1" dirty="0"/>
              <a:t>SPW</a:t>
            </a:r>
            <a:r>
              <a:rPr lang="zh-CN" altLang="en-US" b="1" dirty="0"/>
              <a:t>（</a:t>
            </a:r>
            <a:r>
              <a:rPr lang="en-US" altLang="zh-CN" b="1" dirty="0"/>
              <a:t>Single-Perspective Warp</a:t>
            </a:r>
            <a:r>
              <a:rPr lang="zh-CN" altLang="en-US" b="1" dirty="0"/>
              <a:t>）</a:t>
            </a:r>
            <a:r>
              <a:rPr lang="zh-CN" altLang="en-US" dirty="0"/>
              <a:t> 关注图像边缘透视问题，优化边缘变形效果，</a:t>
            </a:r>
            <a:r>
              <a:rPr lang="zh-CN" altLang="en-US" b="1" dirty="0"/>
              <a:t>但对多平面场景支持不足</a:t>
            </a:r>
            <a:r>
              <a:rPr lang="zh-CN" altLang="en-US" dirty="0"/>
              <a:t>。</a:t>
            </a:r>
          </a:p>
          <a:p>
            <a:r>
              <a:rPr lang="en-US" altLang="zh-CN" b="1" dirty="0"/>
              <a:t>LPC</a:t>
            </a:r>
            <a:r>
              <a:rPr lang="zh-CN" altLang="en-US" b="1" dirty="0"/>
              <a:t>（</a:t>
            </a:r>
            <a:r>
              <a:rPr lang="en-US" altLang="zh-CN" b="1" dirty="0"/>
              <a:t>Line-Point Consistency</a:t>
            </a:r>
            <a:r>
              <a:rPr lang="zh-CN" altLang="en-US" b="1" dirty="0"/>
              <a:t>）</a:t>
            </a:r>
            <a:r>
              <a:rPr lang="zh-CN" altLang="en-US" dirty="0"/>
              <a:t> </a:t>
            </a:r>
            <a:r>
              <a:rPr lang="zh-CN" altLang="en-US" b="1" dirty="0"/>
              <a:t>特别适合含有大量直线的场景</a:t>
            </a:r>
            <a:r>
              <a:rPr lang="zh-CN" altLang="en-US" dirty="0"/>
              <a:t>，例如城市街道或楼宇，可保留建筑结构的笔直线条。不过</a:t>
            </a:r>
            <a:r>
              <a:rPr lang="zh-CN" altLang="en-US" b="1" dirty="0"/>
              <a:t>其依赖于准确的线检测，效果受限于图像内容</a:t>
            </a:r>
            <a:r>
              <a:rPr lang="zh-CN" altLang="en-US" dirty="0"/>
              <a:t>。</a:t>
            </a:r>
          </a:p>
          <a:p>
            <a:endParaRPr lang="en-US" altLang="zh-CN" b="1" dirty="0"/>
          </a:p>
          <a:p>
            <a:endParaRPr lang="en-US" altLang="zh-CN" b="1" dirty="0"/>
          </a:p>
          <a:p>
            <a:r>
              <a:rPr lang="zh-CN" altLang="en-US" dirty="0"/>
              <a:t>近年来，深度学习被引入图像拼接任务，尤其在无监督训练和弱监督对齐中表现亮眼。</a:t>
            </a:r>
          </a:p>
          <a:p>
            <a:r>
              <a:rPr lang="en-US" altLang="zh-CN" b="1" dirty="0"/>
              <a:t>UDIS++</a:t>
            </a:r>
            <a:r>
              <a:rPr lang="zh-CN" altLang="en-US" dirty="0"/>
              <a:t> 是代表性方法，采用无监督框架，融合单应性与薄板样条变换，减少了人工标注需求。然而，神经网络天生的平滑性也带来了问题</a:t>
            </a:r>
            <a:r>
              <a:rPr lang="zh-CN" altLang="en-US" b="1" dirty="0"/>
              <a:t>，在大视差或前后遮挡强烈的场景中，仍然存在对齐失败的风险</a:t>
            </a:r>
            <a:r>
              <a:rPr lang="zh-CN" altLang="en-US" dirty="0"/>
              <a:t>。</a:t>
            </a:r>
          </a:p>
          <a:p>
            <a:endParaRPr lang="en-US" altLang="zh-CN" b="1" dirty="0"/>
          </a:p>
        </p:txBody>
      </p:sp>
      <p:sp>
        <p:nvSpPr>
          <p:cNvPr id="4" name="灯片编号占位符 3">
            <a:extLst>
              <a:ext uri="{FF2B5EF4-FFF2-40B4-BE49-F238E27FC236}">
                <a16:creationId xmlns:a16="http://schemas.microsoft.com/office/drawing/2014/main" id="{CB033964-B8FC-4BB5-14AE-CA905B5AAF35}"/>
              </a:ext>
            </a:extLst>
          </p:cNvPr>
          <p:cNvSpPr>
            <a:spLocks noGrp="1"/>
          </p:cNvSpPr>
          <p:nvPr>
            <p:ph type="sldNum" sz="quarter" idx="5"/>
          </p:nvPr>
        </p:nvSpPr>
        <p:spPr/>
        <p:txBody>
          <a:bodyPr/>
          <a:lstStyle/>
          <a:p>
            <a:fld id="{B2CB6E48-10D0-446F-A6C8-527914C46209}" type="slidenum">
              <a:rPr lang="zh-CN" altLang="en-US" smtClean="0"/>
              <a:t>5</a:t>
            </a:fld>
            <a:endParaRPr lang="zh-CN" altLang="en-US"/>
          </a:p>
        </p:txBody>
      </p:sp>
    </p:spTree>
    <p:extLst>
      <p:ext uri="{BB962C8B-B14F-4D97-AF65-F5344CB8AC3E}">
        <p14:creationId xmlns:p14="http://schemas.microsoft.com/office/powerpoint/2010/main" val="175398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E9B41-1B93-D713-B1DE-41308F17CE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989910-E797-C91F-3C99-88C38B0A4E83}"/>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AAB253A6-E391-0F54-4EC2-A9F1F326D7BC}"/>
              </a:ext>
            </a:extLst>
          </p:cNvPr>
          <p:cNvSpPr>
            <a:spLocks noGrp="1"/>
          </p:cNvSpPr>
          <p:nvPr>
            <p:ph type="body" idx="1"/>
          </p:nvPr>
        </p:nvSpPr>
        <p:spPr/>
        <p:txBody>
          <a:bodyPr/>
          <a:lstStyle/>
          <a:p>
            <a:endParaRPr lang="en-US" altLang="zh-CN" b="1" dirty="0"/>
          </a:p>
        </p:txBody>
      </p:sp>
      <p:sp>
        <p:nvSpPr>
          <p:cNvPr id="4" name="灯片编号占位符 3">
            <a:extLst>
              <a:ext uri="{FF2B5EF4-FFF2-40B4-BE49-F238E27FC236}">
                <a16:creationId xmlns:a16="http://schemas.microsoft.com/office/drawing/2014/main" id="{2954EFE1-4B20-330B-EE67-2FC6680B1C3B}"/>
              </a:ext>
            </a:extLst>
          </p:cNvPr>
          <p:cNvSpPr>
            <a:spLocks noGrp="1"/>
          </p:cNvSpPr>
          <p:nvPr>
            <p:ph type="sldNum" sz="quarter" idx="5"/>
          </p:nvPr>
        </p:nvSpPr>
        <p:spPr/>
        <p:txBody>
          <a:bodyPr/>
          <a:lstStyle/>
          <a:p>
            <a:fld id="{B2CB6E48-10D0-446F-A6C8-527914C46209}" type="slidenum">
              <a:rPr lang="zh-CN" altLang="en-US" smtClean="0"/>
              <a:t>6</a:t>
            </a:fld>
            <a:endParaRPr lang="zh-CN" altLang="en-US"/>
          </a:p>
        </p:txBody>
      </p:sp>
    </p:spTree>
    <p:extLst>
      <p:ext uri="{BB962C8B-B14F-4D97-AF65-F5344CB8AC3E}">
        <p14:creationId xmlns:p14="http://schemas.microsoft.com/office/powerpoint/2010/main" val="3659213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CAA01-DD51-041C-55D1-78B1849A64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645F5D-92D5-1F17-FFE4-C36151D102B9}"/>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1A48FE6E-4A94-20C1-A1BF-5A8B49DBF565}"/>
              </a:ext>
            </a:extLst>
          </p:cNvPr>
          <p:cNvSpPr>
            <a:spLocks noGrp="1"/>
          </p:cNvSpPr>
          <p:nvPr>
            <p:ph type="body" idx="1"/>
          </p:nvPr>
        </p:nvSpPr>
        <p:spPr/>
        <p:txBody>
          <a:bodyPr/>
          <a:lstStyle/>
          <a:p>
            <a:endParaRPr lang="en-US" altLang="zh-CN" b="1" dirty="0"/>
          </a:p>
        </p:txBody>
      </p:sp>
      <p:sp>
        <p:nvSpPr>
          <p:cNvPr id="4" name="灯片编号占位符 3">
            <a:extLst>
              <a:ext uri="{FF2B5EF4-FFF2-40B4-BE49-F238E27FC236}">
                <a16:creationId xmlns:a16="http://schemas.microsoft.com/office/drawing/2014/main" id="{0442E4FC-00CA-4748-B706-5F640D867DB1}"/>
              </a:ext>
            </a:extLst>
          </p:cNvPr>
          <p:cNvSpPr>
            <a:spLocks noGrp="1"/>
          </p:cNvSpPr>
          <p:nvPr>
            <p:ph type="sldNum" sz="quarter" idx="5"/>
          </p:nvPr>
        </p:nvSpPr>
        <p:spPr/>
        <p:txBody>
          <a:bodyPr/>
          <a:lstStyle/>
          <a:p>
            <a:fld id="{B2CB6E48-10D0-446F-A6C8-527914C46209}" type="slidenum">
              <a:rPr lang="zh-CN" altLang="en-US" smtClean="0"/>
              <a:t>7</a:t>
            </a:fld>
            <a:endParaRPr lang="zh-CN" altLang="en-US"/>
          </a:p>
        </p:txBody>
      </p:sp>
    </p:spTree>
    <p:extLst>
      <p:ext uri="{BB962C8B-B14F-4D97-AF65-F5344CB8AC3E}">
        <p14:creationId xmlns:p14="http://schemas.microsoft.com/office/powerpoint/2010/main" val="1288841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5FB07-CE4D-A16C-2112-559AE6FFA8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4A17A0-B9B0-A61F-329B-16645C583723}"/>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808FDB36-F929-940D-C077-DA4892178A7F}"/>
              </a:ext>
            </a:extLst>
          </p:cNvPr>
          <p:cNvSpPr>
            <a:spLocks noGrp="1"/>
          </p:cNvSpPr>
          <p:nvPr>
            <p:ph type="body" idx="1"/>
          </p:nvPr>
        </p:nvSpPr>
        <p:spPr/>
        <p:txBody>
          <a:bodyPr/>
          <a:lstStyle/>
          <a:p>
            <a:r>
              <a:rPr lang="en-US" altLang="zh-CN" dirty="0"/>
              <a:t>RMSE: 3.218562</a:t>
            </a:r>
          </a:p>
          <a:p>
            <a:r>
              <a:rPr lang="en-US" altLang="zh-CN" dirty="0"/>
              <a:t>RMSE error: 0.019762</a:t>
            </a:r>
          </a:p>
          <a:p>
            <a:r>
              <a:rPr lang="en-US" altLang="zh-CN" dirty="0"/>
              <a:t>RMSE distance: 2.461786</a:t>
            </a:r>
          </a:p>
          <a:p>
            <a:r>
              <a:rPr lang="en-US" altLang="zh-CN" dirty="0"/>
              <a:t>RMSE </a:t>
            </a:r>
            <a:r>
              <a:rPr lang="en-US" altLang="zh-CN" dirty="0" err="1"/>
              <a:t>crossproduct</a:t>
            </a:r>
            <a:r>
              <a:rPr lang="en-US" altLang="zh-CN" dirty="0"/>
              <a:t>: 68.613482</a:t>
            </a:r>
            <a:endParaRPr lang="en-US" altLang="zh-CN" b="1" dirty="0"/>
          </a:p>
        </p:txBody>
      </p:sp>
      <p:sp>
        <p:nvSpPr>
          <p:cNvPr id="4" name="灯片编号占位符 3">
            <a:extLst>
              <a:ext uri="{FF2B5EF4-FFF2-40B4-BE49-F238E27FC236}">
                <a16:creationId xmlns:a16="http://schemas.microsoft.com/office/drawing/2014/main" id="{BAD0D47D-B01D-954F-C63A-EB81806428B6}"/>
              </a:ext>
            </a:extLst>
          </p:cNvPr>
          <p:cNvSpPr>
            <a:spLocks noGrp="1"/>
          </p:cNvSpPr>
          <p:nvPr>
            <p:ph type="sldNum" sz="quarter" idx="5"/>
          </p:nvPr>
        </p:nvSpPr>
        <p:spPr/>
        <p:txBody>
          <a:bodyPr/>
          <a:lstStyle/>
          <a:p>
            <a:fld id="{B2CB6E48-10D0-446F-A6C8-527914C46209}" type="slidenum">
              <a:rPr lang="zh-CN" altLang="en-US" smtClean="0"/>
              <a:t>8</a:t>
            </a:fld>
            <a:endParaRPr lang="zh-CN" altLang="en-US"/>
          </a:p>
        </p:txBody>
      </p:sp>
    </p:spTree>
    <p:extLst>
      <p:ext uri="{BB962C8B-B14F-4D97-AF65-F5344CB8AC3E}">
        <p14:creationId xmlns:p14="http://schemas.microsoft.com/office/powerpoint/2010/main" val="181304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CE687-59A0-B0FC-61D8-A27DD7C7E5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862E6C-07CF-7778-3455-F6E42C73E63A}"/>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8F7958AB-36A0-2519-508C-6AE643190389}"/>
              </a:ext>
            </a:extLst>
          </p:cNvPr>
          <p:cNvSpPr>
            <a:spLocks noGrp="1"/>
          </p:cNvSpPr>
          <p:nvPr>
            <p:ph type="body" idx="1"/>
          </p:nvPr>
        </p:nvSpPr>
        <p:spPr/>
        <p:txBody>
          <a:bodyPr/>
          <a:lstStyle/>
          <a:p>
            <a:r>
              <a:rPr lang="en-US" altLang="zh-CN" dirty="0"/>
              <a:t>RMSE: 3.218562</a:t>
            </a:r>
          </a:p>
          <a:p>
            <a:r>
              <a:rPr lang="en-US" altLang="zh-CN" dirty="0"/>
              <a:t>RMSE error: 0.019762</a:t>
            </a:r>
          </a:p>
          <a:p>
            <a:r>
              <a:rPr lang="en-US" altLang="zh-CN" dirty="0"/>
              <a:t>RMSE distance: 2.461786</a:t>
            </a:r>
          </a:p>
          <a:p>
            <a:r>
              <a:rPr lang="en-US" altLang="zh-CN" dirty="0"/>
              <a:t>RMSE </a:t>
            </a:r>
            <a:r>
              <a:rPr lang="en-US" altLang="zh-CN" dirty="0" err="1"/>
              <a:t>crossproduct</a:t>
            </a:r>
            <a:r>
              <a:rPr lang="en-US" altLang="zh-CN" dirty="0"/>
              <a:t>: 68.613482</a:t>
            </a:r>
            <a:endParaRPr lang="en-US" altLang="zh-CN" b="1" dirty="0"/>
          </a:p>
        </p:txBody>
      </p:sp>
      <p:sp>
        <p:nvSpPr>
          <p:cNvPr id="4" name="灯片编号占位符 3">
            <a:extLst>
              <a:ext uri="{FF2B5EF4-FFF2-40B4-BE49-F238E27FC236}">
                <a16:creationId xmlns:a16="http://schemas.microsoft.com/office/drawing/2014/main" id="{41A4C3F5-FA9F-DBE0-2A85-9F10746A3E4F}"/>
              </a:ext>
            </a:extLst>
          </p:cNvPr>
          <p:cNvSpPr>
            <a:spLocks noGrp="1"/>
          </p:cNvSpPr>
          <p:nvPr>
            <p:ph type="sldNum" sz="quarter" idx="5"/>
          </p:nvPr>
        </p:nvSpPr>
        <p:spPr/>
        <p:txBody>
          <a:bodyPr/>
          <a:lstStyle/>
          <a:p>
            <a:fld id="{B2CB6E48-10D0-446F-A6C8-527914C46209}" type="slidenum">
              <a:rPr lang="zh-CN" altLang="en-US" smtClean="0"/>
              <a:t>9</a:t>
            </a:fld>
            <a:endParaRPr lang="zh-CN" altLang="en-US"/>
          </a:p>
        </p:txBody>
      </p:sp>
    </p:spTree>
    <p:extLst>
      <p:ext uri="{BB962C8B-B14F-4D97-AF65-F5344CB8AC3E}">
        <p14:creationId xmlns:p14="http://schemas.microsoft.com/office/powerpoint/2010/main" val="931761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重点想跟老师们讨论关于街景下为什么要先做拼接</a:t>
                </a:r>
              </a:p>
            </p:txBody>
          </p:sp>
        </mc:Choice>
        <mc:Fallback xmlns="">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受到这种方法的启发，有学者提出了一种面向</a:t>
                </a:r>
                <a:r>
                  <a:rPr lang="en-US" altLang="zh-CN" dirty="0"/>
                  <a:t>WDN</a:t>
                </a:r>
                <a:r>
                  <a:rPr lang="zh-CN" altLang="en-US" dirty="0"/>
                  <a:t>的模块化方法，</a:t>
                </a:r>
                <a:r>
                  <a:rPr lang="zh-CN" altLang="en-US" sz="1200" dirty="0">
                    <a:latin typeface="微软雅黑" panose="020B0503020204020204" pitchFamily="34" charset="-122"/>
                    <a:ea typeface="微软雅黑" panose="020B0503020204020204" pitchFamily="34" charset="-122"/>
                  </a:rPr>
                  <a:t>所提出的方法考虑了供水系统的水力特性，以定义面向供水网络的模块化。尽管是为供水网络量身定制的，但面向</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WDN</a:t>
                </a:r>
                <a:r>
                  <a:rPr lang="zh-CN" altLang="en-US" sz="1200" dirty="0">
                    <a:latin typeface="微软雅黑" panose="020B0503020204020204" pitchFamily="34" charset="-122"/>
                    <a:ea typeface="微软雅黑" panose="020B0503020204020204" pitchFamily="34" charset="-122"/>
                  </a:rPr>
                  <a:t>的模块化有其固有的局限性，所提出的模块化指数可能无法检测出小社区，如果社区的总边数小于</a:t>
                </a:r>
                <a:r>
                  <a:rPr lang="en-US" altLang="zh-CN" sz="1200" i="0" dirty="0">
                    <a:latin typeface="Cambria Math" panose="02040503050406030204" pitchFamily="18" charset="0"/>
                    <a:ea typeface="微软雅黑" panose="020B0503020204020204" pitchFamily="34" charset="-122"/>
                    <a:cs typeface="Times New Roman" panose="02020603050405020304" pitchFamily="18" charset="0"/>
                  </a:rPr>
                  <a:t>√2 𝑚</a:t>
                </a:r>
                <a:r>
                  <a:rPr lang="zh-CN" altLang="en-US" sz="1200" i="0" dirty="0">
                    <a:latin typeface="Cambria Math" panose="02040503050406030204" pitchFamily="18" charset="0"/>
                    <a:ea typeface="微软雅黑" panose="020B0503020204020204" pitchFamily="3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1200" dirty="0">
                    <a:latin typeface="微软雅黑" panose="020B0503020204020204" pitchFamily="34" charset="-122"/>
                    <a:ea typeface="微软雅黑" panose="020B0503020204020204" pitchFamily="34" charset="-122"/>
                  </a:rPr>
                  <a:t>是网络中边的总数，则该社区无法被检测</a:t>
                </a:r>
                <a:endParaRPr lang="en-US" altLang="zh-CN" sz="1200" dirty="0">
                  <a:latin typeface="微软雅黑" panose="020B0503020204020204" pitchFamily="34" charset="-122"/>
                  <a:ea typeface="微软雅黑" panose="020B0503020204020204" pitchFamily="34" charset="-122"/>
                </a:endParaRPr>
              </a:p>
              <a:p>
                <a:r>
                  <a:rPr lang="en-US" altLang="zh-CN" sz="1200" i="0">
                    <a:latin typeface="Cambria Math" panose="02040503050406030204" pitchFamily="18" charset="0"/>
                    <a:ea typeface="微软雅黑" panose="020B0503020204020204" pitchFamily="34" charset="-122"/>
                  </a:rPr>
                  <a:t>(|𝐴_𝑝𝑛^𝑇 | 𝑢_𝑝 )_𝑖</a:t>
                </a:r>
                <a:r>
                  <a:rPr lang="zh-CN" altLang="en-US" dirty="0"/>
                  <a:t>是每个节点中发生事件的管道数量  </a:t>
                </a:r>
                <a:r>
                  <a:rPr lang="en-US" altLang="zh-CN" sz="1200" i="0">
                    <a:latin typeface="Cambria Math" panose="02040503050406030204" pitchFamily="18" charset="0"/>
                    <a:ea typeface="微软雅黑" panose="020B0503020204020204" pitchFamily="34" charset="-122"/>
                  </a:rPr>
                  <a:t>𝑀_𝑚</a:t>
                </a:r>
                <a:r>
                  <a:rPr lang="zh-CN" altLang="en-US" dirty="0"/>
                  <a:t>表示管道所在的模块</a:t>
                </a:r>
              </a:p>
            </p:txBody>
          </p:sp>
        </mc:Fallback>
      </mc:AlternateContent>
      <p:sp>
        <p:nvSpPr>
          <p:cNvPr id="4" name="灯片编号占位符 3"/>
          <p:cNvSpPr>
            <a:spLocks noGrp="1"/>
          </p:cNvSpPr>
          <p:nvPr>
            <p:ph type="sldNum" sz="quarter" idx="5"/>
          </p:nvPr>
        </p:nvSpPr>
        <p:spPr/>
        <p:txBody>
          <a:bodyPr/>
          <a:lstStyle/>
          <a:p>
            <a:fld id="{A9A0EA98-5831-4853-B862-C702E6EB345C}" type="slidenum">
              <a:rPr lang="en-US" smtClean="0"/>
              <a:t>10</a:t>
            </a:fld>
            <a:endParaRPr lang="en-US"/>
          </a:p>
        </p:txBody>
      </p:sp>
    </p:spTree>
    <p:extLst>
      <p:ext uri="{BB962C8B-B14F-4D97-AF65-F5344CB8AC3E}">
        <p14:creationId xmlns:p14="http://schemas.microsoft.com/office/powerpoint/2010/main" val="4009621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r>
              <a:rPr lang="zh-CN" altLang="en-US" dirty="0"/>
              <a:t>以上就是本周的汇报内容，恳请各位老师、师兄师姐和同门批评指正。</a:t>
            </a:r>
          </a:p>
        </p:txBody>
      </p:sp>
      <p:sp>
        <p:nvSpPr>
          <p:cNvPr id="4" name="灯片编号占位符 3"/>
          <p:cNvSpPr>
            <a:spLocks noGrp="1"/>
          </p:cNvSpPr>
          <p:nvPr>
            <p:ph type="sldNum" sz="quarter" idx="5"/>
          </p:nvPr>
        </p:nvSpPr>
        <p:spPr/>
        <p:txBody>
          <a:bodyPr/>
          <a:lstStyle/>
          <a:p>
            <a:fld id="{A9A0EA98-5831-4853-B862-C702E6EB345C}" type="slidenum">
              <a:rPr lang="en-US" smtClean="0"/>
              <a:t>11</a:t>
            </a:fld>
            <a:endParaRPr lang="en-US"/>
          </a:p>
        </p:txBody>
      </p:sp>
    </p:spTree>
    <p:extLst>
      <p:ext uri="{BB962C8B-B14F-4D97-AF65-F5344CB8AC3E}">
        <p14:creationId xmlns:p14="http://schemas.microsoft.com/office/powerpoint/2010/main" val="2862517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1"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1048582"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48583" name="日期占位符 3"/>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584" name="页脚占位符 4"/>
          <p:cNvSpPr>
            <a:spLocks noGrp="1"/>
          </p:cNvSpPr>
          <p:nvPr>
            <p:ph type="ftr" sz="quarter" idx="11"/>
          </p:nvPr>
        </p:nvSpPr>
        <p:spPr/>
        <p:txBody>
          <a:bodyPr/>
          <a:lstStyle/>
          <a:p>
            <a:endParaRPr lang="zh-CN" altLang="en-US"/>
          </a:p>
        </p:txBody>
      </p:sp>
      <p:sp>
        <p:nvSpPr>
          <p:cNvPr id="1048585"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90" name="标题 1"/>
          <p:cNvSpPr>
            <a:spLocks noGrp="1"/>
          </p:cNvSpPr>
          <p:nvPr>
            <p:ph type="title"/>
          </p:nvPr>
        </p:nvSpPr>
        <p:spPr/>
        <p:txBody>
          <a:bodyPr/>
          <a:lstStyle/>
          <a:p>
            <a:r>
              <a:rPr lang="zh-CN" altLang="en-US"/>
              <a:t>单击此处编辑母版标题样式</a:t>
            </a:r>
          </a:p>
        </p:txBody>
      </p:sp>
      <p:sp>
        <p:nvSpPr>
          <p:cNvPr id="1048591"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92" name="日期占位符 3"/>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593" name="页脚占位符 4"/>
          <p:cNvSpPr>
            <a:spLocks noGrp="1"/>
          </p:cNvSpPr>
          <p:nvPr>
            <p:ph type="ftr" sz="quarter" idx="11"/>
          </p:nvPr>
        </p:nvSpPr>
        <p:spPr/>
        <p:txBody>
          <a:bodyPr/>
          <a:lstStyle/>
          <a:p>
            <a:endParaRPr lang="zh-CN" altLang="en-US"/>
          </a:p>
        </p:txBody>
      </p:sp>
      <p:sp>
        <p:nvSpPr>
          <p:cNvPr id="1048594"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90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104890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1048904" name="日期占位符 3"/>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905" name="页脚占位符 4"/>
          <p:cNvSpPr>
            <a:spLocks noGrp="1"/>
          </p:cNvSpPr>
          <p:nvPr>
            <p:ph type="ftr" sz="quarter" idx="11"/>
          </p:nvPr>
        </p:nvSpPr>
        <p:spPr/>
        <p:txBody>
          <a:bodyPr/>
          <a:lstStyle/>
          <a:p>
            <a:endParaRPr lang="zh-CN" altLang="en-US"/>
          </a:p>
        </p:txBody>
      </p:sp>
      <p:sp>
        <p:nvSpPr>
          <p:cNvPr id="1048906"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907" name="标题 1"/>
          <p:cNvSpPr>
            <a:spLocks noGrp="1"/>
          </p:cNvSpPr>
          <p:nvPr>
            <p:ph type="title"/>
          </p:nvPr>
        </p:nvSpPr>
        <p:spPr/>
        <p:txBody>
          <a:bodyPr/>
          <a:lstStyle/>
          <a:p>
            <a:r>
              <a:rPr lang="zh-CN" altLang="en-US"/>
              <a:t>单击此处编辑母版标题样式</a:t>
            </a:r>
          </a:p>
        </p:txBody>
      </p:sp>
      <p:sp>
        <p:nvSpPr>
          <p:cNvPr id="1048908"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09"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10" name="日期占位符 4"/>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911" name="页脚占位符 5"/>
          <p:cNvSpPr>
            <a:spLocks noGrp="1"/>
          </p:cNvSpPr>
          <p:nvPr>
            <p:ph type="ftr" sz="quarter" idx="11"/>
          </p:nvPr>
        </p:nvSpPr>
        <p:spPr/>
        <p:txBody>
          <a:bodyPr/>
          <a:lstStyle/>
          <a:p>
            <a:endParaRPr lang="zh-CN" altLang="en-US"/>
          </a:p>
        </p:txBody>
      </p:sp>
      <p:sp>
        <p:nvSpPr>
          <p:cNvPr id="1048912" name="灯片编号占位符 6"/>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913"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1048914"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915"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16"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917"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18" name="日期占位符 6"/>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919" name="页脚占位符 7"/>
          <p:cNvSpPr>
            <a:spLocks noGrp="1"/>
          </p:cNvSpPr>
          <p:nvPr>
            <p:ph type="ftr" sz="quarter" idx="11"/>
          </p:nvPr>
        </p:nvSpPr>
        <p:spPr/>
        <p:txBody>
          <a:bodyPr/>
          <a:lstStyle/>
          <a:p>
            <a:endParaRPr lang="zh-CN" altLang="en-US"/>
          </a:p>
        </p:txBody>
      </p:sp>
      <p:sp>
        <p:nvSpPr>
          <p:cNvPr id="1048920" name="灯片编号占位符 8"/>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82" name="标题 1"/>
          <p:cNvSpPr>
            <a:spLocks noGrp="1"/>
          </p:cNvSpPr>
          <p:nvPr>
            <p:ph type="title"/>
          </p:nvPr>
        </p:nvSpPr>
        <p:spPr/>
        <p:txBody>
          <a:bodyPr/>
          <a:lstStyle/>
          <a:p>
            <a:r>
              <a:rPr lang="zh-CN" altLang="en-US"/>
              <a:t>单击此处编辑母版标题样式</a:t>
            </a:r>
          </a:p>
        </p:txBody>
      </p:sp>
      <p:sp>
        <p:nvSpPr>
          <p:cNvPr id="1048883" name="日期占位符 2"/>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884" name="页脚占位符 3"/>
          <p:cNvSpPr>
            <a:spLocks noGrp="1"/>
          </p:cNvSpPr>
          <p:nvPr>
            <p:ph type="ftr" sz="quarter" idx="11"/>
          </p:nvPr>
        </p:nvSpPr>
        <p:spPr/>
        <p:txBody>
          <a:bodyPr/>
          <a:lstStyle/>
          <a:p>
            <a:endParaRPr lang="zh-CN" altLang="en-US"/>
          </a:p>
        </p:txBody>
      </p:sp>
      <p:sp>
        <p:nvSpPr>
          <p:cNvPr id="1048885" name="灯片编号占位符 4"/>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04" name="日期占位符 1"/>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605" name="页脚占位符 2"/>
          <p:cNvSpPr>
            <a:spLocks noGrp="1"/>
          </p:cNvSpPr>
          <p:nvPr>
            <p:ph type="ftr" sz="quarter" idx="11"/>
          </p:nvPr>
        </p:nvSpPr>
        <p:spPr/>
        <p:txBody>
          <a:bodyPr/>
          <a:lstStyle/>
          <a:p>
            <a:endParaRPr lang="zh-CN" altLang="en-US"/>
          </a:p>
        </p:txBody>
      </p:sp>
      <p:sp>
        <p:nvSpPr>
          <p:cNvPr id="1048606" name="灯片编号占位符 3"/>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92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1048922"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2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924" name="日期占位符 4"/>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925" name="页脚占位符 5"/>
          <p:cNvSpPr>
            <a:spLocks noGrp="1"/>
          </p:cNvSpPr>
          <p:nvPr>
            <p:ph type="ftr" sz="quarter" idx="11"/>
          </p:nvPr>
        </p:nvSpPr>
        <p:spPr/>
        <p:txBody>
          <a:bodyPr/>
          <a:lstStyle/>
          <a:p>
            <a:endParaRPr lang="zh-CN" altLang="en-US"/>
          </a:p>
        </p:txBody>
      </p:sp>
      <p:sp>
        <p:nvSpPr>
          <p:cNvPr id="1048926" name="灯片编号占位符 6"/>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89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1048892"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89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894" name="日期占位符 4"/>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895" name="页脚占位符 5"/>
          <p:cNvSpPr>
            <a:spLocks noGrp="1"/>
          </p:cNvSpPr>
          <p:nvPr>
            <p:ph type="ftr" sz="quarter" idx="11"/>
          </p:nvPr>
        </p:nvSpPr>
        <p:spPr/>
        <p:txBody>
          <a:bodyPr/>
          <a:lstStyle/>
          <a:p>
            <a:endParaRPr lang="zh-CN" altLang="en-US"/>
          </a:p>
        </p:txBody>
      </p:sp>
      <p:sp>
        <p:nvSpPr>
          <p:cNvPr id="1048896" name="灯片编号占位符 6"/>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897" name="标题 1"/>
          <p:cNvSpPr>
            <a:spLocks noGrp="1"/>
          </p:cNvSpPr>
          <p:nvPr>
            <p:ph type="title"/>
          </p:nvPr>
        </p:nvSpPr>
        <p:spPr/>
        <p:txBody>
          <a:bodyPr/>
          <a:lstStyle/>
          <a:p>
            <a:r>
              <a:rPr lang="zh-CN" altLang="en-US"/>
              <a:t>单击此处编辑母版标题样式</a:t>
            </a:r>
          </a:p>
        </p:txBody>
      </p:sp>
      <p:sp>
        <p:nvSpPr>
          <p:cNvPr id="1048898"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99" name="日期占位符 3"/>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900" name="页脚占位符 4"/>
          <p:cNvSpPr>
            <a:spLocks noGrp="1"/>
          </p:cNvSpPr>
          <p:nvPr>
            <p:ph type="ftr" sz="quarter" idx="11"/>
          </p:nvPr>
        </p:nvSpPr>
        <p:spPr/>
        <p:txBody>
          <a:bodyPr/>
          <a:lstStyle/>
          <a:p>
            <a:endParaRPr lang="zh-CN" altLang="en-US"/>
          </a:p>
        </p:txBody>
      </p:sp>
      <p:sp>
        <p:nvSpPr>
          <p:cNvPr id="1048901"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886"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1048887"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88" name="日期占位符 3"/>
          <p:cNvSpPr>
            <a:spLocks noGrp="1"/>
          </p:cNvSpPr>
          <p:nvPr>
            <p:ph type="dt" sz="half" idx="10"/>
          </p:nvPr>
        </p:nvSpPr>
        <p:spPr/>
        <p:txBody>
          <a:bodyPr/>
          <a:lstStyle/>
          <a:p>
            <a:fld id="{0B9ABE89-CD5A-4DF5-92E2-05840E334FAA}" type="datetimeFigureOut">
              <a:rPr lang="zh-CN" altLang="en-US" smtClean="0"/>
              <a:t>2025/7/14</a:t>
            </a:fld>
            <a:endParaRPr lang="zh-CN" altLang="en-US"/>
          </a:p>
        </p:txBody>
      </p:sp>
      <p:sp>
        <p:nvSpPr>
          <p:cNvPr id="1048889" name="页脚占位符 4"/>
          <p:cNvSpPr>
            <a:spLocks noGrp="1"/>
          </p:cNvSpPr>
          <p:nvPr>
            <p:ph type="ftr" sz="quarter" idx="11"/>
          </p:nvPr>
        </p:nvSpPr>
        <p:spPr/>
        <p:txBody>
          <a:bodyPr/>
          <a:lstStyle/>
          <a:p>
            <a:endParaRPr lang="zh-CN" altLang="en-US"/>
          </a:p>
        </p:txBody>
      </p:sp>
      <p:sp>
        <p:nvSpPr>
          <p:cNvPr id="1048890"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BE89-CD5A-4DF5-92E2-05840E334FAA}" type="datetimeFigureOut">
              <a:rPr lang="zh-CN" altLang="en-US" smtClean="0"/>
              <a:t>2025/7/14</a:t>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C6C6D9-0EAC-4A43-A0E6-1F06783EE0A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3864"/>
        </a:solidFill>
        <a:effectLst/>
      </p:bgPr>
    </p:bg>
    <p:spTree>
      <p:nvGrpSpPr>
        <p:cNvPr id="1" name=""/>
        <p:cNvGrpSpPr/>
        <p:nvPr/>
      </p:nvGrpSpPr>
      <p:grpSpPr>
        <a:xfrm>
          <a:off x="0" y="0"/>
          <a:ext cx="0" cy="0"/>
          <a:chOff x="0" y="0"/>
          <a:chExt cx="0" cy="0"/>
        </a:xfrm>
      </p:grpSpPr>
      <p:sp>
        <p:nvSpPr>
          <p:cNvPr id="1048934" name="标题 1"/>
          <p:cNvSpPr>
            <a:spLocks noGrp="1"/>
          </p:cNvSpPr>
          <p:nvPr>
            <p:ph type="ctrTitle"/>
          </p:nvPr>
        </p:nvSpPr>
        <p:spPr>
          <a:xfrm>
            <a:off x="1755627" y="1734739"/>
            <a:ext cx="8680739" cy="1647322"/>
          </a:xfrm>
        </p:spPr>
        <p:txBody>
          <a:bodyPr>
            <a:normAutofit/>
          </a:bodyPr>
          <a:lstStyle/>
          <a:p>
            <a:r>
              <a:rPr lang="zh-CN" altLang="en-US" sz="4000" noProof="1">
                <a:solidFill>
                  <a:schemeClr val="bg1"/>
                </a:solidFill>
              </a:rPr>
              <a:t>基于多视角图像拼接和激光点云的目标检测与定位研究方法</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1048936" name="内容占位符 2"/>
          <p:cNvSpPr txBox="1"/>
          <p:nvPr/>
        </p:nvSpPr>
        <p:spPr>
          <a:xfrm>
            <a:off x="1755627" y="486294"/>
            <a:ext cx="6620793" cy="57841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chemeClr val="bg1"/>
                </a:solidFill>
                <a:latin typeface="微软雅黑" panose="020B0503020204020204" pitchFamily="34" charset="-122"/>
                <a:ea typeface="微软雅黑" panose="020B0503020204020204" pitchFamily="34" charset="-122"/>
              </a:rPr>
              <a:t>组会汇报</a:t>
            </a:r>
            <a:endParaRPr lang="en-US" altLang="zh-CN" sz="1600"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1600" dirty="0">
                <a:solidFill>
                  <a:schemeClr val="bg1"/>
                </a:solidFill>
                <a:latin typeface="微软雅黑" panose="020B0503020204020204" pitchFamily="34" charset="-122"/>
                <a:ea typeface="微软雅黑" panose="020B0503020204020204" pitchFamily="34" charset="-122"/>
              </a:rPr>
              <a:t>2025/6/10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048938" name="内容占位符 3"/>
          <p:cNvSpPr txBox="1"/>
          <p:nvPr/>
        </p:nvSpPr>
        <p:spPr>
          <a:xfrm>
            <a:off x="3510967" y="3847467"/>
            <a:ext cx="5170067" cy="17635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altLang="zh-CN" sz="1400" b="1" dirty="0" err="1">
                <a:solidFill>
                  <a:schemeClr val="bg1"/>
                </a:solidFill>
                <a:latin typeface="Microsoft YaHei" panose="020B0503020204020204" pitchFamily="34" charset="-122"/>
                <a:ea typeface="Microsoft YaHei" panose="020B0503020204020204" pitchFamily="34" charset="-122"/>
              </a:rPr>
              <a:t>汇报人</a:t>
            </a:r>
            <a:r>
              <a:rPr lang="zh-CN" altLang="en-US" sz="1400" b="1" dirty="0">
                <a:solidFill>
                  <a:schemeClr val="bg1"/>
                </a:solidFill>
                <a:latin typeface="Microsoft YaHei" panose="020B0503020204020204" pitchFamily="34" charset="-122"/>
                <a:ea typeface="Microsoft YaHei" panose="020B0503020204020204" pitchFamily="34" charset="-122"/>
              </a:rPr>
              <a:t>：刘高峰</a:t>
            </a:r>
            <a:endParaRPr lang="en-US" altLang="zh-CN" sz="1400" b="1" dirty="0">
              <a:solidFill>
                <a:schemeClr val="bg1"/>
              </a:solidFill>
              <a:latin typeface="Microsoft YaHei" panose="020B0503020204020204" pitchFamily="34" charset="-122"/>
              <a:ea typeface="Microsoft YaHei" panose="020B0503020204020204" pitchFamily="34" charset="-122"/>
            </a:endParaRPr>
          </a:p>
          <a:p>
            <a:pPr marL="0" indent="0" algn="l">
              <a:lnSpc>
                <a:spcPct val="150000"/>
              </a:lnSpc>
              <a:buNone/>
            </a:pPr>
            <a:r>
              <a:rPr lang="zh-CN" altLang="en-US" sz="1400" b="1" dirty="0">
                <a:solidFill>
                  <a:schemeClr val="bg1"/>
                </a:solidFill>
                <a:latin typeface="Microsoft YaHei" panose="020B0503020204020204" pitchFamily="34" charset="-122"/>
                <a:ea typeface="Microsoft YaHei" panose="020B0503020204020204" pitchFamily="34" charset="-122"/>
              </a:rPr>
              <a:t>导师：曾文</a:t>
            </a:r>
            <a:endParaRPr lang="en-US" altLang="zh-CN" sz="1400" b="1" dirty="0">
              <a:solidFill>
                <a:schemeClr val="bg1"/>
              </a:solidFill>
              <a:latin typeface="Microsoft YaHei" panose="020B0503020204020204" pitchFamily="34" charset="-122"/>
              <a:ea typeface="Microsoft YaHei" panose="020B0503020204020204" pitchFamily="34" charset="-122"/>
            </a:endParaRPr>
          </a:p>
          <a:p>
            <a:pPr marL="0" indent="0" algn="l">
              <a:lnSpc>
                <a:spcPct val="150000"/>
              </a:lnSpc>
              <a:buNone/>
            </a:pPr>
            <a:r>
              <a:rPr lang="en-US" altLang="zh-CN" sz="1400" dirty="0" err="1">
                <a:solidFill>
                  <a:schemeClr val="bg1"/>
                </a:solidFill>
                <a:latin typeface="Microsoft YaHei" panose="020B0503020204020204" pitchFamily="34" charset="-122"/>
                <a:ea typeface="Microsoft YaHei" panose="020B0503020204020204" pitchFamily="34" charset="-122"/>
              </a:rPr>
              <a:t>中国地质大学（武汉</a:t>
            </a:r>
            <a:r>
              <a:rPr lang="en-US" altLang="zh-CN" sz="1400" dirty="0">
                <a:solidFill>
                  <a:schemeClr val="bg1"/>
                </a:solidFill>
                <a:latin typeface="Microsoft YaHei" panose="020B0503020204020204" pitchFamily="34" charset="-122"/>
                <a:ea typeface="Microsoft YaHei" panose="020B0503020204020204" pitchFamily="34" charset="-122"/>
              </a:rPr>
              <a:t>）</a:t>
            </a:r>
            <a:r>
              <a:rPr lang="zh-CN" altLang="en-US" sz="1400" dirty="0">
                <a:solidFill>
                  <a:schemeClr val="bg1"/>
                </a:solidFill>
                <a:latin typeface="Microsoft YaHei" panose="020B0503020204020204" pitchFamily="34" charset="-122"/>
                <a:ea typeface="Microsoft YaHei" panose="020B0503020204020204" pitchFamily="34" charset="-122"/>
              </a:rPr>
              <a:t>地理与信息工程学院</a:t>
            </a:r>
            <a:endParaRPr lang="en-US" altLang="zh-CN" sz="1400" dirty="0">
              <a:solidFill>
                <a:schemeClr val="bg1"/>
              </a:solidFill>
              <a:latin typeface="Microsoft YaHei" panose="020B0503020204020204" pitchFamily="34" charset="-122"/>
              <a:ea typeface="Microsoft YaHei" panose="020B0503020204020204" pitchFamily="34" charset="-122"/>
            </a:endParaRPr>
          </a:p>
          <a:p>
            <a:pPr marL="0" indent="0" algn="l">
              <a:lnSpc>
                <a:spcPct val="150000"/>
              </a:lnSpc>
              <a:buNone/>
            </a:pPr>
            <a:r>
              <a:rPr lang="en-US" altLang="zh-CN" sz="1400" dirty="0" err="1">
                <a:solidFill>
                  <a:schemeClr val="bg1"/>
                </a:solidFill>
                <a:latin typeface="Microsoft YaHei" panose="020B0503020204020204" pitchFamily="34" charset="-122"/>
                <a:ea typeface="Microsoft YaHei" panose="020B0503020204020204" pitchFamily="34" charset="-122"/>
              </a:rPr>
              <a:t>高性能空间计算智能实验室（HPSCIL</a:t>
            </a:r>
            <a:r>
              <a:rPr lang="en-US" altLang="zh-CN" sz="1400" dirty="0">
                <a:solidFill>
                  <a:schemeClr val="bg1"/>
                </a:solidFill>
                <a:latin typeface="Microsoft YaHei" panose="020B0503020204020204" pitchFamily="34" charset="-122"/>
                <a:ea typeface="Microsoft YaHei" panose="020B0503020204020204" pitchFamily="34" charset="-122"/>
              </a:rPr>
              <a:t>）</a:t>
            </a:r>
          </a:p>
        </p:txBody>
      </p:sp>
      <p:cxnSp>
        <p:nvCxnSpPr>
          <p:cNvPr id="3145768" name="直接连接符 6"/>
          <p:cNvCxnSpPr>
            <a:cxnSpLocks/>
          </p:cNvCxnSpPr>
          <p:nvPr/>
        </p:nvCxnSpPr>
        <p:spPr>
          <a:xfrm>
            <a:off x="823527" y="3710152"/>
            <a:ext cx="10620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3" name="组合 11"/>
          <p:cNvGrpSpPr/>
          <p:nvPr/>
        </p:nvGrpSpPr>
        <p:grpSpPr>
          <a:xfrm>
            <a:off x="623964" y="217522"/>
            <a:ext cx="11445869" cy="6422955"/>
            <a:chOff x="364884" y="179406"/>
            <a:chExt cx="11445869" cy="6422955"/>
          </a:xfrm>
        </p:grpSpPr>
        <p:pic>
          <p:nvPicPr>
            <p:cNvPr id="2097208" name="图片 8"/>
            <p:cNvPicPr>
              <a:picLocks noChangeAspect="1"/>
            </p:cNvPicPr>
            <p:nvPr/>
          </p:nvPicPr>
          <p:blipFill>
            <a:blip r:embed="rId3" cstate="print"/>
            <a:stretch>
              <a:fillRect/>
            </a:stretch>
          </p:blipFill>
          <p:spPr>
            <a:xfrm>
              <a:off x="364884" y="179406"/>
              <a:ext cx="1192193" cy="1192193"/>
            </a:xfrm>
            <a:prstGeom prst="rect">
              <a:avLst/>
            </a:prstGeom>
          </p:spPr>
        </p:pic>
        <p:sp>
          <p:nvSpPr>
            <p:cNvPr id="1048940" name="TextBox 1"/>
            <p:cNvSpPr txBox="1"/>
            <p:nvPr/>
          </p:nvSpPr>
          <p:spPr>
            <a:xfrm>
              <a:off x="3253043" y="6259766"/>
              <a:ext cx="5685906" cy="307777"/>
            </a:xfrm>
            <a:prstGeom prst="rect">
              <a:avLst/>
            </a:prstGeom>
            <a:noFill/>
          </p:spPr>
          <p:txBody>
            <a:bodyPr wrap="square" rtlCol="0">
              <a:spAutoFit/>
            </a:bodyPr>
            <a:lstStyle/>
            <a:p>
              <a:r>
                <a:rPr lang="en-AU" sz="1400" dirty="0">
                  <a:solidFill>
                    <a:schemeClr val="bg1">
                      <a:lumMod val="75000"/>
                    </a:schemeClr>
                  </a:solidFill>
                  <a:latin typeface="微软雅黑 Light" panose="020B0502040204020203" pitchFamily="34" charset="-122"/>
                  <a:ea typeface="微软雅黑 Light" panose="020B0502040204020203" pitchFamily="34" charset="-122"/>
                </a:rPr>
                <a:t>High-</a:t>
              </a:r>
              <a:r>
                <a:rPr lang="en-AU" sz="1400" dirty="0" err="1">
                  <a:solidFill>
                    <a:schemeClr val="bg1">
                      <a:lumMod val="75000"/>
                    </a:schemeClr>
                  </a:solidFill>
                  <a:latin typeface="微软雅黑 Light" panose="020B0502040204020203" pitchFamily="34" charset="-122"/>
                  <a:ea typeface="微软雅黑 Light" panose="020B0502040204020203" pitchFamily="34" charset="-122"/>
                </a:rPr>
                <a:t>performanceSpatialComputationalIntelligenceLab</a:t>
              </a:r>
              <a:r>
                <a:rPr lang="en-US" altLang="zh-CN" sz="1400" dirty="0">
                  <a:solidFill>
                    <a:schemeClr val="bg1">
                      <a:lumMod val="75000"/>
                    </a:schemeClr>
                  </a:solidFill>
                  <a:latin typeface="微软雅黑 Light" panose="020B0502040204020203" pitchFamily="34" charset="-122"/>
                  <a:ea typeface="微软雅黑 Light" panose="020B0502040204020203" pitchFamily="34" charset="-122"/>
                </a:rPr>
                <a:t>@CUG</a:t>
              </a:r>
              <a:endParaRPr lang="en-AU" sz="1400" dirty="0">
                <a:solidFill>
                  <a:schemeClr val="bg1">
                    <a:lumMod val="75000"/>
                  </a:schemeClr>
                </a:solidFill>
                <a:latin typeface="微软雅黑 Light" panose="020B0502040204020203" pitchFamily="34" charset="-122"/>
                <a:ea typeface="微软雅黑 Light" panose="020B0502040204020203" pitchFamily="34" charset="-122"/>
              </a:endParaRPr>
            </a:p>
          </p:txBody>
        </p:sp>
        <p:pic>
          <p:nvPicPr>
            <p:cNvPr id="2097210" name="图片 10"/>
            <p:cNvPicPr>
              <a:picLocks noChangeAspect="1"/>
            </p:cNvPicPr>
            <p:nvPr/>
          </p:nvPicPr>
          <p:blipFill>
            <a:blip r:embed="rId4" cstate="print"/>
            <a:stretch>
              <a:fillRect/>
            </a:stretch>
          </p:blipFill>
          <p:spPr>
            <a:xfrm>
              <a:off x="10675917" y="5858179"/>
              <a:ext cx="1134836" cy="744182"/>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Freeform 6"/>
          <p:cNvSpPr/>
          <p:nvPr/>
        </p:nvSpPr>
        <p:spPr bwMode="auto">
          <a:xfrm>
            <a:off x="335" y="5555848"/>
            <a:ext cx="12191331" cy="1301962"/>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5">
              <a:lumMod val="50000"/>
            </a:schemeClr>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596" name="Freeform 7"/>
          <p:cNvSpPr/>
          <p:nvPr/>
        </p:nvSpPr>
        <p:spPr bwMode="auto">
          <a:xfrm>
            <a:off x="0" y="5308161"/>
            <a:ext cx="12191331" cy="495373"/>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5">
              <a:lumMod val="50000"/>
            </a:schemeClr>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597" name="灯片编号占位符 6"/>
          <p:cNvSpPr>
            <a:spLocks noGrp="1"/>
          </p:cNvSpPr>
          <p:nvPr>
            <p:ph type="sldNum" sz="quarter" idx="12"/>
          </p:nvPr>
        </p:nvSpPr>
        <p:spPr>
          <a:xfrm>
            <a:off x="8610600" y="6356350"/>
            <a:ext cx="2743200" cy="365125"/>
          </a:xfrm>
        </p:spPr>
        <p:txBody>
          <a:bodyPr/>
          <a:lstStyle>
            <a:lvl1pPr>
              <a:defRPr>
                <a:solidFill>
                  <a:schemeClr val="bg1"/>
                </a:solidFill>
                <a:latin typeface="黑体" panose="02010609060101010101" pitchFamily="49" charset="-122"/>
                <a:ea typeface="黑体" panose="02010609060101010101" pitchFamily="49" charset="-122"/>
              </a:defRPr>
            </a:lvl1pPr>
          </a:lstStyle>
          <a:p>
            <a:r>
              <a:rPr lang="en-US" altLang="zh-CN"/>
              <a:t>1</a:t>
            </a:r>
            <a:endParaRPr lang="zh-CN" altLang="en-US" dirty="0"/>
          </a:p>
        </p:txBody>
      </p:sp>
      <p:sp>
        <p:nvSpPr>
          <p:cNvPr id="1048598" name="TextBox 1"/>
          <p:cNvSpPr txBox="1"/>
          <p:nvPr/>
        </p:nvSpPr>
        <p:spPr>
          <a:xfrm>
            <a:off x="3931920" y="6178104"/>
            <a:ext cx="5685906" cy="307777"/>
          </a:xfrm>
          <a:prstGeom prst="rect">
            <a:avLst/>
          </a:prstGeom>
          <a:noFill/>
        </p:spPr>
        <p:txBody>
          <a:bodyPr wrap="square" rtlCol="0">
            <a:spAutoFit/>
          </a:bodyPr>
          <a:lstStyle/>
          <a:p>
            <a:r>
              <a:rPr lang="en-AU" sz="1400" dirty="0">
                <a:solidFill>
                  <a:schemeClr val="bg1">
                    <a:lumMod val="75000"/>
                  </a:schemeClr>
                </a:solidFill>
              </a:rPr>
              <a:t>High-</a:t>
            </a:r>
            <a:r>
              <a:rPr lang="en-AU" sz="1400" dirty="0" err="1">
                <a:solidFill>
                  <a:schemeClr val="bg1">
                    <a:lumMod val="75000"/>
                  </a:schemeClr>
                </a:solidFill>
              </a:rPr>
              <a:t>performanceSpatialComputationalIntelligenceLab</a:t>
            </a:r>
            <a:r>
              <a:rPr lang="en-US" altLang="zh-CN" sz="1400" dirty="0">
                <a:solidFill>
                  <a:schemeClr val="bg1">
                    <a:lumMod val="75000"/>
                  </a:schemeClr>
                </a:solidFill>
              </a:rPr>
              <a:t>@CUG</a:t>
            </a:r>
            <a:endParaRPr lang="en-AU" sz="1400" dirty="0">
              <a:solidFill>
                <a:schemeClr val="bg1">
                  <a:lumMod val="75000"/>
                </a:schemeClr>
              </a:solidFill>
            </a:endParaRPr>
          </a:p>
        </p:txBody>
      </p:sp>
      <p:pic>
        <p:nvPicPr>
          <p:cNvPr id="2097154" name="图片 19"/>
          <p:cNvPicPr>
            <a:picLocks noChangeAspect="1"/>
          </p:cNvPicPr>
          <p:nvPr/>
        </p:nvPicPr>
        <p:blipFill>
          <a:blip r:embed="rId3" cstate="print"/>
          <a:stretch>
            <a:fillRect/>
          </a:stretch>
        </p:blipFill>
        <p:spPr>
          <a:xfrm>
            <a:off x="2873829" y="5858179"/>
            <a:ext cx="1134836" cy="744182"/>
          </a:xfrm>
          <a:prstGeom prst="rect">
            <a:avLst/>
          </a:prstGeom>
        </p:spPr>
      </p:pic>
      <p:sp>
        <p:nvSpPr>
          <p:cNvPr id="1048599" name="Freeform 6"/>
          <p:cNvSpPr/>
          <p:nvPr/>
        </p:nvSpPr>
        <p:spPr bwMode="auto">
          <a:xfrm>
            <a:off x="335" y="5555848"/>
            <a:ext cx="12191331" cy="1301962"/>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rgbClr val="203864"/>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600" name="Freeform 7"/>
          <p:cNvSpPr/>
          <p:nvPr/>
        </p:nvSpPr>
        <p:spPr bwMode="auto">
          <a:xfrm>
            <a:off x="0" y="5308161"/>
            <a:ext cx="12191331" cy="495373"/>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rgbClr val="203864"/>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601" name="TextBox 1"/>
          <p:cNvSpPr txBox="1"/>
          <p:nvPr/>
        </p:nvSpPr>
        <p:spPr>
          <a:xfrm>
            <a:off x="3931920" y="6178104"/>
            <a:ext cx="5685906" cy="307777"/>
          </a:xfrm>
          <a:prstGeom prst="rect">
            <a:avLst/>
          </a:prstGeom>
          <a:noFill/>
        </p:spPr>
        <p:txBody>
          <a:bodyPr wrap="square" rtlCol="0">
            <a:spAutoFit/>
          </a:bodyPr>
          <a:lstStyle/>
          <a:p>
            <a:r>
              <a:rPr lang="en-AU" sz="1400" dirty="0">
                <a:solidFill>
                  <a:schemeClr val="bg1">
                    <a:lumMod val="75000"/>
                  </a:schemeClr>
                </a:solidFill>
                <a:latin typeface="微软雅黑 Light" panose="020B0502040204020203" pitchFamily="34" charset="-122"/>
                <a:ea typeface="微软雅黑 Light" panose="020B0502040204020203" pitchFamily="34" charset="-122"/>
              </a:rPr>
              <a:t>High-</a:t>
            </a:r>
            <a:r>
              <a:rPr lang="en-AU" sz="1400" dirty="0" err="1">
                <a:solidFill>
                  <a:schemeClr val="bg1">
                    <a:lumMod val="75000"/>
                  </a:schemeClr>
                </a:solidFill>
                <a:latin typeface="微软雅黑 Light" panose="020B0502040204020203" pitchFamily="34" charset="-122"/>
                <a:ea typeface="微软雅黑 Light" panose="020B0502040204020203" pitchFamily="34" charset="-122"/>
              </a:rPr>
              <a:t>performanceSpatialComputationalIntelligenceLab</a:t>
            </a:r>
            <a:r>
              <a:rPr lang="en-US" altLang="zh-CN" sz="1400" dirty="0">
                <a:solidFill>
                  <a:schemeClr val="bg1">
                    <a:lumMod val="75000"/>
                  </a:schemeClr>
                </a:solidFill>
                <a:latin typeface="微软雅黑 Light" panose="020B0502040204020203" pitchFamily="34" charset="-122"/>
                <a:ea typeface="微软雅黑 Light" panose="020B0502040204020203" pitchFamily="34" charset="-122"/>
              </a:rPr>
              <a:t>@CUG</a:t>
            </a:r>
            <a:endParaRPr lang="en-AU" sz="1400" dirty="0">
              <a:solidFill>
                <a:schemeClr val="bg1">
                  <a:lumMod val="75000"/>
                </a:schemeClr>
              </a:solidFill>
              <a:latin typeface="微软雅黑 Light" panose="020B0502040204020203" pitchFamily="34" charset="-122"/>
              <a:ea typeface="微软雅黑 Light" panose="020B0502040204020203" pitchFamily="34" charset="-122"/>
            </a:endParaRPr>
          </a:p>
        </p:txBody>
      </p:sp>
      <p:pic>
        <p:nvPicPr>
          <p:cNvPr id="2097155" name="图片 23"/>
          <p:cNvPicPr>
            <a:picLocks noChangeAspect="1"/>
          </p:cNvPicPr>
          <p:nvPr/>
        </p:nvPicPr>
        <p:blipFill>
          <a:blip r:embed="rId3" cstate="print"/>
          <a:stretch>
            <a:fillRect/>
          </a:stretch>
        </p:blipFill>
        <p:spPr>
          <a:xfrm>
            <a:off x="2873829" y="5858179"/>
            <a:ext cx="1134836" cy="744182"/>
          </a:xfrm>
          <a:prstGeom prst="rect">
            <a:avLst/>
          </a:prstGeom>
        </p:spPr>
      </p:pic>
      <p:sp>
        <p:nvSpPr>
          <p:cNvPr id="1048602" name="文本框 24"/>
          <p:cNvSpPr txBox="1"/>
          <p:nvPr/>
        </p:nvSpPr>
        <p:spPr>
          <a:xfrm>
            <a:off x="1510018" y="2359727"/>
            <a:ext cx="3097485" cy="769441"/>
          </a:xfrm>
          <a:prstGeom prst="rect">
            <a:avLst/>
          </a:prstGeom>
          <a:noFill/>
        </p:spPr>
        <p:txBody>
          <a:bodyPr wrap="square" rtlCol="0">
            <a:spAutoFit/>
          </a:bodyPr>
          <a:lstStyle/>
          <a:p>
            <a:pPr algn="ctr"/>
            <a:r>
              <a:rPr lang="zh-CN" altLang="en-US" sz="4400" b="1" kern="1200" dirty="0">
                <a:solidFill>
                  <a:schemeClr val="tx1">
                    <a:lumMod val="75000"/>
                    <a:lumOff val="25000"/>
                  </a:schemeClr>
                </a:solidFill>
                <a:latin typeface="Microsoft YaHei" panose="020B0503020204020204" pitchFamily="34" charset="-122"/>
                <a:ea typeface="Microsoft YaHei" panose="020B0503020204020204" pitchFamily="34" charset="-122"/>
                <a:cs typeface="+mj-cs"/>
              </a:rPr>
              <a:t>目录</a:t>
            </a:r>
          </a:p>
        </p:txBody>
      </p:sp>
      <p:sp>
        <p:nvSpPr>
          <p:cNvPr id="1048603" name="矩形 27"/>
          <p:cNvSpPr/>
          <p:nvPr/>
        </p:nvSpPr>
        <p:spPr>
          <a:xfrm>
            <a:off x="5257800" y="1250180"/>
            <a:ext cx="6477000" cy="2472472"/>
          </a:xfrm>
          <a:prstGeom prst="rect">
            <a:avLst/>
          </a:prstGeom>
        </p:spPr>
        <p:txBody>
          <a:bodyPr wrap="square">
            <a:spAutoFit/>
          </a:bodyPr>
          <a:lstStyle/>
          <a:p>
            <a:pPr marL="228600" lvl="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01</a:t>
            </a:r>
            <a:r>
              <a:rPr lang="zh-CN" altLang="en-US" sz="3200" dirty="0">
                <a:solidFill>
                  <a:srgbClr val="203864"/>
                </a:solidFill>
                <a:latin typeface="宋体" panose="02010600030101010101" pitchFamily="2" charset="-122"/>
                <a:ea typeface="宋体" panose="02010600030101010101" pitchFamily="2" charset="-122"/>
              </a:rPr>
              <a:t>研究背景</a:t>
            </a:r>
            <a:endParaRPr lang="en-US" altLang="zh-CN" sz="3200" dirty="0">
              <a:solidFill>
                <a:srgbClr val="203864"/>
              </a:solidFill>
              <a:latin typeface="宋体" panose="02010600030101010101" pitchFamily="2" charset="-122"/>
              <a:ea typeface="宋体" panose="02010600030101010101" pitchFamily="2" charset="-122"/>
            </a:endParaRPr>
          </a:p>
          <a:p>
            <a:pPr marL="228600" lvl="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02</a:t>
            </a:r>
            <a:r>
              <a:rPr lang="zh-CN" altLang="en-US" sz="3200" dirty="0">
                <a:solidFill>
                  <a:srgbClr val="203864"/>
                </a:solidFill>
                <a:latin typeface="宋体" panose="02010600030101010101" pitchFamily="2" charset="-122"/>
                <a:ea typeface="宋体" panose="02010600030101010101" pitchFamily="2" charset="-122"/>
              </a:rPr>
              <a:t>图像拼接方法</a:t>
            </a:r>
            <a:endParaRPr lang="en-US" altLang="zh-CN" sz="3200" dirty="0">
              <a:solidFill>
                <a:srgbClr val="203864"/>
              </a:solidFill>
              <a:latin typeface="宋体" panose="02010600030101010101" pitchFamily="2" charset="-122"/>
              <a:ea typeface="宋体" panose="02010600030101010101" pitchFamily="2" charset="-122"/>
            </a:endParaRPr>
          </a:p>
          <a:p>
            <a:pPr marL="22860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03</a:t>
            </a:r>
            <a:r>
              <a:rPr lang="zh-CN" altLang="en-US" sz="3200" dirty="0">
                <a:solidFill>
                  <a:srgbClr val="203864"/>
                </a:solidFill>
                <a:latin typeface="宋体" panose="02010600030101010101" pitchFamily="2" charset="-122"/>
                <a:ea typeface="宋体" panose="02010600030101010101" pitchFamily="2" charset="-122"/>
              </a:rPr>
              <a:t>总结及后续计划</a:t>
            </a:r>
            <a:r>
              <a:rPr lang="en-US" altLang="zh-CN" sz="3200" b="1" dirty="0">
                <a:solidFill>
                  <a:schemeClr val="bg1"/>
                </a:solidFill>
                <a:latin typeface="Microsoft YaHei" panose="020B0503020204020204" pitchFamily="34" charset="-122"/>
                <a:ea typeface="Microsoft YaHei" panose="020B0503020204020204" pitchFamily="34" charset="-122"/>
              </a:rPr>
              <a:t>03</a:t>
            </a:r>
            <a:endParaRPr lang="zh-CN" altLang="en-US" sz="3200" b="1" dirty="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标题 1"/>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研究背景</a:t>
            </a:r>
          </a:p>
        </p:txBody>
      </p:sp>
      <p:sp>
        <p:nvSpPr>
          <p:cNvPr id="1048679" name="等腰三角形 3"/>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p:cNvSpPr>
            <a:spLocks noGrp="1"/>
          </p:cNvSpPr>
          <p:nvPr>
            <p:ph type="sldNum" sz="quarter" idx="12"/>
          </p:nvPr>
        </p:nvSpPr>
        <p:spPr/>
        <p:txBody>
          <a:bodyPr/>
          <a:lstStyle/>
          <a:p>
            <a:fld id="{4C728F51-6063-40BC-906F-D6FBF0AE26BF}" type="slidenum">
              <a:rPr lang="zh-CN" altLang="en-US" smtClean="0"/>
              <a:t>3</a:t>
            </a:fld>
            <a:endParaRPr lang="zh-CN" altLang="en-US"/>
          </a:p>
        </p:txBody>
      </p:sp>
      <p:sp>
        <p:nvSpPr>
          <p:cNvPr id="13" name="文本占位符 2"/>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01</a:t>
            </a:r>
            <a:endParaRPr lang="zh-CN" altLang="en-US" dirty="0">
              <a:latin typeface="+mn-lt"/>
              <a:ea typeface="华文中宋" panose="02010600040101010101" pitchFamily="2" charset="-122"/>
            </a:endParaRPr>
          </a:p>
        </p:txBody>
      </p:sp>
      <p:sp>
        <p:nvSpPr>
          <p:cNvPr id="2" name="文本框 1">
            <a:extLst>
              <a:ext uri="{FF2B5EF4-FFF2-40B4-BE49-F238E27FC236}">
                <a16:creationId xmlns:a16="http://schemas.microsoft.com/office/drawing/2014/main" id="{B6852E36-D523-A6AC-34F5-2AE6977A9BF2}"/>
              </a:ext>
            </a:extLst>
          </p:cNvPr>
          <p:cNvSpPr txBox="1"/>
          <p:nvPr/>
        </p:nvSpPr>
        <p:spPr>
          <a:xfrm>
            <a:off x="459276" y="1259841"/>
            <a:ext cx="6002484" cy="3693319"/>
          </a:xfrm>
          <a:prstGeom prst="rect">
            <a:avLst/>
          </a:prstGeom>
          <a:no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文本框 3">
            <a:extLst>
              <a:ext uri="{FF2B5EF4-FFF2-40B4-BE49-F238E27FC236}">
                <a16:creationId xmlns:a16="http://schemas.microsoft.com/office/drawing/2014/main" id="{A41F1646-E9C8-3C01-C805-072DB0FFDC05}"/>
              </a:ext>
            </a:extLst>
          </p:cNvPr>
          <p:cNvSpPr txBox="1"/>
          <p:nvPr/>
        </p:nvSpPr>
        <p:spPr>
          <a:xfrm>
            <a:off x="315310" y="1387366"/>
            <a:ext cx="7315200" cy="4939814"/>
          </a:xfrm>
          <a:prstGeom prst="rect">
            <a:avLst/>
          </a:prstGeom>
          <a:noFill/>
        </p:spPr>
        <p:txBody>
          <a:bodyPr wrap="square" rtlCol="0">
            <a:spAutoFit/>
          </a:bodyPr>
          <a:lstStyle/>
          <a:p>
            <a:pPr indent="720000">
              <a:lnSpc>
                <a:spcPct val="150000"/>
              </a:lnSpc>
            </a:pPr>
            <a:r>
              <a:rPr lang="en-US" altLang="zh-CN" sz="1200" baseline="30000" dirty="0">
                <a:solidFill>
                  <a:srgbClr val="FF0000"/>
                </a:solidFill>
              </a:rPr>
              <a:t>[1]</a:t>
            </a:r>
            <a:r>
              <a:rPr lang="zh-CN" altLang="zh-CN" dirty="0">
                <a:solidFill>
                  <a:srgbClr val="FF0000"/>
                </a:solidFill>
              </a:rPr>
              <a:t>随着城市基础设施的不断发展，地下管线已广泛分布于城市各区域，形成庞大而复杂的</a:t>
            </a:r>
            <a:r>
              <a:rPr lang="en-US" altLang="zh-CN" dirty="0">
                <a:solidFill>
                  <a:srgbClr val="FF0000"/>
                </a:solidFill>
              </a:rPr>
              <a:t>“</a:t>
            </a:r>
            <a:r>
              <a:rPr lang="zh-CN" altLang="zh-CN" dirty="0">
                <a:solidFill>
                  <a:srgbClr val="FF0000"/>
                </a:solidFill>
              </a:rPr>
              <a:t>城市生命线系统</a:t>
            </a:r>
            <a:r>
              <a:rPr lang="en-US" altLang="zh-CN" dirty="0">
                <a:solidFill>
                  <a:srgbClr val="FF0000"/>
                </a:solidFill>
              </a:rPr>
              <a:t>”</a:t>
            </a:r>
            <a:r>
              <a:rPr lang="zh-CN" altLang="zh-CN" dirty="0">
                <a:solidFill>
                  <a:srgbClr val="FF0000"/>
                </a:solidFill>
              </a:rPr>
              <a:t>。然而</a:t>
            </a:r>
            <a:r>
              <a:rPr lang="zh-CN" altLang="zh-CN" dirty="0"/>
              <a:t>，由于地下管线隐蔽性强，</a:t>
            </a:r>
            <a:r>
              <a:rPr lang="zh-CN" altLang="zh-CN" dirty="0">
                <a:solidFill>
                  <a:srgbClr val="FF0000"/>
                </a:solidFill>
              </a:rPr>
              <a:t>近年来误挖、误碰地下管网的事件频发</a:t>
            </a:r>
            <a:r>
              <a:rPr lang="zh-CN" altLang="zh-CN" dirty="0"/>
              <a:t>。</a:t>
            </a:r>
            <a:endParaRPr lang="en-US" altLang="zh-CN" dirty="0"/>
          </a:p>
          <a:p>
            <a:pPr indent="720000">
              <a:lnSpc>
                <a:spcPct val="150000"/>
              </a:lnSpc>
            </a:pPr>
            <a:r>
              <a:rPr lang="zh-CN" altLang="zh-CN" dirty="0"/>
              <a:t>传统的地下管线保护方式依然主要依赖人工巡检、图纸查询和被动响应</a:t>
            </a:r>
            <a:r>
              <a:rPr lang="zh-CN" altLang="en-US" dirty="0"/>
              <a:t>等方式</a:t>
            </a:r>
            <a:r>
              <a:rPr lang="zh-CN" altLang="zh-CN" dirty="0"/>
              <a:t>，</a:t>
            </a:r>
            <a:r>
              <a:rPr lang="en-US" altLang="zh-CN" sz="1200" baseline="30000" dirty="0"/>
              <a:t>[2]</a:t>
            </a:r>
            <a:r>
              <a:rPr lang="zh-CN" altLang="en-US" dirty="0">
                <a:solidFill>
                  <a:srgbClr val="FF0000"/>
                </a:solidFill>
              </a:rPr>
              <a:t>由于</a:t>
            </a:r>
            <a:r>
              <a:rPr lang="zh-CN" altLang="zh-CN" dirty="0">
                <a:solidFill>
                  <a:srgbClr val="FF0000"/>
                </a:solidFill>
              </a:rPr>
              <a:t>施工单位</a:t>
            </a:r>
            <a:r>
              <a:rPr lang="zh-CN" altLang="en-US" dirty="0">
                <a:solidFill>
                  <a:srgbClr val="FF0000"/>
                </a:solidFill>
              </a:rPr>
              <a:t>存在侥幸心理</a:t>
            </a:r>
            <a:r>
              <a:rPr lang="zh-CN" altLang="zh-CN" dirty="0">
                <a:solidFill>
                  <a:srgbClr val="FF0000"/>
                </a:solidFill>
              </a:rPr>
              <a:t>或监管资源有限</a:t>
            </a:r>
            <a:r>
              <a:rPr lang="zh-CN" altLang="zh-CN" dirty="0"/>
              <a:t>，现有手段在作业发现、响应效率和精度上存在明显短板，</a:t>
            </a:r>
            <a:r>
              <a:rPr lang="zh-CN" altLang="zh-CN" dirty="0">
                <a:solidFill>
                  <a:srgbClr val="FF0000"/>
                </a:solidFill>
              </a:rPr>
              <a:t>难以满足现代城市建设中对实时感知与风险预警的需求。</a:t>
            </a:r>
            <a:endParaRPr lang="en-US" altLang="zh-CN" dirty="0">
              <a:solidFill>
                <a:srgbClr val="FF0000"/>
              </a:solidFill>
            </a:endParaRPr>
          </a:p>
          <a:p>
            <a:pPr indent="720000">
              <a:lnSpc>
                <a:spcPct val="150000"/>
              </a:lnSpc>
            </a:pPr>
            <a:r>
              <a:rPr lang="en-US" altLang="zh-CN" sz="1200" baseline="30000" dirty="0"/>
              <a:t>[3]</a:t>
            </a:r>
            <a:r>
              <a:rPr lang="zh-CN" altLang="zh-CN" dirty="0">
                <a:solidFill>
                  <a:srgbClr val="FF0000"/>
                </a:solidFill>
              </a:rPr>
              <a:t>在此背景下</a:t>
            </a:r>
            <a:r>
              <a:rPr lang="zh-CN" altLang="zh-CN" dirty="0"/>
              <a:t>，本研究面向泛化场景下的管线保护需求，提出一种基于多视角拼接</a:t>
            </a:r>
            <a:r>
              <a:rPr lang="en-US" altLang="zh-CN" dirty="0"/>
              <a:t>,</a:t>
            </a:r>
            <a:r>
              <a:rPr lang="zh-CN" altLang="zh-CN" dirty="0"/>
              <a:t>目标检测</a:t>
            </a:r>
            <a:r>
              <a:rPr lang="en-US" altLang="zh-CN" dirty="0"/>
              <a:t>,</a:t>
            </a:r>
            <a:r>
              <a:rPr lang="zh-CN" altLang="zh-CN" dirty="0"/>
              <a:t>空间定位的综合方法，用于自动监测挖掘设备是否靠近地下管线保护区，并实现实时风险预警。提升了地下管线巡检与保护的自动化与智能化水平</a:t>
            </a:r>
            <a:r>
              <a:rPr lang="zh-CN" altLang="en-US" dirty="0"/>
              <a:t>。</a:t>
            </a:r>
            <a:endParaRPr lang="zh-CN" altLang="zh-CN" dirty="0"/>
          </a:p>
          <a:p>
            <a:endParaRPr lang="zh-CN" altLang="en-US" dirty="0"/>
          </a:p>
        </p:txBody>
      </p:sp>
      <p:pic>
        <p:nvPicPr>
          <p:cNvPr id="7" name="图片 6">
            <a:extLst>
              <a:ext uri="{FF2B5EF4-FFF2-40B4-BE49-F238E27FC236}">
                <a16:creationId xmlns:a16="http://schemas.microsoft.com/office/drawing/2014/main" id="{38CFD3C7-3412-4E8F-7C00-063FF2080A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3792" y="2657454"/>
            <a:ext cx="3638550" cy="2343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DE1EB-78C9-A573-7BDC-30883D8AA731}"/>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04DE3D7F-4C02-1FC6-443C-E1662296E742}"/>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图像拼接方法</a:t>
            </a:r>
          </a:p>
        </p:txBody>
      </p:sp>
      <p:sp>
        <p:nvSpPr>
          <p:cNvPr id="1048679" name="等腰三角形 3">
            <a:extLst>
              <a:ext uri="{FF2B5EF4-FFF2-40B4-BE49-F238E27FC236}">
                <a16:creationId xmlns:a16="http://schemas.microsoft.com/office/drawing/2014/main" id="{7427DE9E-5DD1-A9E0-C67B-7933051D35D8}"/>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C338B8F9-BB8E-913E-36F2-9E7269F833D8}"/>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D0BCFFE7-C328-3D0B-3B8A-0AC4B082DED9}"/>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ED3FA39D-6926-625C-34FE-53EB362CB48C}"/>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BDD00FFC-2CC0-41B9-C3E9-7264E0D405F1}"/>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4</a:t>
            </a:fld>
            <a:endParaRPr lang="zh-CN" altLang="en-US" dirty="0"/>
          </a:p>
        </p:txBody>
      </p:sp>
      <p:graphicFrame>
        <p:nvGraphicFramePr>
          <p:cNvPr id="3" name="表格 2">
            <a:extLst>
              <a:ext uri="{FF2B5EF4-FFF2-40B4-BE49-F238E27FC236}">
                <a16:creationId xmlns:a16="http://schemas.microsoft.com/office/drawing/2014/main" id="{48BFDD0F-A70F-E4E2-17AF-A76008B3E3A6}"/>
              </a:ext>
            </a:extLst>
          </p:cNvPr>
          <p:cNvGraphicFramePr>
            <a:graphicFrameLocks noGrp="1"/>
          </p:cNvGraphicFramePr>
          <p:nvPr>
            <p:extLst>
              <p:ext uri="{D42A27DB-BD31-4B8C-83A1-F6EECF244321}">
                <p14:modId xmlns:p14="http://schemas.microsoft.com/office/powerpoint/2010/main" val="1331933030"/>
              </p:ext>
            </p:extLst>
          </p:nvPr>
        </p:nvGraphicFramePr>
        <p:xfrm>
          <a:off x="157005" y="1575138"/>
          <a:ext cx="11877990" cy="4542282"/>
        </p:xfrm>
        <a:graphic>
          <a:graphicData uri="http://schemas.openxmlformats.org/drawingml/2006/table">
            <a:tbl>
              <a:tblPr firstRow="1" firstCol="1" bandRow="1">
                <a:tableStyleId>{5C22544A-7EE6-4342-B048-85BDC9FD1C3A}</a:tableStyleId>
              </a:tblPr>
              <a:tblGrid>
                <a:gridCol w="2375598">
                  <a:extLst>
                    <a:ext uri="{9D8B030D-6E8A-4147-A177-3AD203B41FA5}">
                      <a16:colId xmlns:a16="http://schemas.microsoft.com/office/drawing/2014/main" val="3930093076"/>
                    </a:ext>
                  </a:extLst>
                </a:gridCol>
                <a:gridCol w="2375598">
                  <a:extLst>
                    <a:ext uri="{9D8B030D-6E8A-4147-A177-3AD203B41FA5}">
                      <a16:colId xmlns:a16="http://schemas.microsoft.com/office/drawing/2014/main" val="158955143"/>
                    </a:ext>
                  </a:extLst>
                </a:gridCol>
                <a:gridCol w="2397137">
                  <a:extLst>
                    <a:ext uri="{9D8B030D-6E8A-4147-A177-3AD203B41FA5}">
                      <a16:colId xmlns:a16="http://schemas.microsoft.com/office/drawing/2014/main" val="3102279444"/>
                    </a:ext>
                  </a:extLst>
                </a:gridCol>
                <a:gridCol w="2354059">
                  <a:extLst>
                    <a:ext uri="{9D8B030D-6E8A-4147-A177-3AD203B41FA5}">
                      <a16:colId xmlns:a16="http://schemas.microsoft.com/office/drawing/2014/main" val="4029144880"/>
                    </a:ext>
                  </a:extLst>
                </a:gridCol>
                <a:gridCol w="2375598">
                  <a:extLst>
                    <a:ext uri="{9D8B030D-6E8A-4147-A177-3AD203B41FA5}">
                      <a16:colId xmlns:a16="http://schemas.microsoft.com/office/drawing/2014/main" val="1660069147"/>
                    </a:ext>
                  </a:extLst>
                </a:gridCol>
              </a:tblGrid>
              <a:tr h="215529">
                <a:tc>
                  <a:txBody>
                    <a:bodyPr/>
                    <a:lstStyle/>
                    <a:p>
                      <a:pPr algn="ctr">
                        <a:lnSpc>
                          <a:spcPct val="115000"/>
                        </a:lnSpc>
                        <a:spcAft>
                          <a:spcPts val="1000"/>
                        </a:spcAft>
                        <a:buNone/>
                      </a:pPr>
                      <a:r>
                        <a:rPr lang="en-US" sz="1600" dirty="0" err="1">
                          <a:solidFill>
                            <a:schemeClr val="tx1"/>
                          </a:solidFill>
                          <a:effectLst/>
                        </a:rPr>
                        <a:t>方法类型</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sz="1600" dirty="0" err="1">
                          <a:solidFill>
                            <a:schemeClr val="tx1"/>
                          </a:solidFill>
                          <a:effectLst/>
                        </a:rPr>
                        <a:t>具体方法</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sz="1600">
                          <a:solidFill>
                            <a:schemeClr val="tx1"/>
                          </a:solidFill>
                          <a:effectLst/>
                        </a:rPr>
                        <a:t>核心思路</a:t>
                      </a:r>
                      <a:endParaRPr lang="zh-CN" sz="160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sz="1600" dirty="0" err="1">
                          <a:solidFill>
                            <a:schemeClr val="tx1"/>
                          </a:solidFill>
                          <a:effectLst/>
                        </a:rPr>
                        <a:t>优势</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sz="1600" dirty="0" err="1">
                          <a:solidFill>
                            <a:schemeClr val="tx1"/>
                          </a:solidFill>
                          <a:effectLst/>
                        </a:rPr>
                        <a:t>局限性</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8188858"/>
                  </a:ext>
                </a:extLst>
              </a:tr>
              <a:tr h="590883">
                <a:tc>
                  <a:txBody>
                    <a:bodyPr/>
                    <a:lstStyle/>
                    <a:p>
                      <a:pPr algn="ctr">
                        <a:lnSpc>
                          <a:spcPct val="115000"/>
                        </a:lnSpc>
                        <a:spcAft>
                          <a:spcPts val="1000"/>
                        </a:spcAft>
                        <a:buNone/>
                      </a:pPr>
                      <a:r>
                        <a:rPr lang="en-US" sz="1600" dirty="0" err="1">
                          <a:solidFill>
                            <a:schemeClr val="tx1"/>
                          </a:solidFill>
                          <a:effectLst/>
                        </a:rPr>
                        <a:t>传统几何方法</a:t>
                      </a:r>
                      <a:r>
                        <a:rPr lang="en-US" sz="1600" dirty="0">
                          <a:solidFill>
                            <a:schemeClr val="tx1"/>
                          </a:solidFill>
                          <a:effectLst/>
                        </a:rPr>
                        <a:t> - </a:t>
                      </a:r>
                      <a:r>
                        <a:rPr lang="en-US" sz="1600" dirty="0" err="1">
                          <a:solidFill>
                            <a:schemeClr val="tx1"/>
                          </a:solidFill>
                          <a:effectLst/>
                        </a:rPr>
                        <a:t>单应性变换</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sz="1600" dirty="0">
                          <a:solidFill>
                            <a:schemeClr val="tx1"/>
                          </a:solidFill>
                          <a:effectLst/>
                        </a:rPr>
                        <a:t>Single </a:t>
                      </a:r>
                      <a:r>
                        <a:rPr lang="en-US" sz="1600" dirty="0" err="1">
                          <a:solidFill>
                            <a:schemeClr val="tx1"/>
                          </a:solidFill>
                          <a:effectLst/>
                        </a:rPr>
                        <a:t>Homography</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用单一单应性矩阵描述图像间平面变换</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简单、计算快，适合平面场景</a:t>
                      </a:r>
                      <a:r>
                        <a:rPr lang="zh-CN" altLang="en-US" sz="1600" dirty="0">
                          <a:solidFill>
                            <a:schemeClr val="tx1"/>
                          </a:solidFill>
                          <a:effectLst/>
                        </a:rPr>
                        <a:t>。</a:t>
                      </a:r>
                      <a:r>
                        <a:rPr lang="en-US" sz="1600" dirty="0" err="1">
                          <a:solidFill>
                            <a:schemeClr val="tx1"/>
                          </a:solidFill>
                          <a:effectLst/>
                        </a:rPr>
                        <a:t>如墙面、桌面拼接</a:t>
                      </a:r>
                      <a:r>
                        <a:rPr lang="en-US" sz="1600" dirty="0">
                          <a:solidFill>
                            <a:schemeClr val="tx1"/>
                          </a:solidFill>
                          <a:effectLst/>
                        </a:rPr>
                        <a:t> </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无法处理视差，场景有深度差异时，拼接易出现重影、错位</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1592888"/>
                  </a:ext>
                </a:extLst>
              </a:tr>
              <a:tr h="386058">
                <a:tc rowSpan="3">
                  <a:txBody>
                    <a:bodyPr/>
                    <a:lstStyle/>
                    <a:p>
                      <a:pPr algn="ctr">
                        <a:lnSpc>
                          <a:spcPct val="115000"/>
                        </a:lnSpc>
                        <a:spcAft>
                          <a:spcPts val="1000"/>
                        </a:spcAft>
                        <a:buNone/>
                      </a:pPr>
                      <a:r>
                        <a:rPr lang="en-US" sz="1600" dirty="0" err="1">
                          <a:solidFill>
                            <a:schemeClr val="tx1"/>
                          </a:solidFill>
                          <a:effectLst/>
                        </a:rPr>
                        <a:t>传统几何方法</a:t>
                      </a:r>
                      <a:r>
                        <a:rPr lang="en-US" sz="1600" dirty="0">
                          <a:solidFill>
                            <a:schemeClr val="tx1"/>
                          </a:solidFill>
                          <a:effectLst/>
                        </a:rPr>
                        <a:t> - </a:t>
                      </a:r>
                      <a:r>
                        <a:rPr lang="en-US" sz="1600" dirty="0" err="1">
                          <a:solidFill>
                            <a:schemeClr val="tx1"/>
                          </a:solidFill>
                          <a:effectLst/>
                        </a:rPr>
                        <a:t>空间变化变换</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altLang="zh-CN" sz="1600" dirty="0"/>
                        <a:t>As-projective-as-possible image stitching with moving </a:t>
                      </a:r>
                      <a:r>
                        <a:rPr lang="en-US" altLang="zh-CN" sz="1600" dirty="0" err="1"/>
                        <a:t>dlt</a:t>
                      </a:r>
                      <a:r>
                        <a:rPr lang="zh-CN" altLang="en-US" sz="1600" dirty="0"/>
                        <a:t>（</a:t>
                      </a:r>
                      <a:r>
                        <a:rPr lang="en-US" altLang="zh-CN" sz="1600" dirty="0"/>
                        <a:t>APAP</a:t>
                      </a:r>
                      <a:r>
                        <a:rPr lang="zh-CN" altLang="en-US" sz="1600" dirty="0"/>
                        <a:t>）</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基于加权特征匹配，估计局部单应性，生成平滑空间变化运动场</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a:solidFill>
                            <a:schemeClr val="tx1"/>
                          </a:solidFill>
                          <a:effectLst/>
                        </a:rPr>
                        <a:t>相比单应性变换，能一定程度缓解视差导致的错位，适配局部变形</a:t>
                      </a:r>
                      <a:endParaRPr lang="zh-CN" sz="160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受平滑性约束，深度突变处</a:t>
                      </a:r>
                      <a:r>
                        <a:rPr lang="zh-CN" altLang="en-US" sz="1600" dirty="0">
                          <a:solidFill>
                            <a:schemeClr val="tx1"/>
                          </a:solidFill>
                          <a:effectLst/>
                        </a:rPr>
                        <a:t>，</a:t>
                      </a:r>
                      <a:r>
                        <a:rPr lang="en-US" sz="1600" dirty="0" err="1">
                          <a:solidFill>
                            <a:schemeClr val="tx1"/>
                          </a:solidFill>
                          <a:effectLst/>
                        </a:rPr>
                        <a:t>对齐效果差</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8633625"/>
                  </a:ext>
                </a:extLst>
              </a:tr>
              <a:tr h="334071">
                <a:tc vMerge="1">
                  <a:txBody>
                    <a:bodyPr/>
                    <a:lstStyle/>
                    <a:p>
                      <a:pPr>
                        <a:lnSpc>
                          <a:spcPct val="115000"/>
                        </a:lnSpc>
                        <a:spcAft>
                          <a:spcPts val="1000"/>
                        </a:spcAft>
                        <a:buNone/>
                      </a:pPr>
                      <a:endParaRPr lang="zh-CN" sz="12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altLang="zh-CN" sz="1600" dirty="0"/>
                        <a:t>Parallax-tolerant image stitching based on robust elastic warping(REW)</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借助弹性薄板样条模型</a:t>
                      </a:r>
                      <a:r>
                        <a:rPr lang="en-US" sz="1600" dirty="0">
                          <a:solidFill>
                            <a:schemeClr val="tx1"/>
                          </a:solidFill>
                          <a:effectLst/>
                        </a:rPr>
                        <a:t> + </a:t>
                      </a:r>
                      <a:r>
                        <a:rPr lang="en-US" sz="1600" dirty="0" err="1">
                          <a:solidFill>
                            <a:schemeClr val="tx1"/>
                          </a:solidFill>
                          <a:effectLst/>
                        </a:rPr>
                        <a:t>径向基函数，处理视差变形</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对非线性变形有适配性，能应对部分复杂场景扭曲</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复杂场景下，对齐精度难保证，计算资源消耗相对高</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4421451"/>
                  </a:ext>
                </a:extLst>
              </a:tr>
              <a:tr h="506494">
                <a:tc vMerge="1">
                  <a:txBody>
                    <a:bodyPr/>
                    <a:lstStyle/>
                    <a:p>
                      <a:pPr>
                        <a:lnSpc>
                          <a:spcPct val="115000"/>
                        </a:lnSpc>
                        <a:spcAft>
                          <a:spcPts val="1000"/>
                        </a:spcAft>
                        <a:buNone/>
                      </a:pPr>
                      <a:endParaRPr lang="zh-CN" sz="12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altLang="zh-CN" sz="1600" dirty="0"/>
                        <a:t>Local-adaptive image alignment based on triangular facet approximation(TFA)</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以三角形面片近似，逐面片估计局部单应性</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局部自适应强，不同面片可针对性对齐</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1000"/>
                        </a:spcAft>
                        <a:buNone/>
                      </a:pPr>
                      <a:r>
                        <a:rPr lang="en-US" sz="1600" dirty="0" err="1">
                          <a:solidFill>
                            <a:schemeClr val="tx1"/>
                          </a:solidFill>
                          <a:effectLst/>
                        </a:rPr>
                        <a:t>计算复杂度高，依赖充足、准确的特征匹配，特征少或匹配差时易失效</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8190905"/>
                  </a:ext>
                </a:extLst>
              </a:tr>
            </a:tbl>
          </a:graphicData>
        </a:graphic>
      </p:graphicFrame>
    </p:spTree>
    <p:extLst>
      <p:ext uri="{BB962C8B-B14F-4D97-AF65-F5344CB8AC3E}">
        <p14:creationId xmlns:p14="http://schemas.microsoft.com/office/powerpoint/2010/main" val="3680020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BDAD8-2196-0B5A-1C17-377197447DA7}"/>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A3FEEC96-DD75-238A-950C-CFBA57F6A9B9}"/>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图像拼接方法</a:t>
            </a:r>
          </a:p>
        </p:txBody>
      </p:sp>
      <p:sp>
        <p:nvSpPr>
          <p:cNvPr id="1048679" name="等腰三角形 3">
            <a:extLst>
              <a:ext uri="{FF2B5EF4-FFF2-40B4-BE49-F238E27FC236}">
                <a16:creationId xmlns:a16="http://schemas.microsoft.com/office/drawing/2014/main" id="{9E4B9EED-5015-66DC-58C2-AD3CF16D7D61}"/>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A609E853-C9A5-41AE-0220-336CD5590A06}"/>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B37C096B-488C-2857-A712-5E858476A4CC}"/>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D620C064-2185-D934-5BB7-6A44A76BD117}"/>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D074CF6D-C025-F6C0-FCE2-A76042E046A0}"/>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5</a:t>
            </a:fld>
            <a:endParaRPr lang="zh-CN" altLang="en-US" dirty="0"/>
          </a:p>
        </p:txBody>
      </p:sp>
      <p:graphicFrame>
        <p:nvGraphicFramePr>
          <p:cNvPr id="3" name="表格 2">
            <a:extLst>
              <a:ext uri="{FF2B5EF4-FFF2-40B4-BE49-F238E27FC236}">
                <a16:creationId xmlns:a16="http://schemas.microsoft.com/office/drawing/2014/main" id="{8C59D1EF-06AB-EF85-6B80-2942D03408FC}"/>
              </a:ext>
            </a:extLst>
          </p:cNvPr>
          <p:cNvGraphicFramePr>
            <a:graphicFrameLocks noGrp="1"/>
          </p:cNvGraphicFramePr>
          <p:nvPr>
            <p:extLst>
              <p:ext uri="{D42A27DB-BD31-4B8C-83A1-F6EECF244321}">
                <p14:modId xmlns:p14="http://schemas.microsoft.com/office/powerpoint/2010/main" val="3951966080"/>
              </p:ext>
            </p:extLst>
          </p:nvPr>
        </p:nvGraphicFramePr>
        <p:xfrm>
          <a:off x="145845" y="1008966"/>
          <a:ext cx="11708525" cy="5374386"/>
        </p:xfrm>
        <a:graphic>
          <a:graphicData uri="http://schemas.openxmlformats.org/drawingml/2006/table">
            <a:tbl>
              <a:tblPr firstRow="1" firstCol="1" bandRow="1">
                <a:tableStyleId>{5C22544A-7EE6-4342-B048-85BDC9FD1C3A}</a:tableStyleId>
              </a:tblPr>
              <a:tblGrid>
                <a:gridCol w="2341705">
                  <a:extLst>
                    <a:ext uri="{9D8B030D-6E8A-4147-A177-3AD203B41FA5}">
                      <a16:colId xmlns:a16="http://schemas.microsoft.com/office/drawing/2014/main" val="3930093076"/>
                    </a:ext>
                  </a:extLst>
                </a:gridCol>
                <a:gridCol w="2341705">
                  <a:extLst>
                    <a:ext uri="{9D8B030D-6E8A-4147-A177-3AD203B41FA5}">
                      <a16:colId xmlns:a16="http://schemas.microsoft.com/office/drawing/2014/main" val="158955143"/>
                    </a:ext>
                  </a:extLst>
                </a:gridCol>
                <a:gridCol w="2341705">
                  <a:extLst>
                    <a:ext uri="{9D8B030D-6E8A-4147-A177-3AD203B41FA5}">
                      <a16:colId xmlns:a16="http://schemas.microsoft.com/office/drawing/2014/main" val="3102279444"/>
                    </a:ext>
                  </a:extLst>
                </a:gridCol>
                <a:gridCol w="2341705">
                  <a:extLst>
                    <a:ext uri="{9D8B030D-6E8A-4147-A177-3AD203B41FA5}">
                      <a16:colId xmlns:a16="http://schemas.microsoft.com/office/drawing/2014/main" val="4029144880"/>
                    </a:ext>
                  </a:extLst>
                </a:gridCol>
                <a:gridCol w="2341705">
                  <a:extLst>
                    <a:ext uri="{9D8B030D-6E8A-4147-A177-3AD203B41FA5}">
                      <a16:colId xmlns:a16="http://schemas.microsoft.com/office/drawing/2014/main" val="1660069147"/>
                    </a:ext>
                  </a:extLst>
                </a:gridCol>
              </a:tblGrid>
              <a:tr h="245406">
                <a:tc>
                  <a:txBody>
                    <a:bodyPr/>
                    <a:lstStyle/>
                    <a:p>
                      <a:pPr algn="ctr">
                        <a:lnSpc>
                          <a:spcPct val="115000"/>
                        </a:lnSpc>
                        <a:spcAft>
                          <a:spcPts val="1000"/>
                        </a:spcAft>
                        <a:buNone/>
                      </a:pPr>
                      <a:r>
                        <a:rPr lang="en-US" sz="1600" dirty="0" err="1">
                          <a:solidFill>
                            <a:schemeClr val="tx1"/>
                          </a:solidFill>
                          <a:effectLst/>
                        </a:rPr>
                        <a:t>方法类型</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sz="1600" dirty="0" err="1">
                          <a:solidFill>
                            <a:schemeClr val="tx1"/>
                          </a:solidFill>
                          <a:effectLst/>
                        </a:rPr>
                        <a:t>具体方法</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sz="1600">
                          <a:solidFill>
                            <a:schemeClr val="tx1"/>
                          </a:solidFill>
                          <a:effectLst/>
                        </a:rPr>
                        <a:t>核心思路</a:t>
                      </a:r>
                      <a:endParaRPr lang="zh-CN" sz="160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sz="1600" dirty="0" err="1">
                          <a:solidFill>
                            <a:schemeClr val="tx1"/>
                          </a:solidFill>
                          <a:effectLst/>
                        </a:rPr>
                        <a:t>优势</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sz="1600" dirty="0" err="1">
                          <a:solidFill>
                            <a:schemeClr val="tx1"/>
                          </a:solidFill>
                          <a:effectLst/>
                        </a:rPr>
                        <a:t>局限性</a:t>
                      </a:r>
                      <a:endParaRPr lang="zh-CN"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8188858"/>
                  </a:ext>
                </a:extLst>
              </a:tr>
              <a:tr h="472808">
                <a:tc rowSpan="3">
                  <a:txBody>
                    <a:bodyPr/>
                    <a:lstStyle/>
                    <a:p>
                      <a:pPr algn="ctr">
                        <a:lnSpc>
                          <a:spcPct val="115000"/>
                        </a:lnSpc>
                        <a:spcAft>
                          <a:spcPts val="1000"/>
                        </a:spcAft>
                        <a:buNone/>
                      </a:pPr>
                      <a:endParaRPr lang="en-US" sz="1400" dirty="0">
                        <a:solidFill>
                          <a:schemeClr val="tx1"/>
                        </a:solidFill>
                        <a:effectLst/>
                      </a:endParaRPr>
                    </a:p>
                    <a:p>
                      <a:pPr algn="ctr">
                        <a:lnSpc>
                          <a:spcPct val="115000"/>
                        </a:lnSpc>
                        <a:spcAft>
                          <a:spcPts val="1000"/>
                        </a:spcAft>
                        <a:buNone/>
                      </a:pPr>
                      <a:endParaRPr lang="en-US" sz="1400" dirty="0">
                        <a:solidFill>
                          <a:schemeClr val="tx1"/>
                        </a:solidFill>
                        <a:effectLst/>
                      </a:endParaRPr>
                    </a:p>
                    <a:p>
                      <a:pPr algn="ctr">
                        <a:lnSpc>
                          <a:spcPct val="115000"/>
                        </a:lnSpc>
                        <a:spcAft>
                          <a:spcPts val="1000"/>
                        </a:spcAft>
                        <a:buNone/>
                      </a:pPr>
                      <a:endParaRPr lang="en-US" sz="1400" dirty="0">
                        <a:solidFill>
                          <a:schemeClr val="tx1"/>
                        </a:solidFill>
                        <a:effectLst/>
                      </a:endParaRPr>
                    </a:p>
                    <a:p>
                      <a:pPr algn="ctr">
                        <a:lnSpc>
                          <a:spcPct val="115000"/>
                        </a:lnSpc>
                        <a:spcAft>
                          <a:spcPts val="1000"/>
                        </a:spcAft>
                        <a:buNone/>
                      </a:pPr>
                      <a:r>
                        <a:rPr lang="en-US" sz="1400" dirty="0" err="1">
                          <a:solidFill>
                            <a:schemeClr val="tx1"/>
                          </a:solidFill>
                          <a:effectLst/>
                        </a:rPr>
                        <a:t>传统几何方法</a:t>
                      </a:r>
                      <a:r>
                        <a:rPr lang="en-US" sz="1400" dirty="0">
                          <a:solidFill>
                            <a:schemeClr val="tx1"/>
                          </a:solidFill>
                          <a:effectLst/>
                        </a:rPr>
                        <a:t> - </a:t>
                      </a:r>
                      <a:r>
                        <a:rPr lang="en-US" sz="1400" dirty="0" err="1">
                          <a:solidFill>
                            <a:schemeClr val="tx1"/>
                          </a:solidFill>
                          <a:effectLst/>
                        </a:rPr>
                        <a:t>网格变形</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altLang="zh-CN" sz="1400" dirty="0"/>
                        <a:t>Natural image stitching with the global similarity prior(GSP)</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r>
                        <a:rPr lang="en-US" sz="1400" dirty="0" err="1">
                          <a:solidFill>
                            <a:schemeClr val="tx1"/>
                          </a:solidFill>
                          <a:effectLst/>
                        </a:rPr>
                        <a:t>基于全局相似性先验做网格变形，约束旋转、缩放一致性</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r>
                        <a:rPr lang="en-US" sz="1400" dirty="0" err="1">
                          <a:solidFill>
                            <a:schemeClr val="tx1"/>
                          </a:solidFill>
                          <a:effectLst/>
                        </a:rPr>
                        <a:t>能较好保持全局几何结构，让拼接后整体比例、角度协调</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r>
                        <a:rPr lang="en-US" sz="1400" dirty="0" err="1">
                          <a:solidFill>
                            <a:schemeClr val="tx1"/>
                          </a:solidFill>
                          <a:effectLst/>
                        </a:rPr>
                        <a:t>大视差场景</a:t>
                      </a:r>
                      <a:r>
                        <a:rPr lang="zh-CN" altLang="en-US" sz="1400" dirty="0">
                          <a:solidFill>
                            <a:schemeClr val="tx1"/>
                          </a:solidFill>
                          <a:effectLst/>
                        </a:rPr>
                        <a:t>中</a:t>
                      </a:r>
                      <a:r>
                        <a:rPr lang="en-US" sz="1400" dirty="0" err="1">
                          <a:solidFill>
                            <a:schemeClr val="tx1"/>
                          </a:solidFill>
                          <a:effectLst/>
                        </a:rPr>
                        <a:t>易出现网格扭曲、变形失控</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8769229"/>
                  </a:ext>
                </a:extLst>
              </a:tr>
              <a:tr h="672790">
                <a:tc vMerge="1">
                  <a:txBody>
                    <a:bodyPr/>
                    <a:lstStyle/>
                    <a:p>
                      <a:pPr>
                        <a:lnSpc>
                          <a:spcPct val="115000"/>
                        </a:lnSpc>
                        <a:spcAft>
                          <a:spcPts val="1000"/>
                        </a:spcAft>
                        <a:buNone/>
                      </a:pPr>
                      <a:endParaRPr lang="zh-CN" sz="12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altLang="zh-CN" sz="1400" dirty="0"/>
                        <a:t>Single-perspective warps in natural image stitching(SPW)</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r>
                        <a:rPr lang="en-US" sz="1400" dirty="0" err="1">
                          <a:solidFill>
                            <a:schemeClr val="tx1"/>
                          </a:solidFill>
                          <a:effectLst/>
                        </a:rPr>
                        <a:t>采用单透视变换网格，优化非重叠区域透视失真</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r>
                        <a:rPr lang="en-US" sz="1400" dirty="0" err="1">
                          <a:solidFill>
                            <a:schemeClr val="tx1"/>
                          </a:solidFill>
                          <a:effectLst/>
                        </a:rPr>
                        <a:t>减少边缘区域因透视差异产生的畸变，让拼接边缘更自然</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r>
                        <a:rPr lang="en-US" sz="1400" dirty="0" err="1">
                          <a:solidFill>
                            <a:schemeClr val="tx1"/>
                          </a:solidFill>
                          <a:effectLst/>
                        </a:rPr>
                        <a:t>仅针对单透视场景优化，多平面视差（如同时有地面、墙面</a:t>
                      </a:r>
                      <a:r>
                        <a:rPr lang="zh-CN" altLang="en-US" sz="1400" dirty="0">
                          <a:solidFill>
                            <a:schemeClr val="tx1"/>
                          </a:solidFill>
                          <a:effectLst/>
                        </a:rPr>
                        <a:t>、</a:t>
                      </a:r>
                      <a:r>
                        <a:rPr lang="en-US" sz="1400" dirty="0" err="1">
                          <a:solidFill>
                            <a:schemeClr val="tx1"/>
                          </a:solidFill>
                          <a:effectLst/>
                        </a:rPr>
                        <a:t>天空</a:t>
                      </a:r>
                      <a:r>
                        <a:rPr lang="en-US" sz="1400" dirty="0">
                          <a:solidFill>
                            <a:schemeClr val="tx1"/>
                          </a:solidFill>
                          <a:effectLst/>
                        </a:rPr>
                        <a:t> ）</a:t>
                      </a:r>
                      <a:r>
                        <a:rPr lang="en-US" sz="1400" dirty="0" err="1">
                          <a:solidFill>
                            <a:schemeClr val="tx1"/>
                          </a:solidFill>
                          <a:effectLst/>
                        </a:rPr>
                        <a:t>时，无法全面处理</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5100429"/>
                  </a:ext>
                </a:extLst>
              </a:tr>
              <a:tr h="901835">
                <a:tc vMerge="1">
                  <a:txBody>
                    <a:bodyPr/>
                    <a:lstStyle/>
                    <a:p>
                      <a:pPr>
                        <a:lnSpc>
                          <a:spcPct val="115000"/>
                        </a:lnSpc>
                        <a:spcAft>
                          <a:spcPts val="1000"/>
                        </a:spcAft>
                        <a:buNone/>
                      </a:pPr>
                      <a:endParaRPr lang="zh-CN" sz="12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r>
                        <a:rPr lang="en-US" altLang="zh-CN" sz="1400" dirty="0"/>
                        <a:t>Leveraging line-point consistence to preserve structures for wide parallax image stitching(LPC)</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r>
                        <a:rPr lang="en-US" sz="1400" dirty="0" err="1">
                          <a:solidFill>
                            <a:schemeClr val="tx1"/>
                          </a:solidFill>
                          <a:effectLst/>
                        </a:rPr>
                        <a:t>结合</a:t>
                      </a:r>
                      <a:r>
                        <a:rPr lang="en-US" sz="1400" b="1" dirty="0" err="1">
                          <a:solidFill>
                            <a:schemeClr val="tx1"/>
                          </a:solidFill>
                          <a:effectLst/>
                        </a:rPr>
                        <a:t>线点一致性约束</a:t>
                      </a:r>
                      <a:r>
                        <a:rPr lang="en-US" sz="1400" dirty="0" err="1">
                          <a:solidFill>
                            <a:schemeClr val="tx1"/>
                          </a:solidFill>
                          <a:effectLst/>
                        </a:rPr>
                        <a:t>做网格变形，保留直线结构</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r>
                        <a:rPr lang="en-US" sz="1400" dirty="0" err="1">
                          <a:solidFill>
                            <a:schemeClr val="tx1"/>
                          </a:solidFill>
                          <a:effectLst/>
                        </a:rPr>
                        <a:t>对含直线元素（如建筑、桥梁</a:t>
                      </a:r>
                      <a:r>
                        <a:rPr lang="en-US" sz="1400" dirty="0">
                          <a:solidFill>
                            <a:schemeClr val="tx1"/>
                          </a:solidFill>
                          <a:effectLst/>
                        </a:rPr>
                        <a:t> ）</a:t>
                      </a:r>
                      <a:r>
                        <a:rPr lang="en-US" sz="1400" dirty="0" err="1">
                          <a:solidFill>
                            <a:schemeClr val="tx1"/>
                          </a:solidFill>
                          <a:effectLst/>
                        </a:rPr>
                        <a:t>的场景，能有效保持线条笔直、对齐，提升结构完整性</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r>
                        <a:rPr lang="en-US" sz="1400" dirty="0" err="1">
                          <a:solidFill>
                            <a:schemeClr val="tx1"/>
                          </a:solidFill>
                          <a:effectLst/>
                        </a:rPr>
                        <a:t>依赖线特征检测精度，纹理少、</a:t>
                      </a:r>
                      <a:r>
                        <a:rPr lang="en-US" sz="1400" b="1" dirty="0" err="1">
                          <a:solidFill>
                            <a:schemeClr val="tx1"/>
                          </a:solidFill>
                          <a:effectLst/>
                        </a:rPr>
                        <a:t>线条模糊场景（如自然风景</a:t>
                      </a:r>
                      <a:r>
                        <a:rPr lang="en-US" sz="1400" b="1" dirty="0">
                          <a:solidFill>
                            <a:schemeClr val="tx1"/>
                          </a:solidFill>
                          <a:effectLst/>
                        </a:rPr>
                        <a:t>），</a:t>
                      </a:r>
                      <a:r>
                        <a:rPr lang="en-US" sz="1400" b="1" dirty="0" err="1">
                          <a:solidFill>
                            <a:schemeClr val="tx1"/>
                          </a:solidFill>
                          <a:effectLst/>
                        </a:rPr>
                        <a:t>效果受限</a:t>
                      </a:r>
                      <a:endParaRPr lang="zh-CN" sz="14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911816"/>
                  </a:ext>
                </a:extLst>
              </a:tr>
              <a:tr h="1257495">
                <a:tc>
                  <a:txBody>
                    <a:bodyPr/>
                    <a:lstStyle/>
                    <a:p>
                      <a:pPr algn="ctr">
                        <a:lnSpc>
                          <a:spcPct val="115000"/>
                        </a:lnSpc>
                        <a:spcAft>
                          <a:spcPts val="1000"/>
                        </a:spcAft>
                        <a:buNone/>
                      </a:pPr>
                      <a:endParaRPr lang="en-US" sz="1400" dirty="0">
                        <a:solidFill>
                          <a:schemeClr val="tx1"/>
                        </a:solidFill>
                        <a:effectLst/>
                      </a:endParaRPr>
                    </a:p>
                    <a:p>
                      <a:pPr algn="ctr">
                        <a:lnSpc>
                          <a:spcPct val="115000"/>
                        </a:lnSpc>
                        <a:spcAft>
                          <a:spcPts val="1000"/>
                        </a:spcAft>
                        <a:buNone/>
                      </a:pPr>
                      <a:r>
                        <a:rPr lang="en-US" sz="1400" dirty="0" err="1">
                          <a:solidFill>
                            <a:schemeClr val="tx1"/>
                          </a:solidFill>
                          <a:effectLst/>
                        </a:rPr>
                        <a:t>深度学习方法</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1000"/>
                        </a:spcAft>
                        <a:buNone/>
                      </a:pPr>
                      <a:endParaRPr lang="en-US" altLang="zh-CN" sz="1400" dirty="0"/>
                    </a:p>
                    <a:p>
                      <a:pPr algn="ctr">
                        <a:lnSpc>
                          <a:spcPct val="115000"/>
                        </a:lnSpc>
                        <a:spcAft>
                          <a:spcPts val="1000"/>
                        </a:spcAft>
                        <a:buNone/>
                      </a:pPr>
                      <a:r>
                        <a:rPr lang="en-US" altLang="zh-CN" sz="1400" dirty="0"/>
                        <a:t>Parallax-tolerant unsupervised deep image stitching.</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endParaRPr lang="en-US" sz="1400" b="0" dirty="0">
                        <a:solidFill>
                          <a:schemeClr val="tx1"/>
                        </a:solidFill>
                        <a:effectLst/>
                      </a:endParaRPr>
                    </a:p>
                    <a:p>
                      <a:pPr>
                        <a:lnSpc>
                          <a:spcPct val="150000"/>
                        </a:lnSpc>
                        <a:spcAft>
                          <a:spcPts val="1000"/>
                        </a:spcAft>
                        <a:buNone/>
                      </a:pPr>
                      <a:r>
                        <a:rPr lang="en-US" sz="1400" b="0" dirty="0" err="1">
                          <a:solidFill>
                            <a:schemeClr val="tx1"/>
                          </a:solidFill>
                          <a:effectLst/>
                        </a:rPr>
                        <a:t>无监督学习框架，融合全局单应性与局部薄板样条变换</a:t>
                      </a:r>
                      <a:endParaRPr lang="zh-CN" sz="1400" b="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endParaRPr lang="en-US" sz="1400" b="0" dirty="0">
                        <a:solidFill>
                          <a:schemeClr val="tx1"/>
                        </a:solidFill>
                        <a:effectLst/>
                      </a:endParaRPr>
                    </a:p>
                    <a:p>
                      <a:pPr>
                        <a:lnSpc>
                          <a:spcPct val="150000"/>
                        </a:lnSpc>
                        <a:spcAft>
                          <a:spcPts val="1000"/>
                        </a:spcAft>
                        <a:buNone/>
                      </a:pPr>
                      <a:r>
                        <a:rPr lang="en-US" sz="1400" b="0" dirty="0" err="1">
                          <a:solidFill>
                            <a:schemeClr val="tx1"/>
                          </a:solidFill>
                          <a:effectLst/>
                        </a:rPr>
                        <a:t>端到端流程，无需人工标注数据，适合大规模场景</a:t>
                      </a:r>
                      <a:endParaRPr lang="zh-CN" sz="1400" b="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1000"/>
                        </a:spcAft>
                        <a:buNone/>
                      </a:pPr>
                      <a:endParaRPr lang="en-US" sz="1400" dirty="0">
                        <a:solidFill>
                          <a:schemeClr val="tx1"/>
                        </a:solidFill>
                        <a:effectLst/>
                      </a:endParaRPr>
                    </a:p>
                    <a:p>
                      <a:pPr>
                        <a:lnSpc>
                          <a:spcPct val="150000"/>
                        </a:lnSpc>
                        <a:spcAft>
                          <a:spcPts val="1000"/>
                        </a:spcAft>
                        <a:buNone/>
                      </a:pPr>
                      <a:r>
                        <a:rPr lang="en-US" sz="1400" dirty="0" err="1">
                          <a:solidFill>
                            <a:schemeClr val="tx1"/>
                          </a:solidFill>
                          <a:effectLst/>
                        </a:rPr>
                        <a:t>受网络平滑性先验限制，大视差场景（如强烈近大远小、物体前后遮挡明显</a:t>
                      </a:r>
                      <a:r>
                        <a:rPr lang="en-US" sz="1400" dirty="0">
                          <a:solidFill>
                            <a:schemeClr val="tx1"/>
                          </a:solidFill>
                          <a:effectLst/>
                        </a:rPr>
                        <a:t> ），</a:t>
                      </a:r>
                      <a:r>
                        <a:rPr lang="en-US" sz="1400" dirty="0" err="1">
                          <a:solidFill>
                            <a:schemeClr val="tx1"/>
                          </a:solidFill>
                          <a:effectLst/>
                        </a:rPr>
                        <a:t>拼接易失败</a:t>
                      </a:r>
                      <a:endParaRPr lang="zh-CN" sz="14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25743" marR="25743"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8471196"/>
                  </a:ext>
                </a:extLst>
              </a:tr>
            </a:tbl>
          </a:graphicData>
        </a:graphic>
      </p:graphicFrame>
    </p:spTree>
    <p:extLst>
      <p:ext uri="{BB962C8B-B14F-4D97-AF65-F5344CB8AC3E}">
        <p14:creationId xmlns:p14="http://schemas.microsoft.com/office/powerpoint/2010/main" val="1656408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26B89-80F0-9BDE-44B8-E4910A1195C5}"/>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80B7F6B8-D737-3B2E-17EC-002E4C9A5A6A}"/>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图像拼接方法</a:t>
            </a:r>
          </a:p>
        </p:txBody>
      </p:sp>
      <p:sp>
        <p:nvSpPr>
          <p:cNvPr id="1048679" name="等腰三角形 3">
            <a:extLst>
              <a:ext uri="{FF2B5EF4-FFF2-40B4-BE49-F238E27FC236}">
                <a16:creationId xmlns:a16="http://schemas.microsoft.com/office/drawing/2014/main" id="{AAAB1881-B012-170B-49C2-0FAC6636BB70}"/>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FED73170-40E2-4E10-89C1-A085C0BBD1E8}"/>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0EA2DBDA-1F0C-E1D0-503B-BBCF526957D4}"/>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A10D982E-D436-6A36-01B9-185CFC0E9817}"/>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0752274D-8873-7AB3-6726-73DF7572CF2E}"/>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6</a:t>
            </a:fld>
            <a:endParaRPr lang="zh-CN" altLang="en-US" dirty="0"/>
          </a:p>
        </p:txBody>
      </p:sp>
      <p:sp>
        <p:nvSpPr>
          <p:cNvPr id="2" name="文本框 1">
            <a:extLst>
              <a:ext uri="{FF2B5EF4-FFF2-40B4-BE49-F238E27FC236}">
                <a16:creationId xmlns:a16="http://schemas.microsoft.com/office/drawing/2014/main" id="{CCB1D82F-B976-459E-8333-A1E76CD7D78A}"/>
              </a:ext>
            </a:extLst>
          </p:cNvPr>
          <p:cNvSpPr txBox="1"/>
          <p:nvPr/>
        </p:nvSpPr>
        <p:spPr>
          <a:xfrm>
            <a:off x="1054100" y="1397000"/>
            <a:ext cx="10287000" cy="4108817"/>
          </a:xfrm>
          <a:prstGeom prst="rect">
            <a:avLst/>
          </a:prstGeom>
          <a:noFill/>
        </p:spPr>
        <p:txBody>
          <a:bodyPr wrap="square" rtlCol="0">
            <a:spAutoFit/>
          </a:bodyPr>
          <a:lstStyle/>
          <a:p>
            <a:pPr indent="457200">
              <a:lnSpc>
                <a:spcPct val="150000"/>
              </a:lnSpc>
            </a:pPr>
            <a:r>
              <a:rPr lang="zh-CN" altLang="en-US" dirty="0"/>
              <a:t>在城市街景图像拼接中，场景通常包含多个深度平面和大量直线结构，如道路、建筑物和车辆，因此需要对拼接方法有更高的几何适应能力与结构保持能力。</a:t>
            </a:r>
            <a:r>
              <a:rPr lang="zh-CN" altLang="en-US" b="1" dirty="0"/>
              <a:t>传统的全局单应性</a:t>
            </a:r>
            <a:r>
              <a:rPr lang="zh-CN" altLang="en-US" dirty="0"/>
              <a:t>方法虽然实现简单、计算效率高，但</a:t>
            </a:r>
            <a:r>
              <a:rPr lang="zh-CN" altLang="en-US" b="1" dirty="0"/>
              <a:t>仅适用于近似平面或视角变化较小的场景</a:t>
            </a:r>
            <a:r>
              <a:rPr lang="zh-CN" altLang="en-US" dirty="0"/>
              <a:t>，面对城市街景这类存在明显视差的环境时，易出现错位或重影等问题，适用性较差。</a:t>
            </a:r>
            <a:r>
              <a:rPr lang="zh-CN" altLang="en-US" b="1" dirty="0"/>
              <a:t>局部几何方法</a:t>
            </a:r>
            <a:r>
              <a:rPr lang="zh-CN" altLang="en-US" dirty="0"/>
              <a:t>如 </a:t>
            </a:r>
            <a:r>
              <a:rPr lang="en-US" altLang="zh-CN" dirty="0"/>
              <a:t>APAP</a:t>
            </a:r>
            <a:r>
              <a:rPr lang="zh-CN" altLang="en-US" dirty="0"/>
              <a:t>、</a:t>
            </a:r>
            <a:r>
              <a:rPr lang="en-US" altLang="zh-CN" dirty="0"/>
              <a:t>TFA </a:t>
            </a:r>
            <a:r>
              <a:rPr lang="zh-CN" altLang="en-US" dirty="0"/>
              <a:t>等通过局部加权建模，可以在一定程度上缓解视差带来的影响。相比之下，</a:t>
            </a:r>
            <a:r>
              <a:rPr lang="zh-CN" altLang="en-US" b="1" dirty="0"/>
              <a:t>网格变形方法</a:t>
            </a:r>
            <a:r>
              <a:rPr lang="zh-CN" altLang="en-US" dirty="0"/>
              <a:t>（如 </a:t>
            </a:r>
            <a:r>
              <a:rPr lang="en-US" altLang="zh-CN" dirty="0"/>
              <a:t>GSP</a:t>
            </a:r>
            <a:r>
              <a:rPr lang="zh-CN" altLang="en-US" dirty="0"/>
              <a:t>、</a:t>
            </a:r>
            <a:r>
              <a:rPr lang="en-US" altLang="zh-CN" dirty="0"/>
              <a:t>LPC</a:t>
            </a:r>
            <a:r>
              <a:rPr lang="zh-CN" altLang="en-US" dirty="0"/>
              <a:t>）通过引入结构约束或线特征一致性，</a:t>
            </a:r>
            <a:r>
              <a:rPr lang="zh-CN" altLang="en-US" b="1" dirty="0"/>
              <a:t>更适合在建筑结构明显、视差较大的街景图像中使用，能够有效保持整体几何形态和直线边界的一致性</a:t>
            </a:r>
            <a:r>
              <a:rPr lang="zh-CN" altLang="en-US" dirty="0"/>
              <a:t>。深度学习方法如 </a:t>
            </a:r>
            <a:r>
              <a:rPr lang="en-US" altLang="zh-CN" dirty="0"/>
              <a:t>UDIS++ </a:t>
            </a:r>
            <a:r>
              <a:rPr lang="zh-CN" altLang="en-US" dirty="0"/>
              <a:t>在处理复杂非刚性变形方面有一定优势，但往往依赖大量训练数据，且在不同街景场景间的泛化能力仍存在不确定性。</a:t>
            </a:r>
            <a:r>
              <a:rPr lang="zh-CN" altLang="en-US" b="1" dirty="0"/>
              <a:t>综上，城市街景图像拼接更推荐使用局部几何方法或结构保持型网格变形方法</a:t>
            </a:r>
            <a:r>
              <a:rPr lang="zh-CN" altLang="en-US" dirty="0"/>
              <a:t>，以在对齐精度与结构完整性之间取得更优平衡。</a:t>
            </a:r>
          </a:p>
          <a:p>
            <a:endParaRPr lang="zh-CN" altLang="en-US" dirty="0"/>
          </a:p>
        </p:txBody>
      </p:sp>
    </p:spTree>
    <p:extLst>
      <p:ext uri="{BB962C8B-B14F-4D97-AF65-F5344CB8AC3E}">
        <p14:creationId xmlns:p14="http://schemas.microsoft.com/office/powerpoint/2010/main" val="687001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CDFE5-BE5B-FFA5-C3E9-51CF185F2DA2}"/>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40E649EA-3970-1DE2-7AD9-5BA5C13E8E69}"/>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图像拼接方法</a:t>
            </a:r>
          </a:p>
        </p:txBody>
      </p:sp>
      <p:sp>
        <p:nvSpPr>
          <p:cNvPr id="1048679" name="等腰三角形 3">
            <a:extLst>
              <a:ext uri="{FF2B5EF4-FFF2-40B4-BE49-F238E27FC236}">
                <a16:creationId xmlns:a16="http://schemas.microsoft.com/office/drawing/2014/main" id="{35B02A32-0136-5017-9451-E816197B4E72}"/>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C77D0B69-3A72-88B4-AABD-51148B289CA8}"/>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BC847CEC-8F4E-FCE1-1DFC-EB0AFEA80F9B}"/>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9B48635D-C620-5024-18B2-2685D18A17A9}"/>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EB41A661-7E6B-3E2B-018D-3DD7DDEE29AA}"/>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7</a:t>
            </a:fld>
            <a:endParaRPr lang="zh-CN" altLang="en-US" dirty="0"/>
          </a:p>
        </p:txBody>
      </p:sp>
      <p:pic>
        <p:nvPicPr>
          <p:cNvPr id="5" name="图片 4" descr="建筑前的沙滩上&#10;&#10;AI 生成的内容可能不正确。">
            <a:extLst>
              <a:ext uri="{FF2B5EF4-FFF2-40B4-BE49-F238E27FC236}">
                <a16:creationId xmlns:a16="http://schemas.microsoft.com/office/drawing/2014/main" id="{A09A112B-992C-39C0-7BE5-63FE9B194A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154" y="1306719"/>
            <a:ext cx="3738903" cy="2103133"/>
          </a:xfrm>
          <a:prstGeom prst="rect">
            <a:avLst/>
          </a:prstGeom>
        </p:spPr>
      </p:pic>
      <p:pic>
        <p:nvPicPr>
          <p:cNvPr id="7" name="图片 6" descr="街道上的风景&#10;&#10;AI 生成的内容可能不正确。">
            <a:extLst>
              <a:ext uri="{FF2B5EF4-FFF2-40B4-BE49-F238E27FC236}">
                <a16:creationId xmlns:a16="http://schemas.microsoft.com/office/drawing/2014/main" id="{312C72CC-41A5-415A-ADFB-C0556FFE557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5330" y="3818866"/>
            <a:ext cx="3738904" cy="2103133"/>
          </a:xfrm>
          <a:prstGeom prst="rect">
            <a:avLst/>
          </a:prstGeom>
        </p:spPr>
      </p:pic>
      <p:sp>
        <p:nvSpPr>
          <p:cNvPr id="9" name="文本框 8">
            <a:extLst>
              <a:ext uri="{FF2B5EF4-FFF2-40B4-BE49-F238E27FC236}">
                <a16:creationId xmlns:a16="http://schemas.microsoft.com/office/drawing/2014/main" id="{9551B6FB-0829-CFA1-2979-25208CFB420E}"/>
              </a:ext>
            </a:extLst>
          </p:cNvPr>
          <p:cNvSpPr txBox="1"/>
          <p:nvPr/>
        </p:nvSpPr>
        <p:spPr>
          <a:xfrm>
            <a:off x="924180" y="3404847"/>
            <a:ext cx="3071104" cy="369332"/>
          </a:xfrm>
          <a:prstGeom prst="rect">
            <a:avLst/>
          </a:prstGeom>
          <a:noFill/>
        </p:spPr>
        <p:txBody>
          <a:bodyPr wrap="square" rtlCol="0">
            <a:spAutoFit/>
          </a:bodyPr>
          <a:lstStyle/>
          <a:p>
            <a:pPr algn="ctr"/>
            <a:r>
              <a:rPr lang="zh-CN" altLang="en-US" dirty="0"/>
              <a:t>左图</a:t>
            </a:r>
          </a:p>
        </p:txBody>
      </p:sp>
      <p:sp>
        <p:nvSpPr>
          <p:cNvPr id="10" name="文本框 9">
            <a:extLst>
              <a:ext uri="{FF2B5EF4-FFF2-40B4-BE49-F238E27FC236}">
                <a16:creationId xmlns:a16="http://schemas.microsoft.com/office/drawing/2014/main" id="{0DBDC34C-FDAB-4527-0AF6-2670A1F46F5F}"/>
              </a:ext>
            </a:extLst>
          </p:cNvPr>
          <p:cNvSpPr txBox="1"/>
          <p:nvPr/>
        </p:nvSpPr>
        <p:spPr>
          <a:xfrm>
            <a:off x="783771" y="6019626"/>
            <a:ext cx="3095486" cy="369332"/>
          </a:xfrm>
          <a:prstGeom prst="rect">
            <a:avLst/>
          </a:prstGeom>
          <a:noFill/>
        </p:spPr>
        <p:txBody>
          <a:bodyPr wrap="square" rtlCol="0">
            <a:spAutoFit/>
          </a:bodyPr>
          <a:lstStyle/>
          <a:p>
            <a:pPr algn="ctr"/>
            <a:r>
              <a:rPr lang="zh-CN" altLang="en-US" dirty="0"/>
              <a:t>右图</a:t>
            </a:r>
          </a:p>
        </p:txBody>
      </p:sp>
      <p:pic>
        <p:nvPicPr>
          <p:cNvPr id="12" name="图片 11" descr="建筑与房屋的城市空拍图与配字&#10;&#10;AI 生成的内容可能不正确。">
            <a:extLst>
              <a:ext uri="{FF2B5EF4-FFF2-40B4-BE49-F238E27FC236}">
                <a16:creationId xmlns:a16="http://schemas.microsoft.com/office/drawing/2014/main" id="{0C966A04-6B0F-0047-68B6-345BFD576C6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01261" y="1494287"/>
            <a:ext cx="6926732" cy="3393399"/>
          </a:xfrm>
          <a:prstGeom prst="rect">
            <a:avLst/>
          </a:prstGeom>
        </p:spPr>
      </p:pic>
      <p:sp>
        <p:nvSpPr>
          <p:cNvPr id="13" name="文本框 12">
            <a:extLst>
              <a:ext uri="{FF2B5EF4-FFF2-40B4-BE49-F238E27FC236}">
                <a16:creationId xmlns:a16="http://schemas.microsoft.com/office/drawing/2014/main" id="{0BE45AD3-6BD5-8BF4-928E-804E75CBD828}"/>
              </a:ext>
            </a:extLst>
          </p:cNvPr>
          <p:cNvSpPr txBox="1"/>
          <p:nvPr/>
        </p:nvSpPr>
        <p:spPr>
          <a:xfrm>
            <a:off x="5725886" y="4974771"/>
            <a:ext cx="5029200" cy="369332"/>
          </a:xfrm>
          <a:prstGeom prst="rect">
            <a:avLst/>
          </a:prstGeom>
          <a:noFill/>
        </p:spPr>
        <p:txBody>
          <a:bodyPr wrap="square" rtlCol="0">
            <a:spAutoFit/>
          </a:bodyPr>
          <a:lstStyle/>
          <a:p>
            <a:pPr algn="ctr"/>
            <a:r>
              <a:rPr lang="en-US" altLang="zh-CN" dirty="0" err="1"/>
              <a:t>Apap</a:t>
            </a:r>
            <a:r>
              <a:rPr lang="zh-CN" altLang="en-US" dirty="0"/>
              <a:t>算法拼接效果图</a:t>
            </a:r>
          </a:p>
        </p:txBody>
      </p:sp>
    </p:spTree>
    <p:extLst>
      <p:ext uri="{BB962C8B-B14F-4D97-AF65-F5344CB8AC3E}">
        <p14:creationId xmlns:p14="http://schemas.microsoft.com/office/powerpoint/2010/main" val="2010289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3023B-1727-29A1-9829-5F5551D3D74F}"/>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5CCFE8B7-2FC6-F459-0FBB-7D14E49A3145}"/>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图像拼接方法</a:t>
            </a:r>
          </a:p>
        </p:txBody>
      </p:sp>
      <p:sp>
        <p:nvSpPr>
          <p:cNvPr id="1048679" name="等腰三角形 3">
            <a:extLst>
              <a:ext uri="{FF2B5EF4-FFF2-40B4-BE49-F238E27FC236}">
                <a16:creationId xmlns:a16="http://schemas.microsoft.com/office/drawing/2014/main" id="{441E043D-107A-2B8F-F03F-31D4DC67C741}"/>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F1E041E5-83D6-DA68-6006-D22AFC05F041}"/>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E26491D9-773A-6681-5015-6A0C63AE1156}"/>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E726DF1D-C21F-E47D-B009-359E36F9AF21}"/>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76F9D67D-4C35-2E6A-98EC-C5F423AF78EE}"/>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8</a:t>
            </a:fld>
            <a:endParaRPr lang="zh-CN" altLang="en-US" dirty="0"/>
          </a:p>
        </p:txBody>
      </p:sp>
      <p:sp>
        <p:nvSpPr>
          <p:cNvPr id="2" name="文本框 1">
            <a:extLst>
              <a:ext uri="{FF2B5EF4-FFF2-40B4-BE49-F238E27FC236}">
                <a16:creationId xmlns:a16="http://schemas.microsoft.com/office/drawing/2014/main" id="{CEC2D3DF-344C-ECE4-D939-DBDDBA7C73D2}"/>
              </a:ext>
            </a:extLst>
          </p:cNvPr>
          <p:cNvSpPr txBox="1"/>
          <p:nvPr/>
        </p:nvSpPr>
        <p:spPr>
          <a:xfrm>
            <a:off x="1054100" y="1397000"/>
            <a:ext cx="10287000" cy="646331"/>
          </a:xfrm>
          <a:prstGeom prst="rect">
            <a:avLst/>
          </a:prstGeom>
          <a:noFill/>
        </p:spPr>
        <p:txBody>
          <a:bodyPr wrap="square" rtlCol="0">
            <a:spAutoFit/>
          </a:bodyPr>
          <a:lstStyle/>
          <a:p>
            <a:r>
              <a:rPr lang="zh-CN" altLang="en-US" dirty="0"/>
              <a:t>显示图：</a:t>
            </a:r>
            <a:endParaRPr lang="en-US" altLang="zh-CN" dirty="0"/>
          </a:p>
          <a:p>
            <a:endParaRPr lang="zh-CN" altLang="en-US" dirty="0"/>
          </a:p>
        </p:txBody>
      </p:sp>
      <p:sp>
        <p:nvSpPr>
          <p:cNvPr id="10" name="文本框 9">
            <a:extLst>
              <a:ext uri="{FF2B5EF4-FFF2-40B4-BE49-F238E27FC236}">
                <a16:creationId xmlns:a16="http://schemas.microsoft.com/office/drawing/2014/main" id="{A8B9795D-C802-B8C0-9A75-72DE0BE491C8}"/>
              </a:ext>
            </a:extLst>
          </p:cNvPr>
          <p:cNvSpPr txBox="1"/>
          <p:nvPr/>
        </p:nvSpPr>
        <p:spPr>
          <a:xfrm>
            <a:off x="1304953" y="3429000"/>
            <a:ext cx="1952969" cy="369332"/>
          </a:xfrm>
          <a:prstGeom prst="rect">
            <a:avLst/>
          </a:prstGeom>
          <a:noFill/>
        </p:spPr>
        <p:txBody>
          <a:bodyPr wrap="square" rtlCol="0">
            <a:spAutoFit/>
          </a:bodyPr>
          <a:lstStyle/>
          <a:p>
            <a:pPr algn="ctr"/>
            <a:r>
              <a:rPr lang="zh-CN" altLang="en-US" dirty="0"/>
              <a:t>左图</a:t>
            </a:r>
          </a:p>
        </p:txBody>
      </p:sp>
      <p:sp>
        <p:nvSpPr>
          <p:cNvPr id="11" name="文本框 10">
            <a:extLst>
              <a:ext uri="{FF2B5EF4-FFF2-40B4-BE49-F238E27FC236}">
                <a16:creationId xmlns:a16="http://schemas.microsoft.com/office/drawing/2014/main" id="{4E25457D-ABDC-D202-B7EB-AFAB0AB0F71F}"/>
              </a:ext>
            </a:extLst>
          </p:cNvPr>
          <p:cNvSpPr txBox="1"/>
          <p:nvPr/>
        </p:nvSpPr>
        <p:spPr>
          <a:xfrm>
            <a:off x="1238479" y="5922000"/>
            <a:ext cx="2123847" cy="369332"/>
          </a:xfrm>
          <a:prstGeom prst="rect">
            <a:avLst/>
          </a:prstGeom>
          <a:noFill/>
        </p:spPr>
        <p:txBody>
          <a:bodyPr wrap="square" rtlCol="0">
            <a:spAutoFit/>
          </a:bodyPr>
          <a:lstStyle/>
          <a:p>
            <a:pPr algn="ctr"/>
            <a:r>
              <a:rPr lang="zh-CN" altLang="en-US" dirty="0"/>
              <a:t>右图</a:t>
            </a:r>
          </a:p>
        </p:txBody>
      </p:sp>
      <p:sp>
        <p:nvSpPr>
          <p:cNvPr id="15" name="文本框 14">
            <a:extLst>
              <a:ext uri="{FF2B5EF4-FFF2-40B4-BE49-F238E27FC236}">
                <a16:creationId xmlns:a16="http://schemas.microsoft.com/office/drawing/2014/main" id="{4FFCC7AF-2AD5-128C-ADFA-97F97CD60110}"/>
              </a:ext>
            </a:extLst>
          </p:cNvPr>
          <p:cNvSpPr txBox="1"/>
          <p:nvPr/>
        </p:nvSpPr>
        <p:spPr>
          <a:xfrm>
            <a:off x="5050971" y="5214257"/>
            <a:ext cx="5812972" cy="369332"/>
          </a:xfrm>
          <a:prstGeom prst="rect">
            <a:avLst/>
          </a:prstGeom>
          <a:noFill/>
        </p:spPr>
        <p:txBody>
          <a:bodyPr wrap="square" rtlCol="0">
            <a:spAutoFit/>
          </a:bodyPr>
          <a:lstStyle/>
          <a:p>
            <a:pPr algn="ctr"/>
            <a:r>
              <a:rPr lang="en-US" altLang="zh-CN" dirty="0"/>
              <a:t>LPC</a:t>
            </a:r>
            <a:r>
              <a:rPr lang="zh-CN" altLang="en-US" dirty="0"/>
              <a:t>方法拼接效果图</a:t>
            </a:r>
          </a:p>
        </p:txBody>
      </p:sp>
      <p:pic>
        <p:nvPicPr>
          <p:cNvPr id="21" name="图片 20" descr="建筑与房屋的城市空拍图&#10;&#10;AI 生成的内容可能不正确。">
            <a:extLst>
              <a:ext uri="{FF2B5EF4-FFF2-40B4-BE49-F238E27FC236}">
                <a16:creationId xmlns:a16="http://schemas.microsoft.com/office/drawing/2014/main" id="{E15FE952-24EB-FA49-476A-93ED96947C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0646" y="2133612"/>
            <a:ext cx="7093726" cy="2804496"/>
          </a:xfrm>
          <a:prstGeom prst="rect">
            <a:avLst/>
          </a:prstGeom>
        </p:spPr>
      </p:pic>
      <p:pic>
        <p:nvPicPr>
          <p:cNvPr id="22" name="图片 21" descr="建筑前的沙滩上&#10;&#10;AI 生成的内容可能不正确。">
            <a:extLst>
              <a:ext uri="{FF2B5EF4-FFF2-40B4-BE49-F238E27FC236}">
                <a16:creationId xmlns:a16="http://schemas.microsoft.com/office/drawing/2014/main" id="{980C9889-8491-CD13-D872-052348394B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7154" y="1306719"/>
            <a:ext cx="3738903" cy="2103133"/>
          </a:xfrm>
          <a:prstGeom prst="rect">
            <a:avLst/>
          </a:prstGeom>
        </p:spPr>
      </p:pic>
      <p:pic>
        <p:nvPicPr>
          <p:cNvPr id="23" name="图片 22" descr="街道上的风景&#10;&#10;AI 生成的内容可能不正确。">
            <a:extLst>
              <a:ext uri="{FF2B5EF4-FFF2-40B4-BE49-F238E27FC236}">
                <a16:creationId xmlns:a16="http://schemas.microsoft.com/office/drawing/2014/main" id="{33BFEB9F-920F-C22E-E252-821A65983AE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7154" y="3774179"/>
            <a:ext cx="3738904" cy="2103133"/>
          </a:xfrm>
          <a:prstGeom prst="rect">
            <a:avLst/>
          </a:prstGeom>
        </p:spPr>
      </p:pic>
    </p:spTree>
    <p:extLst>
      <p:ext uri="{BB962C8B-B14F-4D97-AF65-F5344CB8AC3E}">
        <p14:creationId xmlns:p14="http://schemas.microsoft.com/office/powerpoint/2010/main" val="107855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05679-3465-DA04-5613-4E76CD482866}"/>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7E64A6D3-CEBA-4C70-CE84-908692915CCC}"/>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图像拼接方法</a:t>
            </a:r>
          </a:p>
        </p:txBody>
      </p:sp>
      <p:sp>
        <p:nvSpPr>
          <p:cNvPr id="1048679" name="等腰三角形 3">
            <a:extLst>
              <a:ext uri="{FF2B5EF4-FFF2-40B4-BE49-F238E27FC236}">
                <a16:creationId xmlns:a16="http://schemas.microsoft.com/office/drawing/2014/main" id="{C5AFA198-1FCB-B913-A494-C334D6749626}"/>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0034209C-8951-DDFF-256B-2064A999FB21}"/>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3B9F7143-630D-811E-2406-C5F301F01D4A}"/>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5C55934B-C033-21A9-F4B0-5C057A33ECEF}"/>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EEE4AEC0-8B97-7D36-BEE3-51B66FEB1B56}"/>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9</a:t>
            </a:fld>
            <a:endParaRPr lang="zh-CN" altLang="en-US" dirty="0"/>
          </a:p>
        </p:txBody>
      </p:sp>
      <p:sp>
        <p:nvSpPr>
          <p:cNvPr id="3" name="文本框 2">
            <a:extLst>
              <a:ext uri="{FF2B5EF4-FFF2-40B4-BE49-F238E27FC236}">
                <a16:creationId xmlns:a16="http://schemas.microsoft.com/office/drawing/2014/main" id="{96E96D19-64CC-B30D-D3BC-C3F4FCCC203E}"/>
              </a:ext>
            </a:extLst>
          </p:cNvPr>
          <p:cNvSpPr txBox="1"/>
          <p:nvPr/>
        </p:nvSpPr>
        <p:spPr>
          <a:xfrm>
            <a:off x="924180" y="1545771"/>
            <a:ext cx="10549363" cy="3374129"/>
          </a:xfrm>
          <a:prstGeom prst="rect">
            <a:avLst/>
          </a:prstGeom>
          <a:noFill/>
        </p:spPr>
        <p:txBody>
          <a:bodyPr wrap="square" rtlCol="0">
            <a:spAutoFit/>
          </a:bodyPr>
          <a:lstStyle/>
          <a:p>
            <a:pPr indent="457200" algn="just">
              <a:lnSpc>
                <a:spcPct val="150000"/>
              </a:lnSpc>
            </a:pPr>
            <a:r>
              <a:rPr lang="zh-CN" altLang="en-US" dirty="0"/>
              <a:t>对比两张图像拼接效果，</a:t>
            </a:r>
            <a:r>
              <a:rPr lang="en-US" altLang="zh-CN" dirty="0"/>
              <a:t>APAP </a:t>
            </a:r>
            <a:r>
              <a:rPr lang="zh-CN" altLang="en-US" dirty="0"/>
              <a:t>算法与 </a:t>
            </a:r>
            <a:r>
              <a:rPr lang="en-US" altLang="zh-CN" dirty="0"/>
              <a:t>LPC </a:t>
            </a:r>
            <a:r>
              <a:rPr lang="zh-CN" altLang="en-US" dirty="0"/>
              <a:t>算法在不同维度呈现出明显差异。</a:t>
            </a:r>
            <a:endParaRPr lang="en-US" altLang="zh-CN" dirty="0"/>
          </a:p>
          <a:p>
            <a:pPr indent="457200" algn="just">
              <a:lnSpc>
                <a:spcPct val="150000"/>
              </a:lnSpc>
            </a:pPr>
            <a:r>
              <a:rPr lang="zh-CN" altLang="en-US" dirty="0"/>
              <a:t>在</a:t>
            </a:r>
            <a:r>
              <a:rPr lang="zh-CN" altLang="en-US" b="1" dirty="0"/>
              <a:t>对齐精度</a:t>
            </a:r>
            <a:r>
              <a:rPr lang="zh-CN" altLang="en-US" dirty="0"/>
              <a:t>上，</a:t>
            </a:r>
            <a:r>
              <a:rPr lang="en-US" altLang="zh-CN" dirty="0"/>
              <a:t>APAP </a:t>
            </a:r>
            <a:r>
              <a:rPr lang="zh-CN" altLang="en-US" dirty="0"/>
              <a:t>拼接图</a:t>
            </a:r>
            <a:r>
              <a:rPr lang="zh-CN" altLang="en-US" b="1" dirty="0"/>
              <a:t>存在显著拼接缝</a:t>
            </a:r>
            <a:r>
              <a:rPr lang="zh-CN" altLang="en-US" dirty="0"/>
              <a:t>，中间建筑、天空区域呈现 “双层” 重影，反映出特征点匹配或局部单应性拟合未完全对齐，不同区域变换参数衔接有误差，同一物体在拼接处重复显示；而 </a:t>
            </a:r>
            <a:r>
              <a:rPr lang="en-US" altLang="zh-CN" dirty="0"/>
              <a:t>LPC </a:t>
            </a:r>
            <a:r>
              <a:rPr lang="zh-CN" altLang="en-US" dirty="0"/>
              <a:t>拼接图中，建筑、挖掘机、地面</a:t>
            </a:r>
            <a:r>
              <a:rPr lang="zh-CN" altLang="en-US" b="1" dirty="0"/>
              <a:t>纹理基本 “无缝”</a:t>
            </a:r>
            <a:r>
              <a:rPr lang="zh-CN" altLang="en-US" dirty="0"/>
              <a:t>，得益于线点约束，有效对齐几何结构，直线元素（建筑边缘、地面车辙 ）规整，拼接一致性更佳 </a:t>
            </a:r>
            <a:endParaRPr lang="en-US" altLang="zh-CN" dirty="0"/>
          </a:p>
          <a:p>
            <a:pPr indent="457200" algn="just">
              <a:lnSpc>
                <a:spcPct val="150000"/>
              </a:lnSpc>
            </a:pPr>
            <a:r>
              <a:rPr lang="zh-CN" altLang="en-US" dirty="0"/>
              <a:t>从</a:t>
            </a:r>
            <a:r>
              <a:rPr lang="zh-CN" altLang="en-US" b="1" dirty="0"/>
              <a:t>细节保留</a:t>
            </a:r>
            <a:r>
              <a:rPr lang="zh-CN" altLang="en-US" dirty="0"/>
              <a:t>来看，</a:t>
            </a:r>
            <a:r>
              <a:rPr lang="en-US" altLang="zh-CN" dirty="0"/>
              <a:t>APAP </a:t>
            </a:r>
            <a:r>
              <a:rPr lang="zh-CN" altLang="en-US" dirty="0"/>
              <a:t>拼接图因对齐误差，建筑窗户、地面材料等细节 “撕裂”，重影降低细节辨识度；</a:t>
            </a:r>
            <a:r>
              <a:rPr lang="en-US" altLang="zh-CN" dirty="0"/>
              <a:t>LPC </a:t>
            </a:r>
            <a:r>
              <a:rPr lang="zh-CN" altLang="en-US" dirty="0"/>
              <a:t>拼接图里，挖掘机、建筑门窗、地面纹理清晰连续，线点约束优先保住结构细节，拼接后信息损失更少 </a:t>
            </a:r>
            <a:endParaRPr lang="en-US" altLang="zh-CN" dirty="0"/>
          </a:p>
        </p:txBody>
      </p:sp>
    </p:spTree>
    <p:extLst>
      <p:ext uri="{BB962C8B-B14F-4D97-AF65-F5344CB8AC3E}">
        <p14:creationId xmlns:p14="http://schemas.microsoft.com/office/powerpoint/2010/main" val="129884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
          <p:cNvGrpSpPr/>
          <p:nvPr/>
        </p:nvGrpSpPr>
        <p:grpSpPr>
          <a:xfrm>
            <a:off x="0" y="0"/>
            <a:ext cx="12192000" cy="1034473"/>
            <a:chOff x="0" y="0"/>
            <a:chExt cx="12192000" cy="1034473"/>
          </a:xfrm>
        </p:grpSpPr>
        <p:sp>
          <p:nvSpPr>
            <p:cNvPr id="1048616" name="矩形 4"/>
            <p:cNvSpPr/>
            <p:nvPr/>
          </p:nvSpPr>
          <p:spPr>
            <a:xfrm flipV="1">
              <a:off x="0" y="0"/>
              <a:ext cx="12192000" cy="1034473"/>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pitchFamily="34" charset="0"/>
                <a:ea typeface="微软雅黑" panose="020B0503020204020204" pitchFamily="34" charset="-122"/>
                <a:sym typeface="Calibri" panose="020F0502020204030204" pitchFamily="34" charset="0"/>
              </a:endParaRPr>
            </a:p>
          </p:txBody>
        </p:sp>
        <p:cxnSp>
          <p:nvCxnSpPr>
            <p:cNvPr id="3145730" name="直接连接符 5"/>
            <p:cNvCxnSpPr>
              <a:cxnSpLocks/>
            </p:cNvCxnSpPr>
            <p:nvPr/>
          </p:nvCxnSpPr>
          <p:spPr>
            <a:xfrm>
              <a:off x="1184530" y="132043"/>
              <a:ext cx="0" cy="77038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48617" name="标题 1"/>
          <p:cNvSpPr txBox="1"/>
          <p:nvPr/>
        </p:nvSpPr>
        <p:spPr>
          <a:xfrm>
            <a:off x="1516716" y="188273"/>
            <a:ext cx="5292012" cy="7516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zh-CN" altLang="en-US" sz="4000" b="1" dirty="0">
                <a:solidFill>
                  <a:schemeClr val="bg1"/>
                </a:solidFill>
                <a:latin typeface="Microsoft YaHei" panose="020B0503020204020204" pitchFamily="34" charset="-122"/>
                <a:ea typeface="Microsoft YaHei" panose="020B0503020204020204" pitchFamily="34" charset="-122"/>
                <a:cs typeface="+mn-cs"/>
              </a:rPr>
              <a:t>总结及后续计划</a:t>
            </a:r>
          </a:p>
        </p:txBody>
      </p:sp>
      <p:sp>
        <p:nvSpPr>
          <p:cNvPr id="1048618" name="内容占位符 2"/>
          <p:cNvSpPr txBox="1"/>
          <p:nvPr/>
        </p:nvSpPr>
        <p:spPr>
          <a:xfrm>
            <a:off x="221658" y="185490"/>
            <a:ext cx="836392" cy="5630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4000" b="1" dirty="0">
                <a:solidFill>
                  <a:schemeClr val="bg1"/>
                </a:solidFill>
                <a:latin typeface="Microsoft YaHei" panose="020B0503020204020204" pitchFamily="34" charset="-122"/>
                <a:ea typeface="Microsoft YaHei" panose="020B0503020204020204" pitchFamily="34" charset="-122"/>
              </a:rPr>
              <a:t>03</a:t>
            </a:r>
            <a:endParaRPr lang="zh-CN" altLang="en-US" sz="4000" b="1" dirty="0">
              <a:solidFill>
                <a:schemeClr val="bg1"/>
              </a:solidFill>
              <a:latin typeface="Microsoft YaHei" panose="020B0503020204020204" pitchFamily="34" charset="-122"/>
              <a:ea typeface="Microsoft YaHei" panose="020B0503020204020204" pitchFamily="34" charset="-122"/>
            </a:endParaRPr>
          </a:p>
        </p:txBody>
      </p:sp>
      <p:pic>
        <p:nvPicPr>
          <p:cNvPr id="8" name="图片 10">
            <a:extLst>
              <a:ext uri="{FF2B5EF4-FFF2-40B4-BE49-F238E27FC236}">
                <a16:creationId xmlns:a16="http://schemas.microsoft.com/office/drawing/2014/main" id="{87BE1292-BE8B-F846-9598-38B71EE135E0}"/>
              </a:ext>
            </a:extLst>
          </p:cNvPr>
          <p:cNvPicPr>
            <a:picLocks noChangeAspect="1"/>
          </p:cNvPicPr>
          <p:nvPr/>
        </p:nvPicPr>
        <p:blipFill>
          <a:blip r:embed="rId3" cstate="print"/>
          <a:stretch>
            <a:fillRect/>
          </a:stretch>
        </p:blipFill>
        <p:spPr>
          <a:xfrm>
            <a:off x="10977921" y="173331"/>
            <a:ext cx="1134836" cy="744182"/>
          </a:xfrm>
          <a:prstGeom prst="rect">
            <a:avLst/>
          </a:prstGeom>
        </p:spPr>
      </p:pic>
      <p:sp>
        <p:nvSpPr>
          <p:cNvPr id="3" name="文本框 2">
            <a:extLst>
              <a:ext uri="{FF2B5EF4-FFF2-40B4-BE49-F238E27FC236}">
                <a16:creationId xmlns:a16="http://schemas.microsoft.com/office/drawing/2014/main" id="{A22DFA00-9112-C98E-8489-B1EDFAE42ECD}"/>
              </a:ext>
            </a:extLst>
          </p:cNvPr>
          <p:cNvSpPr txBox="1"/>
          <p:nvPr/>
        </p:nvSpPr>
        <p:spPr>
          <a:xfrm>
            <a:off x="639854" y="4083364"/>
            <a:ext cx="9843450" cy="1711944"/>
          </a:xfrm>
          <a:prstGeom prst="rect">
            <a:avLst/>
          </a:prstGeom>
          <a:noFill/>
        </p:spPr>
        <p:txBody>
          <a:bodyPr wrap="square" rtlCol="0">
            <a:spAutoFit/>
          </a:bodyPr>
          <a:lstStyle/>
          <a:p>
            <a:pPr marL="0" lvl="1" indent="457200">
              <a:lnSpc>
                <a:spcPct val="150000"/>
              </a:lnSpc>
            </a:pPr>
            <a:r>
              <a:rPr lang="zh-CN" altLang="en-US" dirty="0">
                <a:latin typeface="Inter"/>
              </a:rPr>
              <a:t>开题意见：</a:t>
            </a:r>
            <a:r>
              <a:rPr lang="en-US" altLang="zh-CN" dirty="0"/>
              <a:t>:</a:t>
            </a:r>
          </a:p>
          <a:p>
            <a:pPr marL="0" lvl="1" indent="457200">
              <a:lnSpc>
                <a:spcPct val="150000"/>
              </a:lnSpc>
            </a:pPr>
            <a:r>
              <a:rPr lang="en-US" altLang="zh-CN" dirty="0"/>
              <a:t>1.</a:t>
            </a:r>
            <a:r>
              <a:rPr lang="zh-CN" altLang="en-US" dirty="0"/>
              <a:t>关老师提的是</a:t>
            </a:r>
            <a:r>
              <a:rPr lang="zh-CN" altLang="en-US" b="1" dirty="0"/>
              <a:t>基于施工场景为什么要先做拼接，传统的方式为什么不行</a:t>
            </a:r>
            <a:endParaRPr lang="en-US" altLang="zh-CN" b="1" dirty="0"/>
          </a:p>
          <a:p>
            <a:pPr marL="0" lvl="1" indent="457200">
              <a:lnSpc>
                <a:spcPct val="150000"/>
              </a:lnSpc>
            </a:pPr>
            <a:r>
              <a:rPr lang="en-US" altLang="zh-CN" dirty="0"/>
              <a:t>2.</a:t>
            </a:r>
            <a:r>
              <a:rPr lang="zh-CN" altLang="en-US" dirty="0"/>
              <a:t>溪老师认为我目前提的三个创新点可以不太能构建大论文的创新点</a:t>
            </a:r>
            <a:endParaRPr lang="en-US" altLang="zh-CN" dirty="0"/>
          </a:p>
          <a:p>
            <a:pPr marL="0" lvl="1" indent="457200">
              <a:lnSpc>
                <a:spcPct val="150000"/>
              </a:lnSpc>
            </a:pPr>
            <a:r>
              <a:rPr lang="en-US" altLang="zh-CN" dirty="0"/>
              <a:t>3.</a:t>
            </a:r>
            <a:r>
              <a:rPr lang="zh-CN" altLang="en-US" dirty="0"/>
              <a:t>杨乃老师觉得</a:t>
            </a:r>
            <a:r>
              <a:rPr lang="en-US" altLang="zh-CN" dirty="0"/>
              <a:t>:</a:t>
            </a:r>
            <a:r>
              <a:rPr lang="zh-CN" altLang="en-US" dirty="0"/>
              <a:t>图像拼接和目标检测做的人很多，目前的内容可能比较普通</a:t>
            </a:r>
            <a:endParaRPr lang="en-US" altLang="zh-CN" dirty="0">
              <a:latin typeface="Inter"/>
            </a:endParaRPr>
          </a:p>
        </p:txBody>
      </p:sp>
      <p:sp>
        <p:nvSpPr>
          <p:cNvPr id="2" name="文本框 1">
            <a:extLst>
              <a:ext uri="{FF2B5EF4-FFF2-40B4-BE49-F238E27FC236}">
                <a16:creationId xmlns:a16="http://schemas.microsoft.com/office/drawing/2014/main" id="{10228925-9B48-E5EE-2AB2-A9806324BA25}"/>
              </a:ext>
            </a:extLst>
          </p:cNvPr>
          <p:cNvSpPr txBox="1"/>
          <p:nvPr/>
        </p:nvSpPr>
        <p:spPr>
          <a:xfrm>
            <a:off x="962025" y="1257300"/>
            <a:ext cx="9753600" cy="212763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t>总结：</a:t>
            </a:r>
            <a:endParaRPr lang="en-US" altLang="zh-CN" dirty="0"/>
          </a:p>
          <a:p>
            <a:pPr indent="457200">
              <a:lnSpc>
                <a:spcPct val="150000"/>
              </a:lnSpc>
            </a:pPr>
            <a:r>
              <a:rPr lang="en-US" altLang="zh-CN" dirty="0"/>
              <a:t>1.</a:t>
            </a:r>
            <a:r>
              <a:rPr lang="zh-CN" altLang="en-US" dirty="0"/>
              <a:t>虽然</a:t>
            </a:r>
            <a:r>
              <a:rPr lang="en-US" altLang="zh-CN" dirty="0"/>
              <a:t>LPC</a:t>
            </a:r>
            <a:r>
              <a:rPr lang="zh-CN" altLang="en-US" dirty="0"/>
              <a:t>算法在拼接效果上较好，但其时间消耗较大，后续可以围绕这一点进行优化。</a:t>
            </a:r>
            <a:endParaRPr lang="en-US" altLang="zh-CN" dirty="0"/>
          </a:p>
          <a:p>
            <a:pPr marL="285750" indent="-285750">
              <a:lnSpc>
                <a:spcPct val="150000"/>
              </a:lnSpc>
              <a:buFont typeface="Wingdings" panose="05000000000000000000" pitchFamily="2" charset="2"/>
              <a:buChar char="Ø"/>
            </a:pPr>
            <a:r>
              <a:rPr lang="zh-CN" altLang="en-US" dirty="0"/>
              <a:t>后续计划：</a:t>
            </a:r>
            <a:endParaRPr lang="en-US" altLang="zh-CN" dirty="0"/>
          </a:p>
          <a:p>
            <a:pPr indent="457200">
              <a:lnSpc>
                <a:spcPct val="150000"/>
              </a:lnSpc>
            </a:pPr>
            <a:r>
              <a:rPr lang="en-US" altLang="zh-CN" dirty="0"/>
              <a:t>1.</a:t>
            </a:r>
            <a:r>
              <a:rPr lang="zh-CN" altLang="en-US" dirty="0"/>
              <a:t>由于目前的开源</a:t>
            </a:r>
            <a:r>
              <a:rPr lang="en-US" altLang="zh-CN" dirty="0"/>
              <a:t>LPC</a:t>
            </a:r>
            <a:r>
              <a:rPr lang="zh-CN" altLang="en-US" dirty="0"/>
              <a:t>代码仅支持两图拼接，后续需要将其改进为三图拼接</a:t>
            </a:r>
            <a:endParaRPr lang="en-US" altLang="zh-CN" dirty="0"/>
          </a:p>
          <a:p>
            <a:pPr indent="457200">
              <a:lnSpc>
                <a:spcPct val="150000"/>
              </a:lnSpc>
            </a:pPr>
            <a:r>
              <a:rPr lang="en-US" altLang="zh-CN" dirty="0"/>
              <a:t>2.</a:t>
            </a:r>
            <a:r>
              <a:rPr lang="zh-CN" altLang="en-US" dirty="0"/>
              <a:t>围绕改进</a:t>
            </a:r>
            <a:r>
              <a:rPr lang="en-US" altLang="zh-CN" dirty="0"/>
              <a:t>LPC</a:t>
            </a:r>
            <a:r>
              <a:rPr lang="zh-CN" altLang="en-US" dirty="0"/>
              <a:t>算法，进行文献调研</a:t>
            </a:r>
          </a:p>
        </p:txBody>
      </p:sp>
    </p:spTree>
    <p:extLst>
      <p:ext uri="{BB962C8B-B14F-4D97-AF65-F5344CB8AC3E}">
        <p14:creationId xmlns:p14="http://schemas.microsoft.com/office/powerpoint/2010/main" val="709838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03864"/>
        </a:solidFill>
        <a:effectLst/>
      </p:bgPr>
    </p:bg>
    <p:spTree>
      <p:nvGrpSpPr>
        <p:cNvPr id="1" name=""/>
        <p:cNvGrpSpPr/>
        <p:nvPr/>
      </p:nvGrpSpPr>
      <p:grpSpPr>
        <a:xfrm>
          <a:off x="0" y="0"/>
          <a:ext cx="0" cy="0"/>
          <a:chOff x="0" y="0"/>
          <a:chExt cx="0" cy="0"/>
        </a:xfrm>
      </p:grpSpPr>
      <p:cxnSp>
        <p:nvCxnSpPr>
          <p:cNvPr id="3145731" name="直接连接符 4"/>
          <p:cNvCxnSpPr>
            <a:cxnSpLocks/>
          </p:cNvCxnSpPr>
          <p:nvPr/>
        </p:nvCxnSpPr>
        <p:spPr>
          <a:xfrm>
            <a:off x="4636777" y="623405"/>
            <a:ext cx="8544" cy="223045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97158" name="图片 2"/>
          <p:cNvPicPr>
            <a:picLocks noChangeAspect="1"/>
          </p:cNvPicPr>
          <p:nvPr/>
        </p:nvPicPr>
        <p:blipFill>
          <a:blip r:embed="rId3" cstate="print"/>
          <a:stretch>
            <a:fillRect/>
          </a:stretch>
        </p:blipFill>
        <p:spPr>
          <a:xfrm>
            <a:off x="2935404" y="903985"/>
            <a:ext cx="1240694" cy="1240694"/>
          </a:xfrm>
          <a:prstGeom prst="rect">
            <a:avLst/>
          </a:prstGeom>
        </p:spPr>
      </p:pic>
      <p:sp>
        <p:nvSpPr>
          <p:cNvPr id="1048620" name="TextBox 1"/>
          <p:cNvSpPr txBox="1"/>
          <p:nvPr/>
        </p:nvSpPr>
        <p:spPr>
          <a:xfrm>
            <a:off x="3931920" y="6178104"/>
            <a:ext cx="5685906" cy="307777"/>
          </a:xfrm>
          <a:prstGeom prst="rect">
            <a:avLst/>
          </a:prstGeom>
          <a:noFill/>
        </p:spPr>
        <p:txBody>
          <a:bodyPr wrap="square" rtlCol="0">
            <a:spAutoFit/>
          </a:bodyPr>
          <a:lstStyle/>
          <a:p>
            <a:r>
              <a:rPr lang="en-AU" sz="1400" dirty="0">
                <a:solidFill>
                  <a:schemeClr val="bg1">
                    <a:lumMod val="75000"/>
                  </a:schemeClr>
                </a:solidFill>
                <a:latin typeface="微软雅黑 Light" panose="020B0502040204020203" pitchFamily="34" charset="-122"/>
                <a:ea typeface="微软雅黑 Light" panose="020B0502040204020203" pitchFamily="34" charset="-122"/>
              </a:rPr>
              <a:t>High-</a:t>
            </a:r>
            <a:r>
              <a:rPr lang="en-AU" sz="1400" dirty="0" err="1">
                <a:solidFill>
                  <a:schemeClr val="bg1">
                    <a:lumMod val="75000"/>
                  </a:schemeClr>
                </a:solidFill>
                <a:latin typeface="微软雅黑 Light" panose="020B0502040204020203" pitchFamily="34" charset="-122"/>
                <a:ea typeface="微软雅黑 Light" panose="020B0502040204020203" pitchFamily="34" charset="-122"/>
              </a:rPr>
              <a:t>performanceSpatialComputationalIntelligenceLab</a:t>
            </a:r>
            <a:r>
              <a:rPr lang="en-US" altLang="zh-CN" sz="1400" dirty="0">
                <a:solidFill>
                  <a:schemeClr val="bg1">
                    <a:lumMod val="75000"/>
                  </a:schemeClr>
                </a:solidFill>
                <a:latin typeface="微软雅黑 Light" panose="020B0502040204020203" pitchFamily="34" charset="-122"/>
                <a:ea typeface="微软雅黑 Light" panose="020B0502040204020203" pitchFamily="34" charset="-122"/>
              </a:rPr>
              <a:t>@CUG</a:t>
            </a:r>
            <a:endParaRPr lang="en-AU" sz="1400" dirty="0">
              <a:solidFill>
                <a:schemeClr val="bg1">
                  <a:lumMod val="75000"/>
                </a:schemeClr>
              </a:solidFill>
              <a:latin typeface="微软雅黑 Light" panose="020B0502040204020203" pitchFamily="34" charset="-122"/>
              <a:ea typeface="微软雅黑 Light" panose="020B0502040204020203" pitchFamily="34" charset="-122"/>
            </a:endParaRPr>
          </a:p>
        </p:txBody>
      </p:sp>
      <p:pic>
        <p:nvPicPr>
          <p:cNvPr id="2097159" name="图片 4"/>
          <p:cNvPicPr>
            <a:picLocks noChangeAspect="1"/>
          </p:cNvPicPr>
          <p:nvPr/>
        </p:nvPicPr>
        <p:blipFill>
          <a:blip r:embed="rId4" cstate="print"/>
          <a:stretch>
            <a:fillRect/>
          </a:stretch>
        </p:blipFill>
        <p:spPr>
          <a:xfrm>
            <a:off x="2873829" y="5858179"/>
            <a:ext cx="1134836" cy="744182"/>
          </a:xfrm>
          <a:prstGeom prst="rect">
            <a:avLst/>
          </a:prstGeom>
        </p:spPr>
      </p:pic>
      <p:sp>
        <p:nvSpPr>
          <p:cNvPr id="1048623" name="标题占位符 1"/>
          <p:cNvSpPr txBox="1"/>
          <p:nvPr/>
        </p:nvSpPr>
        <p:spPr>
          <a:xfrm>
            <a:off x="1728108" y="3533275"/>
            <a:ext cx="838774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5400" kern="1200">
                <a:solidFill>
                  <a:schemeClr val="bg1"/>
                </a:solidFill>
                <a:latin typeface="Arial" panose="020B0604020202020204" pitchFamily="34" charset="0"/>
                <a:ea typeface="+mj-ea"/>
                <a:cs typeface="Arial" panose="020B0604020202020204" pitchFamily="34" charset="0"/>
              </a:defRPr>
            </a:lvl1pPr>
          </a:lstStyle>
          <a:p>
            <a:r>
              <a:rPr lang="zh-CN" altLang="en-US" sz="4800" b="1" dirty="0">
                <a:latin typeface="Microsoft YaHei" panose="020B0503020204020204" pitchFamily="34" charset="-122"/>
                <a:ea typeface="Microsoft YaHei" panose="020B0503020204020204" pitchFamily="34" charset="-122"/>
              </a:rPr>
              <a:t>感谢您的聆听！</a:t>
            </a:r>
          </a:p>
        </p:txBody>
      </p:sp>
      <p:sp>
        <p:nvSpPr>
          <p:cNvPr id="9" name="内容占位符 2"/>
          <p:cNvSpPr txBox="1"/>
          <p:nvPr/>
        </p:nvSpPr>
        <p:spPr>
          <a:xfrm>
            <a:off x="4863484" y="533454"/>
            <a:ext cx="5428181" cy="81563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chemeClr val="bg1"/>
                </a:solidFill>
                <a:latin typeface="Meiryo UI" panose="020B0604030504040204" pitchFamily="34" charset="-128"/>
                <a:ea typeface="Meiryo UI" panose="020B0604030504040204" pitchFamily="34" charset="-128"/>
                <a:cs typeface="Meiryo UI" panose="020B0604030504040204" pitchFamily="34" charset="-128"/>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dobe 黑体 Std R" panose="020B0400000000000000" pitchFamily="34" charset="-122"/>
                <a:ea typeface="Adobe 黑体 Std R"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华文细黑" panose="02010600040101010101" pitchFamily="2" charset="-122"/>
                <a:ea typeface="华文细黑"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dirty="0">
                <a:solidFill>
                  <a:schemeClr val="bg1"/>
                </a:solidFill>
                <a:latin typeface="微软雅黑" panose="020B0503020204020204" pitchFamily="34" charset="-122"/>
                <a:ea typeface="微软雅黑" panose="020B0503020204020204" pitchFamily="34" charset="-122"/>
              </a:rPr>
              <a:t>组会汇报</a:t>
            </a:r>
            <a:endParaRPr lang="en-US" altLang="zh-CN" sz="1600"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1600" dirty="0">
                <a:solidFill>
                  <a:schemeClr val="bg1"/>
                </a:solidFill>
                <a:latin typeface="微软雅黑" panose="020B0503020204020204" pitchFamily="34" charset="-122"/>
                <a:ea typeface="微软雅黑" panose="020B0503020204020204" pitchFamily="34" charset="-122"/>
              </a:rPr>
              <a:t>202</a:t>
            </a:r>
            <a:r>
              <a:rPr lang="en-US" altLang="zh-CN" sz="1600" dirty="0">
                <a:latin typeface="微软雅黑" panose="020B0503020204020204" pitchFamily="34" charset="-122"/>
                <a:ea typeface="微软雅黑" panose="020B0503020204020204" pitchFamily="34" charset="-122"/>
              </a:rPr>
              <a:t>5</a:t>
            </a:r>
            <a:r>
              <a:rPr lang="en-US" altLang="zh-CN" sz="1600" dirty="0">
                <a:solidFill>
                  <a:schemeClr val="bg1"/>
                </a:solidFill>
                <a:latin typeface="微软雅黑" panose="020B0503020204020204" pitchFamily="34" charset="-122"/>
                <a:ea typeface="微软雅黑" panose="020B0503020204020204" pitchFamily="34" charset="-122"/>
              </a:rPr>
              <a:t>/6/10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0" name="内容占位符 2"/>
          <p:cNvSpPr txBox="1"/>
          <p:nvPr/>
        </p:nvSpPr>
        <p:spPr>
          <a:xfrm>
            <a:off x="4863484" y="1435783"/>
            <a:ext cx="6016719" cy="145665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a:solidFill>
                  <a:schemeClr val="bg1"/>
                </a:solidFill>
                <a:latin typeface="Meiryo UI" panose="020B0604030504040204" pitchFamily="34" charset="-128"/>
                <a:ea typeface="Meiryo UI" panose="020B0604030504040204" pitchFamily="34" charset="-128"/>
                <a:cs typeface="Meiryo UI" panose="020B0604030504040204" pitchFamily="34" charset="-128"/>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dobe 黑体 Std R" panose="020B0400000000000000" pitchFamily="34" charset="-122"/>
                <a:ea typeface="Adobe 黑体 Std R"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华文细黑" panose="02010600040101010101" pitchFamily="2" charset="-122"/>
                <a:ea typeface="华文细黑"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lvl="0">
              <a:lnSpc>
                <a:spcPct val="150000"/>
              </a:lnSpc>
              <a:spcBef>
                <a:spcPts val="0"/>
              </a:spcBef>
            </a:pPr>
            <a:r>
              <a:rPr lang="zh-CN" altLang="en-US" sz="1400" b="1" dirty="0">
                <a:solidFill>
                  <a:prstClr val="white"/>
                </a:solidFill>
                <a:latin typeface="Microsoft YaHei" panose="020B0503020204020204" pitchFamily="34" charset="-122"/>
                <a:ea typeface="Microsoft YaHei" panose="020B0503020204020204" pitchFamily="34" charset="-122"/>
                <a:cs typeface="+mn-cs"/>
              </a:rPr>
              <a:t>刘高峰</a:t>
            </a:r>
            <a:endParaRPr lang="en-US" altLang="zh-CN" sz="1400" b="1" dirty="0">
              <a:solidFill>
                <a:prstClr val="white"/>
              </a:solidFill>
              <a:latin typeface="Microsoft YaHei" panose="020B0503020204020204" pitchFamily="34" charset="-122"/>
              <a:ea typeface="Microsoft YaHei" panose="020B0503020204020204" pitchFamily="34" charset="-122"/>
              <a:cs typeface="+mn-cs"/>
            </a:endParaRPr>
          </a:p>
          <a:p>
            <a:pPr lvl="0">
              <a:lnSpc>
                <a:spcPct val="150000"/>
              </a:lnSpc>
              <a:spcBef>
                <a:spcPts val="0"/>
              </a:spcBef>
            </a:pPr>
            <a:r>
              <a:rPr lang="zh-CN" altLang="en-US" sz="1400" b="1" dirty="0">
                <a:solidFill>
                  <a:prstClr val="white"/>
                </a:solidFill>
                <a:latin typeface="Microsoft YaHei" panose="020B0503020204020204" pitchFamily="34" charset="-122"/>
                <a:ea typeface="Microsoft YaHei" panose="020B0503020204020204" pitchFamily="34" charset="-122"/>
                <a:cs typeface="+mn-cs"/>
              </a:rPr>
              <a:t>导师：曾文</a:t>
            </a:r>
            <a:endParaRPr lang="en-US" altLang="zh-CN" sz="1400" b="1" dirty="0">
              <a:solidFill>
                <a:prstClr val="white"/>
              </a:solidFill>
              <a:latin typeface="Microsoft YaHei" panose="020B0503020204020204" pitchFamily="34" charset="-122"/>
              <a:ea typeface="Microsoft YaHei" panose="020B0503020204020204" pitchFamily="34" charset="-122"/>
              <a:cs typeface="+mn-cs"/>
            </a:endParaRPr>
          </a:p>
          <a:p>
            <a:pPr lvl="0">
              <a:lnSpc>
                <a:spcPct val="150000"/>
              </a:lnSpc>
              <a:spcBef>
                <a:spcPts val="0"/>
              </a:spcBef>
            </a:pPr>
            <a:r>
              <a:rPr lang="en-US" altLang="zh-CN" sz="1400" dirty="0" err="1">
                <a:solidFill>
                  <a:prstClr val="white"/>
                </a:solidFill>
                <a:latin typeface="Microsoft YaHei" panose="020B0503020204020204" pitchFamily="34" charset="-122"/>
                <a:ea typeface="Microsoft YaHei" panose="020B0503020204020204" pitchFamily="34" charset="-122"/>
                <a:cs typeface="+mn-cs"/>
              </a:rPr>
              <a:t>中国地质大学（武汉</a:t>
            </a:r>
            <a:r>
              <a:rPr lang="en-US" altLang="zh-CN" sz="1400" dirty="0">
                <a:solidFill>
                  <a:prstClr val="white"/>
                </a:solidFill>
                <a:latin typeface="Microsoft YaHei" panose="020B0503020204020204" pitchFamily="34" charset="-122"/>
                <a:ea typeface="Microsoft YaHei" panose="020B0503020204020204" pitchFamily="34" charset="-122"/>
                <a:cs typeface="+mn-cs"/>
              </a:rPr>
              <a:t>）</a:t>
            </a:r>
          </a:p>
          <a:p>
            <a:pPr lvl="0">
              <a:lnSpc>
                <a:spcPct val="150000"/>
              </a:lnSpc>
              <a:spcBef>
                <a:spcPts val="0"/>
              </a:spcBef>
            </a:pPr>
            <a:r>
              <a:rPr lang="zh-CN" altLang="en-US" sz="1400" dirty="0">
                <a:solidFill>
                  <a:prstClr val="white"/>
                </a:solidFill>
                <a:latin typeface="Microsoft YaHei" panose="020B0503020204020204" pitchFamily="34" charset="-122"/>
                <a:ea typeface="Microsoft YaHei" panose="020B0503020204020204" pitchFamily="34" charset="-122"/>
                <a:cs typeface="+mn-cs"/>
              </a:rPr>
              <a:t>地理与信息工程学院</a:t>
            </a:r>
            <a:endParaRPr lang="en-US" altLang="zh-CN" sz="1400" dirty="0">
              <a:solidFill>
                <a:prstClr val="white"/>
              </a:solidFill>
              <a:latin typeface="Microsoft YaHei" panose="020B0503020204020204" pitchFamily="34" charset="-122"/>
              <a:ea typeface="Microsoft YaHei" panose="020B0503020204020204" pitchFamily="34" charset="-122"/>
              <a:cs typeface="+mn-cs"/>
            </a:endParaRPr>
          </a:p>
          <a:p>
            <a:pPr lvl="0">
              <a:lnSpc>
                <a:spcPct val="150000"/>
              </a:lnSpc>
              <a:spcBef>
                <a:spcPts val="0"/>
              </a:spcBef>
            </a:pPr>
            <a:r>
              <a:rPr lang="en-US" altLang="zh-CN" sz="1400" dirty="0" err="1">
                <a:solidFill>
                  <a:prstClr val="white"/>
                </a:solidFill>
                <a:latin typeface="Microsoft YaHei" panose="020B0503020204020204" pitchFamily="34" charset="-122"/>
                <a:ea typeface="Microsoft YaHei" panose="020B0503020204020204" pitchFamily="34" charset="-122"/>
                <a:cs typeface="+mn-cs"/>
              </a:rPr>
              <a:t>高性能空间计算智能实验室（HPSCIL</a:t>
            </a:r>
            <a:r>
              <a:rPr lang="en-US" altLang="zh-CN" sz="1400" dirty="0">
                <a:solidFill>
                  <a:prstClr val="white"/>
                </a:solidFill>
                <a:latin typeface="Microsoft YaHei" panose="020B0503020204020204" pitchFamily="34" charset="-122"/>
                <a:ea typeface="Microsoft YaHei" panose="020B0503020204020204" pitchFamily="34" charset="-122"/>
                <a:cs typeface="+mn-cs"/>
              </a:rPr>
              <a:t>）</a:t>
            </a:r>
          </a:p>
        </p:txBody>
      </p:sp>
    </p:spTree>
    <p:extLst>
      <p:ext uri="{BB962C8B-B14F-4D97-AF65-F5344CB8AC3E}">
        <p14:creationId xmlns:p14="http://schemas.microsoft.com/office/powerpoint/2010/main" val="268049801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15004</TotalTime>
  <Words>1600</Words>
  <Application>Microsoft Office PowerPoint</Application>
  <PresentationFormat>宽屏</PresentationFormat>
  <Paragraphs>172</Paragraphs>
  <Slides>11</Slides>
  <Notes>11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Inter</vt:lpstr>
      <vt:lpstr>等线</vt:lpstr>
      <vt:lpstr>等线 Light</vt:lpstr>
      <vt:lpstr>华文中宋</vt:lpstr>
      <vt:lpstr>宋体</vt:lpstr>
      <vt:lpstr>Microsoft YaHei</vt:lpstr>
      <vt:lpstr>Microsoft YaHei</vt:lpstr>
      <vt:lpstr>微软雅黑 Light</vt:lpstr>
      <vt:lpstr>Arial</vt:lpstr>
      <vt:lpstr>Calibri</vt:lpstr>
      <vt:lpstr>Cambria</vt:lpstr>
      <vt:lpstr>Wingdings</vt:lpstr>
      <vt:lpstr>Office 主题​​</vt:lpstr>
      <vt:lpstr>基于多视角图像拼接和激光点云的目标检测与定位研究方法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主题一主题一主题一主题一主题一主题一主题一主题一</dc:title>
  <dc:creator>Gao Huan</dc:creator>
  <cp:lastModifiedBy>LGF</cp:lastModifiedBy>
  <cp:revision>1063</cp:revision>
  <dcterms:created xsi:type="dcterms:W3CDTF">2018-11-14T20:24:13Z</dcterms:created>
  <dcterms:modified xsi:type="dcterms:W3CDTF">2025-07-14T06:50:31Z</dcterms:modified>
</cp:coreProperties>
</file>