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98" r:id="rId2"/>
    <p:sldId id="257" r:id="rId3"/>
    <p:sldId id="341" r:id="rId4"/>
    <p:sldId id="352" r:id="rId5"/>
    <p:sldId id="356" r:id="rId6"/>
    <p:sldId id="355" r:id="rId7"/>
    <p:sldId id="347" r:id="rId8"/>
    <p:sldId id="354" r:id="rId9"/>
    <p:sldId id="350" r:id="rId10"/>
    <p:sldId id="348" r:id="rId11"/>
    <p:sldId id="351" r:id="rId12"/>
    <p:sldId id="309"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C434E"/>
    <a:srgbClr val="3A5925"/>
    <a:srgbClr val="43672B"/>
    <a:srgbClr val="945358"/>
    <a:srgbClr val="5A5A5A"/>
    <a:srgbClr val="203864"/>
    <a:srgbClr val="324C20"/>
    <a:srgbClr val="35522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58" autoAdjust="0"/>
    <p:restoredTop sz="94298" autoAdjust="0"/>
  </p:normalViewPr>
  <p:slideViewPr>
    <p:cSldViewPr snapToGrid="0">
      <p:cViewPr varScale="1">
        <p:scale>
          <a:sx n="116" d="100"/>
          <a:sy n="116" d="100"/>
        </p:scale>
        <p:origin x="108" y="144"/>
      </p:cViewPr>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927"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928"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929"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930"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31"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932"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9A0EA98-5831-4853-B862-C702E6EB345C}" type="slidenum">
              <a:rPr lang="en-US" smtClean="0"/>
              <a:t>1</a:t>
            </a:fld>
            <a:endParaRPr lang="en-US"/>
          </a:p>
        </p:txBody>
      </p:sp>
    </p:spTree>
    <p:extLst>
      <p:ext uri="{BB962C8B-B14F-4D97-AF65-F5344CB8AC3E}">
        <p14:creationId xmlns:p14="http://schemas.microsoft.com/office/powerpoint/2010/main" val="4071264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r>
              <a:rPr lang="zh-CN" altLang="en-US" dirty="0"/>
              <a:t>汇报从以下几个部分展开</a:t>
            </a:r>
          </a:p>
        </p:txBody>
      </p:sp>
      <p:sp>
        <p:nvSpPr>
          <p:cNvPr id="4" name="灯片编号占位符 3"/>
          <p:cNvSpPr>
            <a:spLocks noGrp="1"/>
          </p:cNvSpPr>
          <p:nvPr>
            <p:ph type="sldNum" sz="quarter" idx="5"/>
          </p:nvPr>
        </p:nvSpPr>
        <p:spPr/>
        <p:txBody>
          <a:bodyPr/>
          <a:lstStyle/>
          <a:p>
            <a:fld id="{A9A0EA98-5831-4853-B862-C702E6EB345C}" type="slidenum">
              <a:rPr lang="en-US" smtClean="0"/>
              <a:t>2</a:t>
            </a:fld>
            <a:endParaRPr lang="en-US"/>
          </a:p>
        </p:txBody>
      </p:sp>
    </p:spTree>
    <p:extLst>
      <p:ext uri="{BB962C8B-B14F-4D97-AF65-F5344CB8AC3E}">
        <p14:creationId xmlns:p14="http://schemas.microsoft.com/office/powerpoint/2010/main" val="8264018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pPr algn="l"/>
            <a:endParaRPr lang="zh-CN" altLang="en-US" b="1" dirty="0">
              <a:solidFill>
                <a:srgbClr val="FF0000"/>
              </a:solidFill>
              <a:latin typeface="+mj-lt"/>
            </a:endParaRPr>
          </a:p>
        </p:txBody>
      </p:sp>
      <p:sp>
        <p:nvSpPr>
          <p:cNvPr id="4" name="灯片编号占位符 3"/>
          <p:cNvSpPr>
            <a:spLocks noGrp="1"/>
          </p:cNvSpPr>
          <p:nvPr>
            <p:ph type="sldNum" sz="quarter" idx="5"/>
          </p:nvPr>
        </p:nvSpPr>
        <p:spPr/>
        <p:txBody>
          <a:bodyPr/>
          <a:lstStyle/>
          <a:p>
            <a:fld id="{B2CB6E48-10D0-446F-A6C8-527914C46209}"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2985A-7DA3-0493-CCE5-E7BBDC07977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91FDA72-A222-1A87-7371-839C8D752A35}"/>
              </a:ext>
            </a:extLst>
          </p:cNvPr>
          <p:cNvSpPr>
            <a:spLocks noGrp="1" noRot="1" noChangeAspect="1"/>
          </p:cNvSpPr>
          <p:nvPr>
            <p:ph type="sldImg"/>
          </p:nvPr>
        </p:nvSpPr>
        <p:spPr>
          <a:xfrm>
            <a:off x="138113" y="766763"/>
            <a:ext cx="6823075" cy="3838575"/>
          </a:xfrm>
        </p:spPr>
      </p:sp>
      <p:sp>
        <p:nvSpPr>
          <p:cNvPr id="3" name="备注占位符 2">
            <a:extLst>
              <a:ext uri="{FF2B5EF4-FFF2-40B4-BE49-F238E27FC236}">
                <a16:creationId xmlns:a16="http://schemas.microsoft.com/office/drawing/2014/main" id="{FDBD9184-4B2E-75D3-8E2A-157A9A650FA9}"/>
              </a:ext>
            </a:extLst>
          </p:cNvPr>
          <p:cNvSpPr>
            <a:spLocks noGrp="1"/>
          </p:cNvSpPr>
          <p:nvPr>
            <p:ph type="body" idx="1"/>
          </p:nvPr>
        </p:nvSpPr>
        <p:spPr/>
        <p:txBody>
          <a:bodyPr/>
          <a:lstStyle/>
          <a:p>
            <a:pPr algn="l"/>
            <a:endParaRPr lang="zh-CN" altLang="en-US" b="1" dirty="0">
              <a:solidFill>
                <a:srgbClr val="FF0000"/>
              </a:solidFill>
              <a:latin typeface="+mj-lt"/>
            </a:endParaRPr>
          </a:p>
        </p:txBody>
      </p:sp>
      <p:sp>
        <p:nvSpPr>
          <p:cNvPr id="4" name="灯片编号占位符 3">
            <a:extLst>
              <a:ext uri="{FF2B5EF4-FFF2-40B4-BE49-F238E27FC236}">
                <a16:creationId xmlns:a16="http://schemas.microsoft.com/office/drawing/2014/main" id="{2682B2F6-6DE4-EF8A-1A17-7E8950A40185}"/>
              </a:ext>
            </a:extLst>
          </p:cNvPr>
          <p:cNvSpPr>
            <a:spLocks noGrp="1"/>
          </p:cNvSpPr>
          <p:nvPr>
            <p:ph type="sldNum" sz="quarter" idx="5"/>
          </p:nvPr>
        </p:nvSpPr>
        <p:spPr/>
        <p:txBody>
          <a:bodyPr/>
          <a:lstStyle/>
          <a:p>
            <a:fld id="{B2CB6E48-10D0-446F-A6C8-527914C46209}" type="slidenum">
              <a:rPr lang="zh-CN" altLang="en-US" smtClean="0"/>
              <a:t>4</a:t>
            </a:fld>
            <a:endParaRPr lang="zh-CN" altLang="en-US"/>
          </a:p>
        </p:txBody>
      </p:sp>
    </p:spTree>
    <p:extLst>
      <p:ext uri="{BB962C8B-B14F-4D97-AF65-F5344CB8AC3E}">
        <p14:creationId xmlns:p14="http://schemas.microsoft.com/office/powerpoint/2010/main" val="39481570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7C318-A06D-B92F-8900-AC27AE7402A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DCB511D-FC59-559A-B4A1-FA8A49619AFD}"/>
              </a:ext>
            </a:extLst>
          </p:cNvPr>
          <p:cNvSpPr>
            <a:spLocks noGrp="1" noRot="1" noChangeAspect="1"/>
          </p:cNvSpPr>
          <p:nvPr>
            <p:ph type="sldImg"/>
          </p:nvPr>
        </p:nvSpPr>
        <p:spPr>
          <a:xfrm>
            <a:off x="138113" y="766763"/>
            <a:ext cx="6823075" cy="3838575"/>
          </a:xfrm>
        </p:spPr>
      </p:sp>
      <p:sp>
        <p:nvSpPr>
          <p:cNvPr id="3" name="备注占位符 2">
            <a:extLst>
              <a:ext uri="{FF2B5EF4-FFF2-40B4-BE49-F238E27FC236}">
                <a16:creationId xmlns:a16="http://schemas.microsoft.com/office/drawing/2014/main" id="{1DC0EC18-9A5E-36FC-085B-A9E19E911987}"/>
              </a:ext>
            </a:extLst>
          </p:cNvPr>
          <p:cNvSpPr>
            <a:spLocks noGrp="1"/>
          </p:cNvSpPr>
          <p:nvPr>
            <p:ph type="body" idx="1"/>
          </p:nvPr>
        </p:nvSpPr>
        <p:spPr/>
        <p:txBody>
          <a:bodyPr/>
          <a:lstStyle/>
          <a:p>
            <a:pPr algn="l"/>
            <a:endParaRPr lang="zh-CN" altLang="en-US" b="1" dirty="0">
              <a:solidFill>
                <a:srgbClr val="FF0000"/>
              </a:solidFill>
              <a:latin typeface="+mj-lt"/>
            </a:endParaRPr>
          </a:p>
        </p:txBody>
      </p:sp>
      <p:sp>
        <p:nvSpPr>
          <p:cNvPr id="4" name="灯片编号占位符 3">
            <a:extLst>
              <a:ext uri="{FF2B5EF4-FFF2-40B4-BE49-F238E27FC236}">
                <a16:creationId xmlns:a16="http://schemas.microsoft.com/office/drawing/2014/main" id="{9308D38D-B401-8EA2-5607-2DC779A49EA9}"/>
              </a:ext>
            </a:extLst>
          </p:cNvPr>
          <p:cNvSpPr>
            <a:spLocks noGrp="1"/>
          </p:cNvSpPr>
          <p:nvPr>
            <p:ph type="sldNum" sz="quarter" idx="5"/>
          </p:nvPr>
        </p:nvSpPr>
        <p:spPr/>
        <p:txBody>
          <a:bodyPr/>
          <a:lstStyle/>
          <a:p>
            <a:fld id="{B2CB6E48-10D0-446F-A6C8-527914C46209}" type="slidenum">
              <a:rPr lang="zh-CN" altLang="en-US" smtClean="0"/>
              <a:t>5</a:t>
            </a:fld>
            <a:endParaRPr lang="zh-CN" altLang="en-US"/>
          </a:p>
        </p:txBody>
      </p:sp>
    </p:spTree>
    <p:extLst>
      <p:ext uri="{BB962C8B-B14F-4D97-AF65-F5344CB8AC3E}">
        <p14:creationId xmlns:p14="http://schemas.microsoft.com/office/powerpoint/2010/main" val="41704472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893A4-7F47-FCA7-2720-36D2FB59953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BFC150B-FD09-3578-433F-9380CB311108}"/>
              </a:ext>
            </a:extLst>
          </p:cNvPr>
          <p:cNvSpPr>
            <a:spLocks noGrp="1" noRot="1" noChangeAspect="1"/>
          </p:cNvSpPr>
          <p:nvPr>
            <p:ph type="sldImg"/>
          </p:nvPr>
        </p:nvSpPr>
        <p:spPr>
          <a:xfrm>
            <a:off x="138113" y="766763"/>
            <a:ext cx="6823075" cy="3838575"/>
          </a:xfrm>
        </p:spPr>
      </p:sp>
      <p:sp>
        <p:nvSpPr>
          <p:cNvPr id="3" name="备注占位符 2">
            <a:extLst>
              <a:ext uri="{FF2B5EF4-FFF2-40B4-BE49-F238E27FC236}">
                <a16:creationId xmlns:a16="http://schemas.microsoft.com/office/drawing/2014/main" id="{13324365-8CBC-0660-4337-3B3B3885CF3A}"/>
              </a:ext>
            </a:extLst>
          </p:cNvPr>
          <p:cNvSpPr>
            <a:spLocks noGrp="1"/>
          </p:cNvSpPr>
          <p:nvPr>
            <p:ph type="body" idx="1"/>
          </p:nvPr>
        </p:nvSpPr>
        <p:spPr/>
        <p:txBody>
          <a:bodyPr/>
          <a:lstStyle/>
          <a:p>
            <a:pPr algn="l"/>
            <a:r>
              <a:rPr lang="zh-CN" altLang="en-US" sz="1200" b="0" i="0" kern="1200" dirty="0">
                <a:solidFill>
                  <a:schemeClr val="tx1"/>
                </a:solidFill>
                <a:effectLst/>
                <a:latin typeface="Arial" charset="0"/>
                <a:ea typeface="+mn-ea"/>
                <a:cs typeface="+mn-cs"/>
              </a:rPr>
              <a:t>对于每个小四边形网格单元内的像素，根据其相对位置计算双线性权重。这种双线性插值的方式，保证了像素变形的平滑性和连续性，避免了变形后图像出现锯齿或断层现象</a:t>
            </a:r>
            <a:endParaRPr lang="zh-CN" altLang="en-US" b="1" dirty="0">
              <a:solidFill>
                <a:srgbClr val="FF0000"/>
              </a:solidFill>
              <a:latin typeface="+mj-lt"/>
            </a:endParaRPr>
          </a:p>
        </p:txBody>
      </p:sp>
      <p:sp>
        <p:nvSpPr>
          <p:cNvPr id="4" name="灯片编号占位符 3">
            <a:extLst>
              <a:ext uri="{FF2B5EF4-FFF2-40B4-BE49-F238E27FC236}">
                <a16:creationId xmlns:a16="http://schemas.microsoft.com/office/drawing/2014/main" id="{2A87380F-3C5A-01AD-234C-6CB2333B07BF}"/>
              </a:ext>
            </a:extLst>
          </p:cNvPr>
          <p:cNvSpPr>
            <a:spLocks noGrp="1"/>
          </p:cNvSpPr>
          <p:nvPr>
            <p:ph type="sldNum" sz="quarter" idx="5"/>
          </p:nvPr>
        </p:nvSpPr>
        <p:spPr/>
        <p:txBody>
          <a:bodyPr/>
          <a:lstStyle/>
          <a:p>
            <a:fld id="{B2CB6E48-10D0-446F-A6C8-527914C46209}" type="slidenum">
              <a:rPr lang="zh-CN" altLang="en-US" smtClean="0"/>
              <a:t>6</a:t>
            </a:fld>
            <a:endParaRPr lang="zh-CN" altLang="en-US"/>
          </a:p>
        </p:txBody>
      </p:sp>
    </p:spTree>
    <p:extLst>
      <p:ext uri="{BB962C8B-B14F-4D97-AF65-F5344CB8AC3E}">
        <p14:creationId xmlns:p14="http://schemas.microsoft.com/office/powerpoint/2010/main" val="4789741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0C174-0601-0C71-05F6-8A986A5F720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2C4ECCD-D534-3EB5-BD2C-A39179DB5A3E}"/>
              </a:ext>
            </a:extLst>
          </p:cNvPr>
          <p:cNvSpPr>
            <a:spLocks noGrp="1" noRot="1" noChangeAspect="1"/>
          </p:cNvSpPr>
          <p:nvPr>
            <p:ph type="sldImg"/>
          </p:nvPr>
        </p:nvSpPr>
        <p:spPr>
          <a:xfrm>
            <a:off x="138113" y="766763"/>
            <a:ext cx="6823075" cy="3838575"/>
          </a:xfrm>
        </p:spPr>
      </p:sp>
      <p:sp>
        <p:nvSpPr>
          <p:cNvPr id="3" name="备注占位符 2">
            <a:extLst>
              <a:ext uri="{FF2B5EF4-FFF2-40B4-BE49-F238E27FC236}">
                <a16:creationId xmlns:a16="http://schemas.microsoft.com/office/drawing/2014/main" id="{D5E5459B-2EFF-42D3-8048-3038A832B50F}"/>
              </a:ext>
            </a:extLst>
          </p:cNvPr>
          <p:cNvSpPr>
            <a:spLocks noGrp="1"/>
          </p:cNvSpPr>
          <p:nvPr>
            <p:ph type="body" idx="1"/>
          </p:nvPr>
        </p:nvSpPr>
        <p:spPr/>
        <p:txBody>
          <a:bodyPr/>
          <a:lstStyle/>
          <a:p>
            <a:pPr algn="l"/>
            <a:endParaRPr lang="zh-CN" altLang="en-US" b="1" dirty="0">
              <a:solidFill>
                <a:srgbClr val="FF0000"/>
              </a:solidFill>
              <a:latin typeface="+mj-lt"/>
            </a:endParaRPr>
          </a:p>
        </p:txBody>
      </p:sp>
      <p:sp>
        <p:nvSpPr>
          <p:cNvPr id="4" name="灯片编号占位符 3">
            <a:extLst>
              <a:ext uri="{FF2B5EF4-FFF2-40B4-BE49-F238E27FC236}">
                <a16:creationId xmlns:a16="http://schemas.microsoft.com/office/drawing/2014/main" id="{FA329EA1-94C0-BCBD-9EB2-EEA415D6B11F}"/>
              </a:ext>
            </a:extLst>
          </p:cNvPr>
          <p:cNvSpPr>
            <a:spLocks noGrp="1"/>
          </p:cNvSpPr>
          <p:nvPr>
            <p:ph type="sldNum" sz="quarter" idx="5"/>
          </p:nvPr>
        </p:nvSpPr>
        <p:spPr/>
        <p:txBody>
          <a:bodyPr/>
          <a:lstStyle/>
          <a:p>
            <a:fld id="{B2CB6E48-10D0-446F-A6C8-527914C46209}" type="slidenum">
              <a:rPr lang="zh-CN" altLang="en-US" smtClean="0"/>
              <a:t>7</a:t>
            </a:fld>
            <a:endParaRPr lang="zh-CN" altLang="en-US"/>
          </a:p>
        </p:txBody>
      </p:sp>
    </p:spTree>
    <p:extLst>
      <p:ext uri="{BB962C8B-B14F-4D97-AF65-F5344CB8AC3E}">
        <p14:creationId xmlns:p14="http://schemas.microsoft.com/office/powerpoint/2010/main" val="36587271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0D552-8E72-ADED-83F2-83088B328A5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A08A45D-7928-C0C0-C9E5-604935CC69E0}"/>
              </a:ext>
            </a:extLst>
          </p:cNvPr>
          <p:cNvSpPr>
            <a:spLocks noGrp="1" noRot="1" noChangeAspect="1"/>
          </p:cNvSpPr>
          <p:nvPr>
            <p:ph type="sldImg"/>
          </p:nvPr>
        </p:nvSpPr>
        <p:spPr>
          <a:xfrm>
            <a:off x="138113" y="766763"/>
            <a:ext cx="6823075" cy="3838575"/>
          </a:xfrm>
        </p:spPr>
      </p:sp>
      <p:sp>
        <p:nvSpPr>
          <p:cNvPr id="3" name="备注占位符 2">
            <a:extLst>
              <a:ext uri="{FF2B5EF4-FFF2-40B4-BE49-F238E27FC236}">
                <a16:creationId xmlns:a16="http://schemas.microsoft.com/office/drawing/2014/main" id="{166E5A06-3485-37EB-FE91-5B934AC38DCF}"/>
              </a:ext>
            </a:extLst>
          </p:cNvPr>
          <p:cNvSpPr>
            <a:spLocks noGrp="1"/>
          </p:cNvSpPr>
          <p:nvPr>
            <p:ph type="body" idx="1"/>
          </p:nvPr>
        </p:nvSpPr>
        <p:spPr/>
        <p:txBody>
          <a:bodyPr/>
          <a:lstStyle/>
          <a:p>
            <a:pPr algn="l"/>
            <a:endParaRPr lang="zh-CN" altLang="en-US" b="1" dirty="0">
              <a:solidFill>
                <a:srgbClr val="FF0000"/>
              </a:solidFill>
              <a:latin typeface="+mj-lt"/>
            </a:endParaRPr>
          </a:p>
        </p:txBody>
      </p:sp>
      <p:sp>
        <p:nvSpPr>
          <p:cNvPr id="4" name="灯片编号占位符 3">
            <a:extLst>
              <a:ext uri="{FF2B5EF4-FFF2-40B4-BE49-F238E27FC236}">
                <a16:creationId xmlns:a16="http://schemas.microsoft.com/office/drawing/2014/main" id="{D569AB65-E4F1-060E-E0C7-F43F9618CC92}"/>
              </a:ext>
            </a:extLst>
          </p:cNvPr>
          <p:cNvSpPr>
            <a:spLocks noGrp="1"/>
          </p:cNvSpPr>
          <p:nvPr>
            <p:ph type="sldNum" sz="quarter" idx="5"/>
          </p:nvPr>
        </p:nvSpPr>
        <p:spPr/>
        <p:txBody>
          <a:bodyPr/>
          <a:lstStyle/>
          <a:p>
            <a:fld id="{B2CB6E48-10D0-446F-A6C8-527914C46209}" type="slidenum">
              <a:rPr lang="zh-CN" altLang="en-US" smtClean="0"/>
              <a:t>8</a:t>
            </a:fld>
            <a:endParaRPr lang="zh-CN" altLang="en-US"/>
          </a:p>
        </p:txBody>
      </p:sp>
    </p:spTree>
    <p:extLst>
      <p:ext uri="{BB962C8B-B14F-4D97-AF65-F5344CB8AC3E}">
        <p14:creationId xmlns:p14="http://schemas.microsoft.com/office/powerpoint/2010/main" val="40082314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6D7B4-C746-1E9D-2ED3-7E671DCDA45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DE6AAB3-05FA-5001-49FB-DE84F03291A5}"/>
              </a:ext>
            </a:extLst>
          </p:cNvPr>
          <p:cNvSpPr>
            <a:spLocks noGrp="1" noRot="1" noChangeAspect="1"/>
          </p:cNvSpPr>
          <p:nvPr>
            <p:ph type="sldImg"/>
          </p:nvPr>
        </p:nvSpPr>
        <p:spPr>
          <a:xfrm>
            <a:off x="138113" y="766763"/>
            <a:ext cx="6823075" cy="3838575"/>
          </a:xfrm>
        </p:spPr>
      </p:sp>
      <p:sp>
        <p:nvSpPr>
          <p:cNvPr id="3" name="备注占位符 2">
            <a:extLst>
              <a:ext uri="{FF2B5EF4-FFF2-40B4-BE49-F238E27FC236}">
                <a16:creationId xmlns:a16="http://schemas.microsoft.com/office/drawing/2014/main" id="{B7EBA629-CCCE-D69F-2438-AEB919A9CA35}"/>
              </a:ext>
            </a:extLst>
          </p:cNvPr>
          <p:cNvSpPr>
            <a:spLocks noGrp="1"/>
          </p:cNvSpPr>
          <p:nvPr>
            <p:ph type="body" idx="1"/>
          </p:nvPr>
        </p:nvSpPr>
        <p:spPr/>
        <p:txBody>
          <a:bodyPr/>
          <a:lstStyle/>
          <a:p>
            <a:pPr algn="l"/>
            <a:endParaRPr lang="zh-CN" altLang="en-US" b="1" dirty="0">
              <a:solidFill>
                <a:srgbClr val="FF0000"/>
              </a:solidFill>
              <a:latin typeface="+mj-lt"/>
            </a:endParaRPr>
          </a:p>
        </p:txBody>
      </p:sp>
      <p:sp>
        <p:nvSpPr>
          <p:cNvPr id="4" name="灯片编号占位符 3">
            <a:extLst>
              <a:ext uri="{FF2B5EF4-FFF2-40B4-BE49-F238E27FC236}">
                <a16:creationId xmlns:a16="http://schemas.microsoft.com/office/drawing/2014/main" id="{01764A60-DEA3-B6CB-F0EA-EAFC9427DDC8}"/>
              </a:ext>
            </a:extLst>
          </p:cNvPr>
          <p:cNvSpPr>
            <a:spLocks noGrp="1"/>
          </p:cNvSpPr>
          <p:nvPr>
            <p:ph type="sldNum" sz="quarter" idx="5"/>
          </p:nvPr>
        </p:nvSpPr>
        <p:spPr/>
        <p:txBody>
          <a:bodyPr/>
          <a:lstStyle/>
          <a:p>
            <a:fld id="{B2CB6E48-10D0-446F-A6C8-527914C46209}" type="slidenum">
              <a:rPr lang="zh-CN" altLang="en-US" smtClean="0"/>
              <a:t>9</a:t>
            </a:fld>
            <a:endParaRPr lang="zh-CN" altLang="en-US"/>
          </a:p>
        </p:txBody>
      </p:sp>
    </p:spTree>
    <p:extLst>
      <p:ext uri="{BB962C8B-B14F-4D97-AF65-F5344CB8AC3E}">
        <p14:creationId xmlns:p14="http://schemas.microsoft.com/office/powerpoint/2010/main" val="19619317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1ADE6-B4AC-C255-907D-8DA554BAFBF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CCCFF16-D87C-3AE8-D0C7-D112E6A6BEB3}"/>
              </a:ext>
            </a:extLst>
          </p:cNvPr>
          <p:cNvSpPr>
            <a:spLocks noGrp="1" noRot="1" noChangeAspect="1"/>
          </p:cNvSpPr>
          <p:nvPr>
            <p:ph type="sldImg"/>
          </p:nvPr>
        </p:nvSpPr>
        <p:spPr>
          <a:xfrm>
            <a:off x="138113" y="766763"/>
            <a:ext cx="6823075" cy="3838575"/>
          </a:xfrm>
        </p:spPr>
      </p:sp>
      <p:sp>
        <p:nvSpPr>
          <p:cNvPr id="3" name="备注占位符 2">
            <a:extLst>
              <a:ext uri="{FF2B5EF4-FFF2-40B4-BE49-F238E27FC236}">
                <a16:creationId xmlns:a16="http://schemas.microsoft.com/office/drawing/2014/main" id="{3FC9F248-CC34-6E52-A160-05549BEF5CB5}"/>
              </a:ext>
            </a:extLst>
          </p:cNvPr>
          <p:cNvSpPr>
            <a:spLocks noGrp="1"/>
          </p:cNvSpPr>
          <p:nvPr>
            <p:ph type="body" idx="1"/>
          </p:nvPr>
        </p:nvSpPr>
        <p:spPr/>
        <p:txBody>
          <a:bodyPr/>
          <a:lstStyle/>
          <a:p>
            <a:pPr algn="l"/>
            <a:endParaRPr lang="zh-CN" altLang="en-US" b="1" dirty="0">
              <a:solidFill>
                <a:srgbClr val="FF0000"/>
              </a:solidFill>
              <a:latin typeface="+mj-lt"/>
            </a:endParaRPr>
          </a:p>
        </p:txBody>
      </p:sp>
      <p:sp>
        <p:nvSpPr>
          <p:cNvPr id="4" name="灯片编号占位符 3">
            <a:extLst>
              <a:ext uri="{FF2B5EF4-FFF2-40B4-BE49-F238E27FC236}">
                <a16:creationId xmlns:a16="http://schemas.microsoft.com/office/drawing/2014/main" id="{FDC24827-2375-72F0-0853-900A027A7C8C}"/>
              </a:ext>
            </a:extLst>
          </p:cNvPr>
          <p:cNvSpPr>
            <a:spLocks noGrp="1"/>
          </p:cNvSpPr>
          <p:nvPr>
            <p:ph type="sldNum" sz="quarter" idx="5"/>
          </p:nvPr>
        </p:nvSpPr>
        <p:spPr/>
        <p:txBody>
          <a:bodyPr/>
          <a:lstStyle/>
          <a:p>
            <a:fld id="{B2CB6E48-10D0-446F-A6C8-527914C46209}" type="slidenum">
              <a:rPr lang="zh-CN" altLang="en-US" smtClean="0"/>
              <a:t>10</a:t>
            </a:fld>
            <a:endParaRPr lang="zh-CN" altLang="en-US"/>
          </a:p>
        </p:txBody>
      </p:sp>
    </p:spTree>
    <p:extLst>
      <p:ext uri="{BB962C8B-B14F-4D97-AF65-F5344CB8AC3E}">
        <p14:creationId xmlns:p14="http://schemas.microsoft.com/office/powerpoint/2010/main" val="27490069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1131F-EE16-3320-8DE0-185EE1AD2EC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C80C3A5-7265-0AE6-650B-9889ACD17112}"/>
              </a:ext>
            </a:extLst>
          </p:cNvPr>
          <p:cNvSpPr>
            <a:spLocks noGrp="1" noRot="1" noChangeAspect="1"/>
          </p:cNvSpPr>
          <p:nvPr>
            <p:ph type="sldImg"/>
          </p:nvPr>
        </p:nvSpPr>
        <p:spPr>
          <a:xfrm>
            <a:off x="138113" y="766763"/>
            <a:ext cx="6823075" cy="3838575"/>
          </a:xfrm>
        </p:spPr>
      </p:sp>
      <p:sp>
        <p:nvSpPr>
          <p:cNvPr id="3" name="备注占位符 2">
            <a:extLst>
              <a:ext uri="{FF2B5EF4-FFF2-40B4-BE49-F238E27FC236}">
                <a16:creationId xmlns:a16="http://schemas.microsoft.com/office/drawing/2014/main" id="{851EC91D-F8A2-D422-78A9-5E0340C7BA4E}"/>
              </a:ext>
            </a:extLst>
          </p:cNvPr>
          <p:cNvSpPr>
            <a:spLocks noGrp="1"/>
          </p:cNvSpPr>
          <p:nvPr>
            <p:ph type="body" idx="1"/>
          </p:nvPr>
        </p:nvSpPr>
        <p:spPr/>
        <p:txBody>
          <a:bodyPr/>
          <a:lstStyle/>
          <a:p>
            <a:pPr algn="l"/>
            <a:endParaRPr lang="zh-CN" altLang="en-US" b="1" dirty="0">
              <a:solidFill>
                <a:srgbClr val="FF0000"/>
              </a:solidFill>
              <a:latin typeface="+mj-lt"/>
            </a:endParaRPr>
          </a:p>
        </p:txBody>
      </p:sp>
      <p:sp>
        <p:nvSpPr>
          <p:cNvPr id="4" name="灯片编号占位符 3">
            <a:extLst>
              <a:ext uri="{FF2B5EF4-FFF2-40B4-BE49-F238E27FC236}">
                <a16:creationId xmlns:a16="http://schemas.microsoft.com/office/drawing/2014/main" id="{3525EE05-A343-F44D-EB0D-A0E8681C8AC8}"/>
              </a:ext>
            </a:extLst>
          </p:cNvPr>
          <p:cNvSpPr>
            <a:spLocks noGrp="1"/>
          </p:cNvSpPr>
          <p:nvPr>
            <p:ph type="sldNum" sz="quarter" idx="5"/>
          </p:nvPr>
        </p:nvSpPr>
        <p:spPr/>
        <p:txBody>
          <a:bodyPr/>
          <a:lstStyle/>
          <a:p>
            <a:fld id="{B2CB6E48-10D0-446F-A6C8-527914C46209}" type="slidenum">
              <a:rPr lang="zh-CN" altLang="en-US" smtClean="0"/>
              <a:t>11</a:t>
            </a:fld>
            <a:endParaRPr lang="zh-CN" altLang="en-US"/>
          </a:p>
        </p:txBody>
      </p:sp>
    </p:spTree>
    <p:extLst>
      <p:ext uri="{BB962C8B-B14F-4D97-AF65-F5344CB8AC3E}">
        <p14:creationId xmlns:p14="http://schemas.microsoft.com/office/powerpoint/2010/main" val="42884833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r>
              <a:rPr lang="zh-CN" altLang="en-US" dirty="0"/>
              <a:t>以上就是本周的汇报内容，恳请各位老师、师兄师姐和同门批评指正。</a:t>
            </a:r>
          </a:p>
        </p:txBody>
      </p:sp>
      <p:sp>
        <p:nvSpPr>
          <p:cNvPr id="4" name="灯片编号占位符 3"/>
          <p:cNvSpPr>
            <a:spLocks noGrp="1"/>
          </p:cNvSpPr>
          <p:nvPr>
            <p:ph type="sldNum" sz="quarter" idx="5"/>
          </p:nvPr>
        </p:nvSpPr>
        <p:spPr/>
        <p:txBody>
          <a:bodyPr/>
          <a:lstStyle/>
          <a:p>
            <a:fld id="{A9A0EA98-5831-4853-B862-C702E6EB345C}" type="slidenum">
              <a:rPr lang="en-US" smtClean="0"/>
              <a:t>12</a:t>
            </a:fld>
            <a:endParaRPr lang="en-US"/>
          </a:p>
        </p:txBody>
      </p:sp>
    </p:spTree>
    <p:extLst>
      <p:ext uri="{BB962C8B-B14F-4D97-AF65-F5344CB8AC3E}">
        <p14:creationId xmlns:p14="http://schemas.microsoft.com/office/powerpoint/2010/main" val="28625174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581"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1048582"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1048583" name="日期占位符 3"/>
          <p:cNvSpPr>
            <a:spLocks noGrp="1"/>
          </p:cNvSpPr>
          <p:nvPr>
            <p:ph type="dt" sz="half" idx="10"/>
          </p:nvPr>
        </p:nvSpPr>
        <p:spPr/>
        <p:txBody>
          <a:bodyPr/>
          <a:lstStyle/>
          <a:p>
            <a:fld id="{0B9ABE89-CD5A-4DF5-92E2-05840E334FAA}" type="datetimeFigureOut">
              <a:rPr lang="zh-CN" altLang="en-US" smtClean="0"/>
              <a:t>2025/9/22</a:t>
            </a:fld>
            <a:endParaRPr lang="zh-CN" altLang="en-US"/>
          </a:p>
        </p:txBody>
      </p:sp>
      <p:sp>
        <p:nvSpPr>
          <p:cNvPr id="1048584" name="页脚占位符 4"/>
          <p:cNvSpPr>
            <a:spLocks noGrp="1"/>
          </p:cNvSpPr>
          <p:nvPr>
            <p:ph type="ftr" sz="quarter" idx="11"/>
          </p:nvPr>
        </p:nvSpPr>
        <p:spPr/>
        <p:txBody>
          <a:bodyPr/>
          <a:lstStyle/>
          <a:p>
            <a:endParaRPr lang="zh-CN" altLang="en-US"/>
          </a:p>
        </p:txBody>
      </p:sp>
      <p:sp>
        <p:nvSpPr>
          <p:cNvPr id="1048585" name="灯片编号占位符 5"/>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590" name="标题 1"/>
          <p:cNvSpPr>
            <a:spLocks noGrp="1"/>
          </p:cNvSpPr>
          <p:nvPr>
            <p:ph type="title"/>
          </p:nvPr>
        </p:nvSpPr>
        <p:spPr/>
        <p:txBody>
          <a:bodyPr/>
          <a:lstStyle/>
          <a:p>
            <a:r>
              <a:rPr lang="zh-CN" altLang="en-US"/>
              <a:t>单击此处编辑母版标题样式</a:t>
            </a:r>
          </a:p>
        </p:txBody>
      </p:sp>
      <p:sp>
        <p:nvSpPr>
          <p:cNvPr id="1048591"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592" name="日期占位符 3"/>
          <p:cNvSpPr>
            <a:spLocks noGrp="1"/>
          </p:cNvSpPr>
          <p:nvPr>
            <p:ph type="dt" sz="half" idx="10"/>
          </p:nvPr>
        </p:nvSpPr>
        <p:spPr/>
        <p:txBody>
          <a:bodyPr/>
          <a:lstStyle/>
          <a:p>
            <a:fld id="{0B9ABE89-CD5A-4DF5-92E2-05840E334FAA}" type="datetimeFigureOut">
              <a:rPr lang="zh-CN" altLang="en-US" smtClean="0"/>
              <a:t>2025/9/22</a:t>
            </a:fld>
            <a:endParaRPr lang="zh-CN" altLang="en-US"/>
          </a:p>
        </p:txBody>
      </p:sp>
      <p:sp>
        <p:nvSpPr>
          <p:cNvPr id="1048593" name="页脚占位符 4"/>
          <p:cNvSpPr>
            <a:spLocks noGrp="1"/>
          </p:cNvSpPr>
          <p:nvPr>
            <p:ph type="ftr" sz="quarter" idx="11"/>
          </p:nvPr>
        </p:nvSpPr>
        <p:spPr/>
        <p:txBody>
          <a:bodyPr/>
          <a:lstStyle/>
          <a:p>
            <a:endParaRPr lang="zh-CN" altLang="en-US"/>
          </a:p>
        </p:txBody>
      </p:sp>
      <p:sp>
        <p:nvSpPr>
          <p:cNvPr id="1048594" name="灯片编号占位符 5"/>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90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104890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1048904" name="日期占位符 3"/>
          <p:cNvSpPr>
            <a:spLocks noGrp="1"/>
          </p:cNvSpPr>
          <p:nvPr>
            <p:ph type="dt" sz="half" idx="10"/>
          </p:nvPr>
        </p:nvSpPr>
        <p:spPr/>
        <p:txBody>
          <a:bodyPr/>
          <a:lstStyle/>
          <a:p>
            <a:fld id="{0B9ABE89-CD5A-4DF5-92E2-05840E334FAA}" type="datetimeFigureOut">
              <a:rPr lang="zh-CN" altLang="en-US" smtClean="0"/>
              <a:t>2025/9/22</a:t>
            </a:fld>
            <a:endParaRPr lang="zh-CN" altLang="en-US"/>
          </a:p>
        </p:txBody>
      </p:sp>
      <p:sp>
        <p:nvSpPr>
          <p:cNvPr id="1048905" name="页脚占位符 4"/>
          <p:cNvSpPr>
            <a:spLocks noGrp="1"/>
          </p:cNvSpPr>
          <p:nvPr>
            <p:ph type="ftr" sz="quarter" idx="11"/>
          </p:nvPr>
        </p:nvSpPr>
        <p:spPr/>
        <p:txBody>
          <a:bodyPr/>
          <a:lstStyle/>
          <a:p>
            <a:endParaRPr lang="zh-CN" altLang="en-US"/>
          </a:p>
        </p:txBody>
      </p:sp>
      <p:sp>
        <p:nvSpPr>
          <p:cNvPr id="1048906" name="灯片编号占位符 5"/>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48907" name="标题 1"/>
          <p:cNvSpPr>
            <a:spLocks noGrp="1"/>
          </p:cNvSpPr>
          <p:nvPr>
            <p:ph type="title"/>
          </p:nvPr>
        </p:nvSpPr>
        <p:spPr/>
        <p:txBody>
          <a:bodyPr/>
          <a:lstStyle/>
          <a:p>
            <a:r>
              <a:rPr lang="zh-CN" altLang="en-US"/>
              <a:t>单击此处编辑母版标题样式</a:t>
            </a:r>
          </a:p>
        </p:txBody>
      </p:sp>
      <p:sp>
        <p:nvSpPr>
          <p:cNvPr id="1048908"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909"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910" name="日期占位符 4"/>
          <p:cNvSpPr>
            <a:spLocks noGrp="1"/>
          </p:cNvSpPr>
          <p:nvPr>
            <p:ph type="dt" sz="half" idx="10"/>
          </p:nvPr>
        </p:nvSpPr>
        <p:spPr/>
        <p:txBody>
          <a:bodyPr/>
          <a:lstStyle/>
          <a:p>
            <a:fld id="{0B9ABE89-CD5A-4DF5-92E2-05840E334FAA}" type="datetimeFigureOut">
              <a:rPr lang="zh-CN" altLang="en-US" smtClean="0"/>
              <a:t>2025/9/22</a:t>
            </a:fld>
            <a:endParaRPr lang="zh-CN" altLang="en-US"/>
          </a:p>
        </p:txBody>
      </p:sp>
      <p:sp>
        <p:nvSpPr>
          <p:cNvPr id="1048911" name="页脚占位符 5"/>
          <p:cNvSpPr>
            <a:spLocks noGrp="1"/>
          </p:cNvSpPr>
          <p:nvPr>
            <p:ph type="ftr" sz="quarter" idx="11"/>
          </p:nvPr>
        </p:nvSpPr>
        <p:spPr/>
        <p:txBody>
          <a:bodyPr/>
          <a:lstStyle/>
          <a:p>
            <a:endParaRPr lang="zh-CN" altLang="en-US"/>
          </a:p>
        </p:txBody>
      </p:sp>
      <p:sp>
        <p:nvSpPr>
          <p:cNvPr id="1048912" name="灯片编号占位符 6"/>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48913"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1048914"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1048915"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916"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1048917"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918" name="日期占位符 6"/>
          <p:cNvSpPr>
            <a:spLocks noGrp="1"/>
          </p:cNvSpPr>
          <p:nvPr>
            <p:ph type="dt" sz="half" idx="10"/>
          </p:nvPr>
        </p:nvSpPr>
        <p:spPr/>
        <p:txBody>
          <a:bodyPr/>
          <a:lstStyle/>
          <a:p>
            <a:fld id="{0B9ABE89-CD5A-4DF5-92E2-05840E334FAA}" type="datetimeFigureOut">
              <a:rPr lang="zh-CN" altLang="en-US" smtClean="0"/>
              <a:t>2025/9/22</a:t>
            </a:fld>
            <a:endParaRPr lang="zh-CN" altLang="en-US"/>
          </a:p>
        </p:txBody>
      </p:sp>
      <p:sp>
        <p:nvSpPr>
          <p:cNvPr id="1048919" name="页脚占位符 7"/>
          <p:cNvSpPr>
            <a:spLocks noGrp="1"/>
          </p:cNvSpPr>
          <p:nvPr>
            <p:ph type="ftr" sz="quarter" idx="11"/>
          </p:nvPr>
        </p:nvSpPr>
        <p:spPr/>
        <p:txBody>
          <a:bodyPr/>
          <a:lstStyle/>
          <a:p>
            <a:endParaRPr lang="zh-CN" altLang="en-US"/>
          </a:p>
        </p:txBody>
      </p:sp>
      <p:sp>
        <p:nvSpPr>
          <p:cNvPr id="1048920" name="灯片编号占位符 8"/>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48882" name="标题 1"/>
          <p:cNvSpPr>
            <a:spLocks noGrp="1"/>
          </p:cNvSpPr>
          <p:nvPr>
            <p:ph type="title"/>
          </p:nvPr>
        </p:nvSpPr>
        <p:spPr/>
        <p:txBody>
          <a:bodyPr/>
          <a:lstStyle/>
          <a:p>
            <a:r>
              <a:rPr lang="zh-CN" altLang="en-US"/>
              <a:t>单击此处编辑母版标题样式</a:t>
            </a:r>
          </a:p>
        </p:txBody>
      </p:sp>
      <p:sp>
        <p:nvSpPr>
          <p:cNvPr id="1048883" name="日期占位符 2"/>
          <p:cNvSpPr>
            <a:spLocks noGrp="1"/>
          </p:cNvSpPr>
          <p:nvPr>
            <p:ph type="dt" sz="half" idx="10"/>
          </p:nvPr>
        </p:nvSpPr>
        <p:spPr/>
        <p:txBody>
          <a:bodyPr/>
          <a:lstStyle/>
          <a:p>
            <a:fld id="{0B9ABE89-CD5A-4DF5-92E2-05840E334FAA}" type="datetimeFigureOut">
              <a:rPr lang="zh-CN" altLang="en-US" smtClean="0"/>
              <a:t>2025/9/22</a:t>
            </a:fld>
            <a:endParaRPr lang="zh-CN" altLang="en-US"/>
          </a:p>
        </p:txBody>
      </p:sp>
      <p:sp>
        <p:nvSpPr>
          <p:cNvPr id="1048884" name="页脚占位符 3"/>
          <p:cNvSpPr>
            <a:spLocks noGrp="1"/>
          </p:cNvSpPr>
          <p:nvPr>
            <p:ph type="ftr" sz="quarter" idx="11"/>
          </p:nvPr>
        </p:nvSpPr>
        <p:spPr/>
        <p:txBody>
          <a:bodyPr/>
          <a:lstStyle/>
          <a:p>
            <a:endParaRPr lang="zh-CN" altLang="en-US"/>
          </a:p>
        </p:txBody>
      </p:sp>
      <p:sp>
        <p:nvSpPr>
          <p:cNvPr id="1048885" name="灯片编号占位符 4"/>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604" name="日期占位符 1"/>
          <p:cNvSpPr>
            <a:spLocks noGrp="1"/>
          </p:cNvSpPr>
          <p:nvPr>
            <p:ph type="dt" sz="half" idx="10"/>
          </p:nvPr>
        </p:nvSpPr>
        <p:spPr/>
        <p:txBody>
          <a:bodyPr/>
          <a:lstStyle/>
          <a:p>
            <a:fld id="{0B9ABE89-CD5A-4DF5-92E2-05840E334FAA}" type="datetimeFigureOut">
              <a:rPr lang="zh-CN" altLang="en-US" smtClean="0"/>
              <a:t>2025/9/22</a:t>
            </a:fld>
            <a:endParaRPr lang="zh-CN" altLang="en-US"/>
          </a:p>
        </p:txBody>
      </p:sp>
      <p:sp>
        <p:nvSpPr>
          <p:cNvPr id="1048605" name="页脚占位符 2"/>
          <p:cNvSpPr>
            <a:spLocks noGrp="1"/>
          </p:cNvSpPr>
          <p:nvPr>
            <p:ph type="ftr" sz="quarter" idx="11"/>
          </p:nvPr>
        </p:nvSpPr>
        <p:spPr/>
        <p:txBody>
          <a:bodyPr/>
          <a:lstStyle/>
          <a:p>
            <a:endParaRPr lang="zh-CN" altLang="en-US"/>
          </a:p>
        </p:txBody>
      </p:sp>
      <p:sp>
        <p:nvSpPr>
          <p:cNvPr id="1048606" name="灯片编号占位符 3"/>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1048921"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1048922"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923"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48924" name="日期占位符 4"/>
          <p:cNvSpPr>
            <a:spLocks noGrp="1"/>
          </p:cNvSpPr>
          <p:nvPr>
            <p:ph type="dt" sz="half" idx="10"/>
          </p:nvPr>
        </p:nvSpPr>
        <p:spPr/>
        <p:txBody>
          <a:bodyPr/>
          <a:lstStyle/>
          <a:p>
            <a:fld id="{0B9ABE89-CD5A-4DF5-92E2-05840E334FAA}" type="datetimeFigureOut">
              <a:rPr lang="zh-CN" altLang="en-US" smtClean="0"/>
              <a:t>2025/9/22</a:t>
            </a:fld>
            <a:endParaRPr lang="zh-CN" altLang="en-US"/>
          </a:p>
        </p:txBody>
      </p:sp>
      <p:sp>
        <p:nvSpPr>
          <p:cNvPr id="1048925" name="页脚占位符 5"/>
          <p:cNvSpPr>
            <a:spLocks noGrp="1"/>
          </p:cNvSpPr>
          <p:nvPr>
            <p:ph type="ftr" sz="quarter" idx="11"/>
          </p:nvPr>
        </p:nvSpPr>
        <p:spPr/>
        <p:txBody>
          <a:bodyPr/>
          <a:lstStyle/>
          <a:p>
            <a:endParaRPr lang="zh-CN" altLang="en-US"/>
          </a:p>
        </p:txBody>
      </p:sp>
      <p:sp>
        <p:nvSpPr>
          <p:cNvPr id="1048926" name="灯片编号占位符 6"/>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048891"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1048892"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1048893"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48894" name="日期占位符 4"/>
          <p:cNvSpPr>
            <a:spLocks noGrp="1"/>
          </p:cNvSpPr>
          <p:nvPr>
            <p:ph type="dt" sz="half" idx="10"/>
          </p:nvPr>
        </p:nvSpPr>
        <p:spPr/>
        <p:txBody>
          <a:bodyPr/>
          <a:lstStyle/>
          <a:p>
            <a:fld id="{0B9ABE89-CD5A-4DF5-92E2-05840E334FAA}" type="datetimeFigureOut">
              <a:rPr lang="zh-CN" altLang="en-US" smtClean="0"/>
              <a:t>2025/9/22</a:t>
            </a:fld>
            <a:endParaRPr lang="zh-CN" altLang="en-US"/>
          </a:p>
        </p:txBody>
      </p:sp>
      <p:sp>
        <p:nvSpPr>
          <p:cNvPr id="1048895" name="页脚占位符 5"/>
          <p:cNvSpPr>
            <a:spLocks noGrp="1"/>
          </p:cNvSpPr>
          <p:nvPr>
            <p:ph type="ftr" sz="quarter" idx="11"/>
          </p:nvPr>
        </p:nvSpPr>
        <p:spPr/>
        <p:txBody>
          <a:bodyPr/>
          <a:lstStyle/>
          <a:p>
            <a:endParaRPr lang="zh-CN" altLang="en-US"/>
          </a:p>
        </p:txBody>
      </p:sp>
      <p:sp>
        <p:nvSpPr>
          <p:cNvPr id="1048896" name="灯片编号占位符 6"/>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048897" name="标题 1"/>
          <p:cNvSpPr>
            <a:spLocks noGrp="1"/>
          </p:cNvSpPr>
          <p:nvPr>
            <p:ph type="title"/>
          </p:nvPr>
        </p:nvSpPr>
        <p:spPr/>
        <p:txBody>
          <a:bodyPr/>
          <a:lstStyle/>
          <a:p>
            <a:r>
              <a:rPr lang="zh-CN" altLang="en-US"/>
              <a:t>单击此处编辑母版标题样式</a:t>
            </a:r>
          </a:p>
        </p:txBody>
      </p:sp>
      <p:sp>
        <p:nvSpPr>
          <p:cNvPr id="1048898"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899" name="日期占位符 3"/>
          <p:cNvSpPr>
            <a:spLocks noGrp="1"/>
          </p:cNvSpPr>
          <p:nvPr>
            <p:ph type="dt" sz="half" idx="10"/>
          </p:nvPr>
        </p:nvSpPr>
        <p:spPr/>
        <p:txBody>
          <a:bodyPr/>
          <a:lstStyle/>
          <a:p>
            <a:fld id="{0B9ABE89-CD5A-4DF5-92E2-05840E334FAA}" type="datetimeFigureOut">
              <a:rPr lang="zh-CN" altLang="en-US" smtClean="0"/>
              <a:t>2025/9/22</a:t>
            </a:fld>
            <a:endParaRPr lang="zh-CN" altLang="en-US"/>
          </a:p>
        </p:txBody>
      </p:sp>
      <p:sp>
        <p:nvSpPr>
          <p:cNvPr id="1048900" name="页脚占位符 4"/>
          <p:cNvSpPr>
            <a:spLocks noGrp="1"/>
          </p:cNvSpPr>
          <p:nvPr>
            <p:ph type="ftr" sz="quarter" idx="11"/>
          </p:nvPr>
        </p:nvSpPr>
        <p:spPr/>
        <p:txBody>
          <a:bodyPr/>
          <a:lstStyle/>
          <a:p>
            <a:endParaRPr lang="zh-CN" altLang="en-US"/>
          </a:p>
        </p:txBody>
      </p:sp>
      <p:sp>
        <p:nvSpPr>
          <p:cNvPr id="1048901" name="灯片编号占位符 5"/>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1048886"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1048887"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888" name="日期占位符 3"/>
          <p:cNvSpPr>
            <a:spLocks noGrp="1"/>
          </p:cNvSpPr>
          <p:nvPr>
            <p:ph type="dt" sz="half" idx="10"/>
          </p:nvPr>
        </p:nvSpPr>
        <p:spPr/>
        <p:txBody>
          <a:bodyPr/>
          <a:lstStyle/>
          <a:p>
            <a:fld id="{0B9ABE89-CD5A-4DF5-92E2-05840E334FAA}" type="datetimeFigureOut">
              <a:rPr lang="zh-CN" altLang="en-US" smtClean="0"/>
              <a:t>2025/9/22</a:t>
            </a:fld>
            <a:endParaRPr lang="zh-CN" altLang="en-US"/>
          </a:p>
        </p:txBody>
      </p:sp>
      <p:sp>
        <p:nvSpPr>
          <p:cNvPr id="1048889" name="页脚占位符 4"/>
          <p:cNvSpPr>
            <a:spLocks noGrp="1"/>
          </p:cNvSpPr>
          <p:nvPr>
            <p:ph type="ftr" sz="quarter" idx="11"/>
          </p:nvPr>
        </p:nvSpPr>
        <p:spPr/>
        <p:txBody>
          <a:bodyPr/>
          <a:lstStyle/>
          <a:p>
            <a:endParaRPr lang="zh-CN" altLang="en-US"/>
          </a:p>
        </p:txBody>
      </p:sp>
      <p:sp>
        <p:nvSpPr>
          <p:cNvPr id="1048890" name="灯片编号占位符 5"/>
          <p:cNvSpPr>
            <a:spLocks noGrp="1"/>
          </p:cNvSpPr>
          <p:nvPr>
            <p:ph type="sldNum" sz="quarter" idx="12"/>
          </p:nvPr>
        </p:nvSpPr>
        <p:spPr/>
        <p:txBody>
          <a:bodyPr/>
          <a:lstStyle/>
          <a:p>
            <a:fld id="{DFC6C6D9-0EAC-4A43-A0E6-1F06783EE0A4}"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1048577"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578"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9ABE89-CD5A-4DF5-92E2-05840E334FAA}" type="datetimeFigureOut">
              <a:rPr lang="zh-CN" altLang="en-US" smtClean="0"/>
              <a:t>2025/9/22</a:t>
            </a:fld>
            <a:endParaRPr lang="zh-CN" altLang="en-US"/>
          </a:p>
        </p:txBody>
      </p:sp>
      <p:sp>
        <p:nvSpPr>
          <p:cNvPr id="1048579"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1048580"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C6C6D9-0EAC-4A43-A0E6-1F06783EE0A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03864"/>
        </a:solidFill>
        <a:effectLst/>
      </p:bgPr>
    </p:bg>
    <p:spTree>
      <p:nvGrpSpPr>
        <p:cNvPr id="1" name=""/>
        <p:cNvGrpSpPr/>
        <p:nvPr/>
      </p:nvGrpSpPr>
      <p:grpSpPr>
        <a:xfrm>
          <a:off x="0" y="0"/>
          <a:ext cx="0" cy="0"/>
          <a:chOff x="0" y="0"/>
          <a:chExt cx="0" cy="0"/>
        </a:xfrm>
      </p:grpSpPr>
      <p:sp>
        <p:nvSpPr>
          <p:cNvPr id="1048934" name="标题 1"/>
          <p:cNvSpPr>
            <a:spLocks noGrp="1"/>
          </p:cNvSpPr>
          <p:nvPr>
            <p:ph type="ctrTitle"/>
          </p:nvPr>
        </p:nvSpPr>
        <p:spPr>
          <a:xfrm>
            <a:off x="1755627" y="1734739"/>
            <a:ext cx="8680739" cy="1647322"/>
          </a:xfrm>
        </p:spPr>
        <p:txBody>
          <a:bodyPr>
            <a:normAutofit/>
          </a:bodyPr>
          <a:lstStyle/>
          <a:p>
            <a:r>
              <a:rPr lang="zh-CN" altLang="en-US" sz="4000" noProof="1">
                <a:solidFill>
                  <a:schemeClr val="bg1"/>
                </a:solidFill>
              </a:rPr>
              <a:t>基于多视角图像拼接和激光点云的目标检测与定位研究方法</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1048936" name="内容占位符 2"/>
          <p:cNvSpPr txBox="1"/>
          <p:nvPr/>
        </p:nvSpPr>
        <p:spPr>
          <a:xfrm>
            <a:off x="1755627" y="486294"/>
            <a:ext cx="6620793" cy="57841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600" dirty="0">
                <a:solidFill>
                  <a:schemeClr val="bg1"/>
                </a:solidFill>
                <a:latin typeface="微软雅黑" panose="020B0503020204020204" pitchFamily="34" charset="-122"/>
                <a:ea typeface="微软雅黑" panose="020B0503020204020204" pitchFamily="34" charset="-122"/>
              </a:rPr>
              <a:t>组会汇报</a:t>
            </a:r>
            <a:endParaRPr lang="en-US" altLang="zh-CN" sz="1600" dirty="0">
              <a:solidFill>
                <a:schemeClr val="bg1"/>
              </a:solidFill>
              <a:latin typeface="微软雅黑" panose="020B0503020204020204" pitchFamily="34" charset="-122"/>
              <a:ea typeface="微软雅黑" panose="020B0503020204020204" pitchFamily="34" charset="-122"/>
            </a:endParaRPr>
          </a:p>
          <a:p>
            <a:pPr marL="0" indent="0">
              <a:buNone/>
            </a:pPr>
            <a:r>
              <a:rPr lang="en-US" altLang="zh-CN" sz="1600" dirty="0">
                <a:solidFill>
                  <a:schemeClr val="bg1"/>
                </a:solidFill>
                <a:latin typeface="微软雅黑" panose="020B0503020204020204" pitchFamily="34" charset="-122"/>
                <a:ea typeface="微软雅黑" panose="020B0503020204020204" pitchFamily="34" charset="-122"/>
              </a:rPr>
              <a:t>2025/9/23</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048938" name="内容占位符 3"/>
          <p:cNvSpPr txBox="1"/>
          <p:nvPr/>
        </p:nvSpPr>
        <p:spPr>
          <a:xfrm>
            <a:off x="3510967" y="3847467"/>
            <a:ext cx="5170067" cy="17635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pPr>
            <a:r>
              <a:rPr lang="en-US" altLang="zh-CN" sz="1400" b="1" dirty="0" err="1">
                <a:solidFill>
                  <a:schemeClr val="bg1"/>
                </a:solidFill>
                <a:latin typeface="Microsoft YaHei" panose="020B0503020204020204" pitchFamily="34" charset="-122"/>
                <a:ea typeface="Microsoft YaHei" panose="020B0503020204020204" pitchFamily="34" charset="-122"/>
              </a:rPr>
              <a:t>汇报人</a:t>
            </a:r>
            <a:r>
              <a:rPr lang="zh-CN" altLang="en-US" sz="1400" b="1" dirty="0">
                <a:solidFill>
                  <a:schemeClr val="bg1"/>
                </a:solidFill>
                <a:latin typeface="Microsoft YaHei" panose="020B0503020204020204" pitchFamily="34" charset="-122"/>
                <a:ea typeface="Microsoft YaHei" panose="020B0503020204020204" pitchFamily="34" charset="-122"/>
              </a:rPr>
              <a:t>：刘高峰</a:t>
            </a:r>
            <a:endParaRPr lang="en-US" altLang="zh-CN" sz="1400" b="1" dirty="0">
              <a:solidFill>
                <a:schemeClr val="bg1"/>
              </a:solidFill>
              <a:latin typeface="Microsoft YaHei" panose="020B0503020204020204" pitchFamily="34" charset="-122"/>
              <a:ea typeface="Microsoft YaHei" panose="020B0503020204020204" pitchFamily="34" charset="-122"/>
            </a:endParaRPr>
          </a:p>
          <a:p>
            <a:pPr marL="0" indent="0" algn="l">
              <a:lnSpc>
                <a:spcPct val="150000"/>
              </a:lnSpc>
              <a:buNone/>
            </a:pPr>
            <a:r>
              <a:rPr lang="zh-CN" altLang="en-US" sz="1400" b="1" dirty="0">
                <a:solidFill>
                  <a:schemeClr val="bg1"/>
                </a:solidFill>
                <a:latin typeface="Microsoft YaHei" panose="020B0503020204020204" pitchFamily="34" charset="-122"/>
                <a:ea typeface="Microsoft YaHei" panose="020B0503020204020204" pitchFamily="34" charset="-122"/>
              </a:rPr>
              <a:t>导师：曾文</a:t>
            </a:r>
            <a:endParaRPr lang="en-US" altLang="zh-CN" sz="1400" b="1" dirty="0">
              <a:solidFill>
                <a:schemeClr val="bg1"/>
              </a:solidFill>
              <a:latin typeface="Microsoft YaHei" panose="020B0503020204020204" pitchFamily="34" charset="-122"/>
              <a:ea typeface="Microsoft YaHei" panose="020B0503020204020204" pitchFamily="34" charset="-122"/>
            </a:endParaRPr>
          </a:p>
          <a:p>
            <a:pPr marL="0" indent="0" algn="l">
              <a:lnSpc>
                <a:spcPct val="150000"/>
              </a:lnSpc>
              <a:buNone/>
            </a:pPr>
            <a:r>
              <a:rPr lang="en-US" altLang="zh-CN" sz="1400" dirty="0" err="1">
                <a:solidFill>
                  <a:schemeClr val="bg1"/>
                </a:solidFill>
                <a:latin typeface="Microsoft YaHei" panose="020B0503020204020204" pitchFamily="34" charset="-122"/>
                <a:ea typeface="Microsoft YaHei" panose="020B0503020204020204" pitchFamily="34" charset="-122"/>
              </a:rPr>
              <a:t>中国地质大学（武汉</a:t>
            </a:r>
            <a:r>
              <a:rPr lang="en-US" altLang="zh-CN" sz="1400" dirty="0">
                <a:solidFill>
                  <a:schemeClr val="bg1"/>
                </a:solidFill>
                <a:latin typeface="Microsoft YaHei" panose="020B0503020204020204" pitchFamily="34" charset="-122"/>
                <a:ea typeface="Microsoft YaHei" panose="020B0503020204020204" pitchFamily="34" charset="-122"/>
              </a:rPr>
              <a:t>）</a:t>
            </a:r>
            <a:r>
              <a:rPr lang="zh-CN" altLang="en-US" sz="1400" dirty="0">
                <a:solidFill>
                  <a:schemeClr val="bg1"/>
                </a:solidFill>
                <a:latin typeface="Microsoft YaHei" panose="020B0503020204020204" pitchFamily="34" charset="-122"/>
                <a:ea typeface="Microsoft YaHei" panose="020B0503020204020204" pitchFamily="34" charset="-122"/>
              </a:rPr>
              <a:t>地理与信息工程学院</a:t>
            </a:r>
            <a:endParaRPr lang="en-US" altLang="zh-CN" sz="1400" dirty="0">
              <a:solidFill>
                <a:schemeClr val="bg1"/>
              </a:solidFill>
              <a:latin typeface="Microsoft YaHei" panose="020B0503020204020204" pitchFamily="34" charset="-122"/>
              <a:ea typeface="Microsoft YaHei" panose="020B0503020204020204" pitchFamily="34" charset="-122"/>
            </a:endParaRPr>
          </a:p>
          <a:p>
            <a:pPr marL="0" indent="0" algn="l">
              <a:lnSpc>
                <a:spcPct val="150000"/>
              </a:lnSpc>
              <a:buNone/>
            </a:pPr>
            <a:r>
              <a:rPr lang="en-US" altLang="zh-CN" sz="1400" dirty="0" err="1">
                <a:solidFill>
                  <a:schemeClr val="bg1"/>
                </a:solidFill>
                <a:latin typeface="Microsoft YaHei" panose="020B0503020204020204" pitchFamily="34" charset="-122"/>
                <a:ea typeface="Microsoft YaHei" panose="020B0503020204020204" pitchFamily="34" charset="-122"/>
              </a:rPr>
              <a:t>高性能空间计算智能实验室（HPSCIL</a:t>
            </a:r>
            <a:r>
              <a:rPr lang="en-US" altLang="zh-CN" sz="1400" dirty="0">
                <a:solidFill>
                  <a:schemeClr val="bg1"/>
                </a:solidFill>
                <a:latin typeface="Microsoft YaHei" panose="020B0503020204020204" pitchFamily="34" charset="-122"/>
                <a:ea typeface="Microsoft YaHei" panose="020B0503020204020204" pitchFamily="34" charset="-122"/>
              </a:rPr>
              <a:t>）</a:t>
            </a:r>
          </a:p>
        </p:txBody>
      </p:sp>
      <p:cxnSp>
        <p:nvCxnSpPr>
          <p:cNvPr id="3145768" name="直接连接符 6"/>
          <p:cNvCxnSpPr>
            <a:cxnSpLocks/>
          </p:cNvCxnSpPr>
          <p:nvPr/>
        </p:nvCxnSpPr>
        <p:spPr>
          <a:xfrm>
            <a:off x="823527" y="3710152"/>
            <a:ext cx="106200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3" name="组合 11"/>
          <p:cNvGrpSpPr/>
          <p:nvPr/>
        </p:nvGrpSpPr>
        <p:grpSpPr>
          <a:xfrm>
            <a:off x="623964" y="217522"/>
            <a:ext cx="11445869" cy="6422955"/>
            <a:chOff x="364884" y="179406"/>
            <a:chExt cx="11445869" cy="6422955"/>
          </a:xfrm>
        </p:grpSpPr>
        <p:pic>
          <p:nvPicPr>
            <p:cNvPr id="2097208" name="图片 8"/>
            <p:cNvPicPr>
              <a:picLocks noChangeAspect="1"/>
            </p:cNvPicPr>
            <p:nvPr/>
          </p:nvPicPr>
          <p:blipFill>
            <a:blip r:embed="rId3" cstate="print"/>
            <a:stretch>
              <a:fillRect/>
            </a:stretch>
          </p:blipFill>
          <p:spPr>
            <a:xfrm>
              <a:off x="364884" y="179406"/>
              <a:ext cx="1192193" cy="1192193"/>
            </a:xfrm>
            <a:prstGeom prst="rect">
              <a:avLst/>
            </a:prstGeom>
          </p:spPr>
        </p:pic>
        <p:sp>
          <p:nvSpPr>
            <p:cNvPr id="1048940" name="TextBox 1"/>
            <p:cNvSpPr txBox="1"/>
            <p:nvPr/>
          </p:nvSpPr>
          <p:spPr>
            <a:xfrm>
              <a:off x="3253043" y="6259766"/>
              <a:ext cx="5685906" cy="307777"/>
            </a:xfrm>
            <a:prstGeom prst="rect">
              <a:avLst/>
            </a:prstGeom>
            <a:noFill/>
          </p:spPr>
          <p:txBody>
            <a:bodyPr wrap="square" rtlCol="0">
              <a:spAutoFit/>
            </a:bodyPr>
            <a:lstStyle/>
            <a:p>
              <a:r>
                <a:rPr lang="en-AU" sz="1400" dirty="0">
                  <a:solidFill>
                    <a:schemeClr val="bg1">
                      <a:lumMod val="75000"/>
                    </a:schemeClr>
                  </a:solidFill>
                  <a:latin typeface="微软雅黑 Light" panose="020B0502040204020203" pitchFamily="34" charset="-122"/>
                  <a:ea typeface="微软雅黑 Light" panose="020B0502040204020203" pitchFamily="34" charset="-122"/>
                </a:rPr>
                <a:t>High-</a:t>
              </a:r>
              <a:r>
                <a:rPr lang="en-AU" sz="1400" dirty="0" err="1">
                  <a:solidFill>
                    <a:schemeClr val="bg1">
                      <a:lumMod val="75000"/>
                    </a:schemeClr>
                  </a:solidFill>
                  <a:latin typeface="微软雅黑 Light" panose="020B0502040204020203" pitchFamily="34" charset="-122"/>
                  <a:ea typeface="微软雅黑 Light" panose="020B0502040204020203" pitchFamily="34" charset="-122"/>
                </a:rPr>
                <a:t>performanceSpatialComputationalIntelligenceLab</a:t>
              </a:r>
              <a:r>
                <a:rPr lang="en-US" altLang="zh-CN" sz="1400" dirty="0">
                  <a:solidFill>
                    <a:schemeClr val="bg1">
                      <a:lumMod val="75000"/>
                    </a:schemeClr>
                  </a:solidFill>
                  <a:latin typeface="微软雅黑 Light" panose="020B0502040204020203" pitchFamily="34" charset="-122"/>
                  <a:ea typeface="微软雅黑 Light" panose="020B0502040204020203" pitchFamily="34" charset="-122"/>
                </a:rPr>
                <a:t>@CUG</a:t>
              </a:r>
              <a:endParaRPr lang="en-AU" sz="1400" dirty="0">
                <a:solidFill>
                  <a:schemeClr val="bg1">
                    <a:lumMod val="75000"/>
                  </a:schemeClr>
                </a:solidFill>
                <a:latin typeface="微软雅黑 Light" panose="020B0502040204020203" pitchFamily="34" charset="-122"/>
                <a:ea typeface="微软雅黑 Light" panose="020B0502040204020203" pitchFamily="34" charset="-122"/>
              </a:endParaRPr>
            </a:p>
          </p:txBody>
        </p:sp>
        <p:pic>
          <p:nvPicPr>
            <p:cNvPr id="2097210" name="图片 10"/>
            <p:cNvPicPr>
              <a:picLocks noChangeAspect="1"/>
            </p:cNvPicPr>
            <p:nvPr/>
          </p:nvPicPr>
          <p:blipFill>
            <a:blip r:embed="rId4" cstate="print"/>
            <a:stretch>
              <a:fillRect/>
            </a:stretch>
          </p:blipFill>
          <p:spPr>
            <a:xfrm>
              <a:off x="10675917" y="5858179"/>
              <a:ext cx="1134836" cy="744182"/>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5" name="Freeform 6"/>
          <p:cNvSpPr/>
          <p:nvPr/>
        </p:nvSpPr>
        <p:spPr bwMode="auto">
          <a:xfrm>
            <a:off x="335" y="5555848"/>
            <a:ext cx="12191331" cy="1301962"/>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accent5">
              <a:lumMod val="50000"/>
            </a:schemeClr>
          </a:solidFill>
          <a:ln w="0">
            <a:noFill/>
            <a:prstDash val="solid"/>
            <a:round/>
            <a:headEnd/>
            <a:tailEnd/>
          </a:ln>
        </p:spPr>
        <p:txBody>
          <a:bodyPr vert="horz" wrap="square" lIns="121913" tIns="60956" rIns="121913" bIns="60956" numCol="1" anchor="t" anchorCtr="0" compatLnSpc="1">
            <a:prstTxWarp prst="textNoShape">
              <a:avLst/>
            </a:prstTxWarp>
          </a:bodyPr>
          <a:lstStyle/>
          <a:p>
            <a:endParaRPr lang="zh-CN" altLang="en-US" sz="1707"/>
          </a:p>
        </p:txBody>
      </p:sp>
      <p:sp>
        <p:nvSpPr>
          <p:cNvPr id="1048596" name="Freeform 7"/>
          <p:cNvSpPr/>
          <p:nvPr/>
        </p:nvSpPr>
        <p:spPr bwMode="auto">
          <a:xfrm>
            <a:off x="0" y="5308161"/>
            <a:ext cx="12191331" cy="495373"/>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accent5">
              <a:lumMod val="50000"/>
            </a:schemeClr>
          </a:solidFill>
          <a:ln w="0">
            <a:noFill/>
            <a:prstDash val="solid"/>
            <a:round/>
            <a:headEnd/>
            <a:tailEnd/>
          </a:ln>
        </p:spPr>
        <p:txBody>
          <a:bodyPr vert="horz" wrap="square" lIns="121913" tIns="60956" rIns="121913" bIns="60956" numCol="1" anchor="t" anchorCtr="0" compatLnSpc="1">
            <a:prstTxWarp prst="textNoShape">
              <a:avLst/>
            </a:prstTxWarp>
          </a:bodyPr>
          <a:lstStyle/>
          <a:p>
            <a:endParaRPr lang="zh-CN" altLang="en-US" sz="1707"/>
          </a:p>
        </p:txBody>
      </p:sp>
      <p:sp>
        <p:nvSpPr>
          <p:cNvPr id="1048597" name="灯片编号占位符 6"/>
          <p:cNvSpPr>
            <a:spLocks noGrp="1"/>
          </p:cNvSpPr>
          <p:nvPr>
            <p:ph type="sldNum" sz="quarter" idx="12"/>
          </p:nvPr>
        </p:nvSpPr>
        <p:spPr>
          <a:xfrm>
            <a:off x="8610600" y="6356350"/>
            <a:ext cx="2743200" cy="365125"/>
          </a:xfrm>
        </p:spPr>
        <p:txBody>
          <a:bodyPr/>
          <a:lstStyle>
            <a:lvl1pPr>
              <a:defRPr>
                <a:solidFill>
                  <a:schemeClr val="bg1"/>
                </a:solidFill>
                <a:latin typeface="黑体" panose="02010609060101010101" pitchFamily="49" charset="-122"/>
                <a:ea typeface="黑体" panose="02010609060101010101" pitchFamily="49" charset="-122"/>
              </a:defRPr>
            </a:lvl1pPr>
          </a:lstStyle>
          <a:p>
            <a:r>
              <a:rPr lang="en-US" altLang="zh-CN"/>
              <a:t>1</a:t>
            </a:r>
            <a:endParaRPr lang="zh-CN" altLang="en-US" dirty="0"/>
          </a:p>
        </p:txBody>
      </p:sp>
      <p:sp>
        <p:nvSpPr>
          <p:cNvPr id="1048598" name="TextBox 1"/>
          <p:cNvSpPr txBox="1"/>
          <p:nvPr/>
        </p:nvSpPr>
        <p:spPr>
          <a:xfrm>
            <a:off x="3931920" y="6178104"/>
            <a:ext cx="5685906" cy="307777"/>
          </a:xfrm>
          <a:prstGeom prst="rect">
            <a:avLst/>
          </a:prstGeom>
          <a:noFill/>
        </p:spPr>
        <p:txBody>
          <a:bodyPr wrap="square" rtlCol="0">
            <a:spAutoFit/>
          </a:bodyPr>
          <a:lstStyle/>
          <a:p>
            <a:r>
              <a:rPr lang="en-AU" sz="1400" dirty="0">
                <a:solidFill>
                  <a:schemeClr val="bg1">
                    <a:lumMod val="75000"/>
                  </a:schemeClr>
                </a:solidFill>
              </a:rPr>
              <a:t>High-</a:t>
            </a:r>
            <a:r>
              <a:rPr lang="en-AU" sz="1400" dirty="0" err="1">
                <a:solidFill>
                  <a:schemeClr val="bg1">
                    <a:lumMod val="75000"/>
                  </a:schemeClr>
                </a:solidFill>
              </a:rPr>
              <a:t>performanceSpatialComputationalIntelligenceLab</a:t>
            </a:r>
            <a:r>
              <a:rPr lang="en-US" altLang="zh-CN" sz="1400" dirty="0">
                <a:solidFill>
                  <a:schemeClr val="bg1">
                    <a:lumMod val="75000"/>
                  </a:schemeClr>
                </a:solidFill>
              </a:rPr>
              <a:t>@CUG</a:t>
            </a:r>
            <a:endParaRPr lang="en-AU" sz="1400" dirty="0">
              <a:solidFill>
                <a:schemeClr val="bg1">
                  <a:lumMod val="75000"/>
                </a:schemeClr>
              </a:solidFill>
            </a:endParaRPr>
          </a:p>
        </p:txBody>
      </p:sp>
      <p:pic>
        <p:nvPicPr>
          <p:cNvPr id="2097154" name="图片 19"/>
          <p:cNvPicPr>
            <a:picLocks noChangeAspect="1"/>
          </p:cNvPicPr>
          <p:nvPr/>
        </p:nvPicPr>
        <p:blipFill>
          <a:blip r:embed="rId3" cstate="print"/>
          <a:stretch>
            <a:fillRect/>
          </a:stretch>
        </p:blipFill>
        <p:spPr>
          <a:xfrm>
            <a:off x="2873829" y="5858179"/>
            <a:ext cx="1134836" cy="744182"/>
          </a:xfrm>
          <a:prstGeom prst="rect">
            <a:avLst/>
          </a:prstGeom>
        </p:spPr>
      </p:pic>
      <p:sp>
        <p:nvSpPr>
          <p:cNvPr id="1048599" name="Freeform 6"/>
          <p:cNvSpPr/>
          <p:nvPr/>
        </p:nvSpPr>
        <p:spPr bwMode="auto">
          <a:xfrm>
            <a:off x="335" y="5555848"/>
            <a:ext cx="12191331" cy="1301962"/>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rgbClr val="203864"/>
          </a:solidFill>
          <a:ln w="0">
            <a:noFill/>
            <a:prstDash val="solid"/>
            <a:round/>
            <a:headEnd/>
            <a:tailEnd/>
          </a:ln>
        </p:spPr>
        <p:txBody>
          <a:bodyPr vert="horz" wrap="square" lIns="121913" tIns="60956" rIns="121913" bIns="60956" numCol="1" anchor="t" anchorCtr="0" compatLnSpc="1">
            <a:prstTxWarp prst="textNoShape">
              <a:avLst/>
            </a:prstTxWarp>
          </a:bodyPr>
          <a:lstStyle/>
          <a:p>
            <a:endParaRPr lang="zh-CN" altLang="en-US" sz="1707"/>
          </a:p>
        </p:txBody>
      </p:sp>
      <p:sp>
        <p:nvSpPr>
          <p:cNvPr id="1048600" name="Freeform 7"/>
          <p:cNvSpPr/>
          <p:nvPr/>
        </p:nvSpPr>
        <p:spPr bwMode="auto">
          <a:xfrm>
            <a:off x="0" y="5308161"/>
            <a:ext cx="12191331" cy="495373"/>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rgbClr val="203864"/>
          </a:solidFill>
          <a:ln w="0">
            <a:noFill/>
            <a:prstDash val="solid"/>
            <a:round/>
            <a:headEnd/>
            <a:tailEnd/>
          </a:ln>
        </p:spPr>
        <p:txBody>
          <a:bodyPr vert="horz" wrap="square" lIns="121913" tIns="60956" rIns="121913" bIns="60956" numCol="1" anchor="t" anchorCtr="0" compatLnSpc="1">
            <a:prstTxWarp prst="textNoShape">
              <a:avLst/>
            </a:prstTxWarp>
          </a:bodyPr>
          <a:lstStyle/>
          <a:p>
            <a:endParaRPr lang="zh-CN" altLang="en-US" sz="1707"/>
          </a:p>
        </p:txBody>
      </p:sp>
      <p:sp>
        <p:nvSpPr>
          <p:cNvPr id="1048601" name="TextBox 1"/>
          <p:cNvSpPr txBox="1"/>
          <p:nvPr/>
        </p:nvSpPr>
        <p:spPr>
          <a:xfrm>
            <a:off x="3931920" y="6178104"/>
            <a:ext cx="5685906" cy="307777"/>
          </a:xfrm>
          <a:prstGeom prst="rect">
            <a:avLst/>
          </a:prstGeom>
          <a:noFill/>
        </p:spPr>
        <p:txBody>
          <a:bodyPr wrap="square" rtlCol="0">
            <a:spAutoFit/>
          </a:bodyPr>
          <a:lstStyle/>
          <a:p>
            <a:r>
              <a:rPr lang="en-AU" sz="1400" dirty="0">
                <a:solidFill>
                  <a:schemeClr val="bg1">
                    <a:lumMod val="75000"/>
                  </a:schemeClr>
                </a:solidFill>
                <a:latin typeface="微软雅黑 Light" panose="020B0502040204020203" pitchFamily="34" charset="-122"/>
                <a:ea typeface="微软雅黑 Light" panose="020B0502040204020203" pitchFamily="34" charset="-122"/>
              </a:rPr>
              <a:t>High-</a:t>
            </a:r>
            <a:r>
              <a:rPr lang="en-AU" sz="1400" dirty="0" err="1">
                <a:solidFill>
                  <a:schemeClr val="bg1">
                    <a:lumMod val="75000"/>
                  </a:schemeClr>
                </a:solidFill>
                <a:latin typeface="微软雅黑 Light" panose="020B0502040204020203" pitchFamily="34" charset="-122"/>
                <a:ea typeface="微软雅黑 Light" panose="020B0502040204020203" pitchFamily="34" charset="-122"/>
              </a:rPr>
              <a:t>performanceSpatialComputationalIntelligenceLab</a:t>
            </a:r>
            <a:r>
              <a:rPr lang="en-US" altLang="zh-CN" sz="1400" dirty="0">
                <a:solidFill>
                  <a:schemeClr val="bg1">
                    <a:lumMod val="75000"/>
                  </a:schemeClr>
                </a:solidFill>
                <a:latin typeface="微软雅黑 Light" panose="020B0502040204020203" pitchFamily="34" charset="-122"/>
                <a:ea typeface="微软雅黑 Light" panose="020B0502040204020203" pitchFamily="34" charset="-122"/>
              </a:rPr>
              <a:t>@CUG</a:t>
            </a:r>
            <a:endParaRPr lang="en-AU" sz="1400" dirty="0">
              <a:solidFill>
                <a:schemeClr val="bg1">
                  <a:lumMod val="75000"/>
                </a:schemeClr>
              </a:solidFill>
              <a:latin typeface="微软雅黑 Light" panose="020B0502040204020203" pitchFamily="34" charset="-122"/>
              <a:ea typeface="微软雅黑 Light" panose="020B0502040204020203" pitchFamily="34" charset="-122"/>
            </a:endParaRPr>
          </a:p>
        </p:txBody>
      </p:sp>
      <p:pic>
        <p:nvPicPr>
          <p:cNvPr id="2097155" name="图片 23"/>
          <p:cNvPicPr>
            <a:picLocks noChangeAspect="1"/>
          </p:cNvPicPr>
          <p:nvPr/>
        </p:nvPicPr>
        <p:blipFill>
          <a:blip r:embed="rId3" cstate="print"/>
          <a:stretch>
            <a:fillRect/>
          </a:stretch>
        </p:blipFill>
        <p:spPr>
          <a:xfrm>
            <a:off x="2873829" y="5858179"/>
            <a:ext cx="1134836" cy="744182"/>
          </a:xfrm>
          <a:prstGeom prst="rect">
            <a:avLst/>
          </a:prstGeom>
        </p:spPr>
      </p:pic>
      <p:sp>
        <p:nvSpPr>
          <p:cNvPr id="1048602" name="文本框 24"/>
          <p:cNvSpPr txBox="1"/>
          <p:nvPr/>
        </p:nvSpPr>
        <p:spPr>
          <a:xfrm>
            <a:off x="1510018" y="2359727"/>
            <a:ext cx="3097485" cy="769441"/>
          </a:xfrm>
          <a:prstGeom prst="rect">
            <a:avLst/>
          </a:prstGeom>
          <a:noFill/>
        </p:spPr>
        <p:txBody>
          <a:bodyPr wrap="square" rtlCol="0">
            <a:spAutoFit/>
          </a:bodyPr>
          <a:lstStyle/>
          <a:p>
            <a:pPr algn="ctr"/>
            <a:r>
              <a:rPr lang="zh-CN" altLang="en-US" sz="4400" b="1" kern="1200" dirty="0">
                <a:solidFill>
                  <a:schemeClr val="tx1">
                    <a:lumMod val="75000"/>
                    <a:lumOff val="25000"/>
                  </a:schemeClr>
                </a:solidFill>
                <a:latin typeface="Microsoft YaHei" panose="020B0503020204020204" pitchFamily="34" charset="-122"/>
                <a:ea typeface="Microsoft YaHei" panose="020B0503020204020204" pitchFamily="34" charset="-122"/>
                <a:cs typeface="+mj-cs"/>
              </a:rPr>
              <a:t>目录</a:t>
            </a:r>
          </a:p>
        </p:txBody>
      </p:sp>
      <p:sp>
        <p:nvSpPr>
          <p:cNvPr id="1048603" name="矩形 27"/>
          <p:cNvSpPr/>
          <p:nvPr/>
        </p:nvSpPr>
        <p:spPr>
          <a:xfrm>
            <a:off x="5257800" y="1250180"/>
            <a:ext cx="6477000" cy="2472472"/>
          </a:xfrm>
          <a:prstGeom prst="rect">
            <a:avLst/>
          </a:prstGeom>
        </p:spPr>
        <p:txBody>
          <a:bodyPr wrap="square">
            <a:spAutoFit/>
          </a:bodyPr>
          <a:lstStyle/>
          <a:p>
            <a:pPr marL="228600" lvl="0" indent="-228600">
              <a:lnSpc>
                <a:spcPct val="150000"/>
              </a:lnSpc>
              <a:spcBef>
                <a:spcPts val="1000"/>
              </a:spcBef>
              <a:buFont typeface="Arial" panose="020B0604020202020204" pitchFamily="34" charset="0"/>
              <a:buChar char="•"/>
            </a:pPr>
            <a:r>
              <a:rPr lang="en-US" altLang="zh-CN" sz="3200" dirty="0">
                <a:solidFill>
                  <a:srgbClr val="203864"/>
                </a:solidFill>
                <a:latin typeface="宋体" panose="02010600030101010101" pitchFamily="2" charset="-122"/>
                <a:ea typeface="宋体" panose="02010600030101010101" pitchFamily="2" charset="-122"/>
              </a:rPr>
              <a:t>01</a:t>
            </a:r>
            <a:r>
              <a:rPr lang="zh-CN" altLang="en-US" sz="3200" dirty="0">
                <a:solidFill>
                  <a:srgbClr val="203864"/>
                </a:solidFill>
                <a:latin typeface="宋体" panose="02010600030101010101" pitchFamily="2" charset="-122"/>
                <a:ea typeface="宋体" panose="02010600030101010101" pitchFamily="2" charset="-122"/>
              </a:rPr>
              <a:t>研究背景</a:t>
            </a:r>
            <a:endParaRPr lang="en-US" altLang="zh-CN" sz="3200" dirty="0">
              <a:solidFill>
                <a:srgbClr val="203864"/>
              </a:solidFill>
              <a:latin typeface="宋体" panose="02010600030101010101" pitchFamily="2" charset="-122"/>
              <a:ea typeface="宋体" panose="02010600030101010101" pitchFamily="2" charset="-122"/>
            </a:endParaRPr>
          </a:p>
          <a:p>
            <a:pPr marL="228600" lvl="0" indent="-228600">
              <a:lnSpc>
                <a:spcPct val="150000"/>
              </a:lnSpc>
              <a:spcBef>
                <a:spcPts val="1000"/>
              </a:spcBef>
              <a:buFont typeface="Arial" panose="020B0604020202020204" pitchFamily="34" charset="0"/>
              <a:buChar char="•"/>
            </a:pPr>
            <a:r>
              <a:rPr lang="en-US" altLang="zh-CN" sz="3200" dirty="0">
                <a:solidFill>
                  <a:srgbClr val="203864"/>
                </a:solidFill>
                <a:latin typeface="宋体" panose="02010600030101010101" pitchFamily="2" charset="-122"/>
                <a:ea typeface="宋体" panose="02010600030101010101" pitchFamily="2" charset="-122"/>
              </a:rPr>
              <a:t>02</a:t>
            </a:r>
            <a:r>
              <a:rPr lang="zh-CN" altLang="en-US" sz="3200" dirty="0">
                <a:solidFill>
                  <a:srgbClr val="203864"/>
                </a:solidFill>
                <a:latin typeface="宋体" panose="02010600030101010101" pitchFamily="2" charset="-122"/>
                <a:ea typeface="宋体" panose="02010600030101010101" pitchFamily="2" charset="-122"/>
              </a:rPr>
              <a:t>目标检测及定位</a:t>
            </a:r>
            <a:endParaRPr lang="en-US" altLang="zh-CN" sz="3200" dirty="0">
              <a:solidFill>
                <a:srgbClr val="203864"/>
              </a:solidFill>
              <a:latin typeface="宋体" panose="02010600030101010101" pitchFamily="2" charset="-122"/>
              <a:ea typeface="宋体" panose="02010600030101010101" pitchFamily="2" charset="-122"/>
            </a:endParaRPr>
          </a:p>
          <a:p>
            <a:pPr marL="228600" indent="-228600">
              <a:lnSpc>
                <a:spcPct val="150000"/>
              </a:lnSpc>
              <a:spcBef>
                <a:spcPts val="1000"/>
              </a:spcBef>
              <a:buFont typeface="Arial" panose="020B0604020202020204" pitchFamily="34" charset="0"/>
              <a:buChar char="•"/>
            </a:pPr>
            <a:r>
              <a:rPr lang="en-US" altLang="zh-CN" sz="3200" dirty="0">
                <a:solidFill>
                  <a:srgbClr val="203864"/>
                </a:solidFill>
                <a:latin typeface="宋体" panose="02010600030101010101" pitchFamily="2" charset="-122"/>
                <a:ea typeface="宋体" panose="02010600030101010101" pitchFamily="2" charset="-122"/>
              </a:rPr>
              <a:t>03</a:t>
            </a:r>
            <a:r>
              <a:rPr lang="zh-CN" altLang="en-US" sz="3200" dirty="0">
                <a:solidFill>
                  <a:srgbClr val="203864"/>
                </a:solidFill>
                <a:latin typeface="宋体" panose="02010600030101010101" pitchFamily="2" charset="-122"/>
                <a:ea typeface="宋体" panose="02010600030101010101" pitchFamily="2" charset="-122"/>
              </a:rPr>
              <a:t>总结及后续计划</a:t>
            </a:r>
            <a:r>
              <a:rPr lang="en-US" altLang="zh-CN" sz="3200" b="1" dirty="0">
                <a:solidFill>
                  <a:schemeClr val="bg1"/>
                </a:solidFill>
                <a:latin typeface="Microsoft YaHei" panose="020B0503020204020204" pitchFamily="34" charset="-122"/>
                <a:ea typeface="Microsoft YaHei" panose="020B0503020204020204" pitchFamily="34" charset="-122"/>
              </a:rPr>
              <a:t>03</a:t>
            </a:r>
            <a:endParaRPr lang="zh-CN" altLang="en-US" sz="3200" b="1" dirty="0">
              <a:solidFill>
                <a:schemeClr val="bg1"/>
              </a:solidFill>
              <a:latin typeface="Microsoft YaHei" panose="020B0503020204020204" pitchFamily="34" charset="-122"/>
              <a:ea typeface="Microsoft YaHei"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8" name="标题 1"/>
          <p:cNvSpPr txBox="1"/>
          <p:nvPr/>
        </p:nvSpPr>
        <p:spPr>
          <a:xfrm>
            <a:off x="2150630" y="296863"/>
            <a:ext cx="3801595" cy="645529"/>
          </a:xfrm>
          <a:prstGeom prst="rect">
            <a:avLst/>
          </a:prstGeom>
        </p:spPr>
        <p:txBody>
          <a:bodyPr/>
          <a:lstStyle>
            <a:lvl1pPr algn="ctr" defTabSz="914400" rtl="0" eaLnBrk="1" latinLnBrk="0" hangingPunct="1">
              <a:lnSpc>
                <a:spcPct val="90000"/>
              </a:lnSpc>
              <a:spcBef>
                <a:spcPct val="0"/>
              </a:spcBef>
              <a:buNone/>
              <a:defRPr sz="4400" b="1" kern="1200">
                <a:solidFill>
                  <a:schemeClr val="tx1">
                    <a:lumMod val="75000"/>
                    <a:lumOff val="25000"/>
                  </a:schemeClr>
                </a:solidFill>
                <a:latin typeface="微软雅黑" panose="020B0503020204020204" pitchFamily="34" charset="-122"/>
                <a:ea typeface="微软雅黑" panose="020B0503020204020204" pitchFamily="34" charset="-122"/>
                <a:cs typeface="+mj-cs"/>
              </a:defRPr>
            </a:lvl1pPr>
          </a:lstStyle>
          <a:p>
            <a:pPr algn="l"/>
            <a:r>
              <a:rPr lang="zh-CN" altLang="en-US" sz="3200" dirty="0">
                <a:solidFill>
                  <a:srgbClr val="263A5E"/>
                </a:solidFill>
                <a:latin typeface="+mj-lt"/>
                <a:ea typeface="华文中宋" panose="02010600040101010101" pitchFamily="2" charset="-122"/>
              </a:rPr>
              <a:t>研究背景</a:t>
            </a:r>
          </a:p>
        </p:txBody>
      </p:sp>
      <p:sp>
        <p:nvSpPr>
          <p:cNvPr id="1048679" name="等腰三角形 3"/>
          <p:cNvSpPr/>
          <p:nvPr/>
        </p:nvSpPr>
        <p:spPr bwMode="auto">
          <a:xfrm flipV="1">
            <a:off x="459276" y="0"/>
            <a:ext cx="1691355" cy="942392"/>
          </a:xfrm>
          <a:prstGeom prst="triangle">
            <a:avLst>
              <a:gd name="adj" fmla="val 49494"/>
            </a:avLst>
          </a:prstGeom>
          <a:solidFill>
            <a:srgbClr val="203864"/>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640080" indent="-182880" algn="l" rtl="0" fontAlgn="base">
              <a:spcBef>
                <a:spcPct val="0"/>
              </a:spcBef>
              <a:spcAft>
                <a:spcPct val="0"/>
              </a:spcAft>
              <a:defRPr kern="1200">
                <a:solidFill>
                  <a:schemeClr val="lt1"/>
                </a:solidFill>
                <a:latin typeface="+mn-lt"/>
                <a:ea typeface="+mn-ea"/>
                <a:cs typeface="+mn-cs"/>
              </a:defRPr>
            </a:lvl2pPr>
            <a:lvl3pPr marL="1282700" indent="-368300" algn="l" rtl="0" fontAlgn="base">
              <a:spcBef>
                <a:spcPct val="0"/>
              </a:spcBef>
              <a:spcAft>
                <a:spcPct val="0"/>
              </a:spcAft>
              <a:defRPr kern="1200">
                <a:solidFill>
                  <a:schemeClr val="lt1"/>
                </a:solidFill>
                <a:latin typeface="+mn-lt"/>
                <a:ea typeface="+mn-ea"/>
                <a:cs typeface="+mn-cs"/>
              </a:defRPr>
            </a:lvl3pPr>
            <a:lvl4pPr marL="1925955" indent="-554355" algn="l" rtl="0" fontAlgn="base">
              <a:spcBef>
                <a:spcPct val="0"/>
              </a:spcBef>
              <a:spcAft>
                <a:spcPct val="0"/>
              </a:spcAft>
              <a:defRPr kern="1200">
                <a:solidFill>
                  <a:schemeClr val="lt1"/>
                </a:solidFill>
                <a:latin typeface="+mn-lt"/>
                <a:ea typeface="+mn-ea"/>
                <a:cs typeface="+mn-cs"/>
              </a:defRPr>
            </a:lvl4pPr>
            <a:lvl5pPr marL="2568575" indent="-739775"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endParaRPr lang="zh-CN" altLang="en-US" dirty="0">
              <a:solidFill>
                <a:prstClr val="white"/>
              </a:solidFill>
              <a:effectLst/>
              <a:latin typeface="华文中宋" panose="02010600040101010101" pitchFamily="2" charset="-122"/>
              <a:ea typeface="华文中宋" panose="02010600040101010101" pitchFamily="2" charset="-122"/>
            </a:endParaRPr>
          </a:p>
        </p:txBody>
      </p:sp>
      <p:pic>
        <p:nvPicPr>
          <p:cNvPr id="2097166" name="图片 5"/>
          <p:cNvPicPr>
            <a:picLocks noChangeAspect="1"/>
          </p:cNvPicPr>
          <p:nvPr/>
        </p:nvPicPr>
        <p:blipFill>
          <a:blip r:embed="rId3" cstate="print"/>
          <a:stretch>
            <a:fillRect/>
          </a:stretch>
        </p:blipFill>
        <p:spPr>
          <a:xfrm>
            <a:off x="10635170" y="103917"/>
            <a:ext cx="1219202" cy="786386"/>
          </a:xfrm>
          <a:prstGeom prst="rect">
            <a:avLst/>
          </a:prstGeom>
        </p:spPr>
      </p:pic>
      <p:cxnSp>
        <p:nvCxnSpPr>
          <p:cNvPr id="3145742" name="直接连接符 8"/>
          <p:cNvCxnSpPr/>
          <p:nvPr/>
        </p:nvCxnSpPr>
        <p:spPr>
          <a:xfrm>
            <a:off x="2196000" y="936000"/>
            <a:ext cx="8280000" cy="0"/>
          </a:xfrm>
          <a:prstGeom prst="line">
            <a:avLst/>
          </a:prstGeom>
          <a:ln w="41275">
            <a:solidFill>
              <a:schemeClr val="accent1">
                <a:lumMod val="50000"/>
              </a:schemeClr>
            </a:solidFill>
          </a:ln>
        </p:spPr>
        <p:style>
          <a:lnRef idx="1">
            <a:schemeClr val="dk1"/>
          </a:lnRef>
          <a:fillRef idx="0">
            <a:schemeClr val="dk1"/>
          </a:fillRef>
          <a:effectRef idx="0">
            <a:schemeClr val="dk1"/>
          </a:effectRef>
          <a:fontRef idx="minor">
            <a:schemeClr val="tx1"/>
          </a:fontRef>
        </p:style>
      </p:cxnSp>
      <p:sp>
        <p:nvSpPr>
          <p:cNvPr id="3" name="灯片编号占位符 2"/>
          <p:cNvSpPr>
            <a:spLocks noGrp="1"/>
          </p:cNvSpPr>
          <p:nvPr>
            <p:ph type="sldNum" sz="quarter" idx="12"/>
          </p:nvPr>
        </p:nvSpPr>
        <p:spPr/>
        <p:txBody>
          <a:bodyPr/>
          <a:lstStyle/>
          <a:p>
            <a:fld id="{4C728F51-6063-40BC-906F-D6FBF0AE26BF}" type="slidenum">
              <a:rPr lang="zh-CN" altLang="en-US" smtClean="0"/>
              <a:t>3</a:t>
            </a:fld>
            <a:endParaRPr lang="zh-CN" altLang="en-US"/>
          </a:p>
        </p:txBody>
      </p:sp>
      <p:sp>
        <p:nvSpPr>
          <p:cNvPr id="13" name="文本占位符 2"/>
          <p:cNvSpPr txBox="1"/>
          <p:nvPr/>
        </p:nvSpPr>
        <p:spPr>
          <a:xfrm>
            <a:off x="924180" y="104570"/>
            <a:ext cx="832757" cy="5630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mn-lt"/>
                <a:ea typeface="华文中宋" panose="02010600040101010101" pitchFamily="2" charset="-122"/>
              </a:rPr>
              <a:t>01</a:t>
            </a:r>
            <a:endParaRPr lang="zh-CN" altLang="en-US" dirty="0">
              <a:latin typeface="+mn-lt"/>
              <a:ea typeface="华文中宋" panose="02010600040101010101" pitchFamily="2" charset="-122"/>
            </a:endParaRPr>
          </a:p>
        </p:txBody>
      </p:sp>
      <p:sp>
        <p:nvSpPr>
          <p:cNvPr id="2" name="文本框 1">
            <a:extLst>
              <a:ext uri="{FF2B5EF4-FFF2-40B4-BE49-F238E27FC236}">
                <a16:creationId xmlns:a16="http://schemas.microsoft.com/office/drawing/2014/main" id="{B6852E36-D523-A6AC-34F5-2AE6977A9BF2}"/>
              </a:ext>
            </a:extLst>
          </p:cNvPr>
          <p:cNvSpPr txBox="1"/>
          <p:nvPr/>
        </p:nvSpPr>
        <p:spPr>
          <a:xfrm>
            <a:off x="459276" y="1259841"/>
            <a:ext cx="6002484" cy="3693319"/>
          </a:xfrm>
          <a:prstGeom prst="rect">
            <a:avLst/>
          </a:prstGeom>
          <a:noFill/>
        </p:spPr>
        <p:txBody>
          <a:bodyPr wrap="square" rtlCol="0">
            <a:spAutoFit/>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4" name="文本框 3">
            <a:extLst>
              <a:ext uri="{FF2B5EF4-FFF2-40B4-BE49-F238E27FC236}">
                <a16:creationId xmlns:a16="http://schemas.microsoft.com/office/drawing/2014/main" id="{A41F1646-E9C8-3C01-C805-072DB0FFDC05}"/>
              </a:ext>
            </a:extLst>
          </p:cNvPr>
          <p:cNvSpPr txBox="1"/>
          <p:nvPr/>
        </p:nvSpPr>
        <p:spPr>
          <a:xfrm>
            <a:off x="315310" y="1387366"/>
            <a:ext cx="7315200" cy="4939814"/>
          </a:xfrm>
          <a:prstGeom prst="rect">
            <a:avLst/>
          </a:prstGeom>
          <a:noFill/>
        </p:spPr>
        <p:txBody>
          <a:bodyPr wrap="square" rtlCol="0">
            <a:spAutoFit/>
          </a:bodyPr>
          <a:lstStyle/>
          <a:p>
            <a:pPr indent="720000">
              <a:lnSpc>
                <a:spcPct val="150000"/>
              </a:lnSpc>
            </a:pPr>
            <a:r>
              <a:rPr lang="en-US" altLang="zh-CN" sz="1200" baseline="30000" dirty="0">
                <a:solidFill>
                  <a:srgbClr val="FF0000"/>
                </a:solidFill>
              </a:rPr>
              <a:t>[1]</a:t>
            </a:r>
            <a:r>
              <a:rPr lang="zh-CN" altLang="zh-CN" dirty="0">
                <a:solidFill>
                  <a:srgbClr val="FF0000"/>
                </a:solidFill>
              </a:rPr>
              <a:t>随着城市基础设施的不断发展，地下管线已广泛分布于城市各区域，形成庞大而复杂的</a:t>
            </a:r>
            <a:r>
              <a:rPr lang="en-US" altLang="zh-CN" dirty="0">
                <a:solidFill>
                  <a:srgbClr val="FF0000"/>
                </a:solidFill>
              </a:rPr>
              <a:t>“</a:t>
            </a:r>
            <a:r>
              <a:rPr lang="zh-CN" altLang="zh-CN" dirty="0">
                <a:solidFill>
                  <a:srgbClr val="FF0000"/>
                </a:solidFill>
              </a:rPr>
              <a:t>城市生命线系统</a:t>
            </a:r>
            <a:r>
              <a:rPr lang="en-US" altLang="zh-CN" dirty="0">
                <a:solidFill>
                  <a:srgbClr val="FF0000"/>
                </a:solidFill>
              </a:rPr>
              <a:t>”</a:t>
            </a:r>
            <a:r>
              <a:rPr lang="zh-CN" altLang="zh-CN" dirty="0">
                <a:solidFill>
                  <a:srgbClr val="FF0000"/>
                </a:solidFill>
              </a:rPr>
              <a:t>。然而</a:t>
            </a:r>
            <a:r>
              <a:rPr lang="zh-CN" altLang="zh-CN" dirty="0"/>
              <a:t>，由于地下管线隐蔽性强，</a:t>
            </a:r>
            <a:r>
              <a:rPr lang="zh-CN" altLang="zh-CN" dirty="0">
                <a:solidFill>
                  <a:srgbClr val="FF0000"/>
                </a:solidFill>
              </a:rPr>
              <a:t>近年来误挖、误碰地下管网的事件频发</a:t>
            </a:r>
            <a:r>
              <a:rPr lang="zh-CN" altLang="zh-CN" dirty="0"/>
              <a:t>。</a:t>
            </a:r>
            <a:endParaRPr lang="en-US" altLang="zh-CN" dirty="0"/>
          </a:p>
          <a:p>
            <a:pPr indent="720000">
              <a:lnSpc>
                <a:spcPct val="150000"/>
              </a:lnSpc>
            </a:pPr>
            <a:r>
              <a:rPr lang="zh-CN" altLang="zh-CN" dirty="0"/>
              <a:t>传统的地下管线保护方式依然主要依赖人工巡检、图纸查询和被动响应</a:t>
            </a:r>
            <a:r>
              <a:rPr lang="zh-CN" altLang="en-US" dirty="0"/>
              <a:t>等方式</a:t>
            </a:r>
            <a:r>
              <a:rPr lang="zh-CN" altLang="zh-CN" dirty="0"/>
              <a:t>，</a:t>
            </a:r>
            <a:r>
              <a:rPr lang="en-US" altLang="zh-CN" sz="1200" baseline="30000" dirty="0"/>
              <a:t>[2]</a:t>
            </a:r>
            <a:r>
              <a:rPr lang="zh-CN" altLang="en-US" dirty="0">
                <a:solidFill>
                  <a:srgbClr val="FF0000"/>
                </a:solidFill>
              </a:rPr>
              <a:t>由于</a:t>
            </a:r>
            <a:r>
              <a:rPr lang="zh-CN" altLang="zh-CN" dirty="0">
                <a:solidFill>
                  <a:srgbClr val="FF0000"/>
                </a:solidFill>
              </a:rPr>
              <a:t>施工单位</a:t>
            </a:r>
            <a:r>
              <a:rPr lang="zh-CN" altLang="en-US" dirty="0">
                <a:solidFill>
                  <a:srgbClr val="FF0000"/>
                </a:solidFill>
              </a:rPr>
              <a:t>存在侥幸心理</a:t>
            </a:r>
            <a:r>
              <a:rPr lang="zh-CN" altLang="zh-CN" dirty="0">
                <a:solidFill>
                  <a:srgbClr val="FF0000"/>
                </a:solidFill>
              </a:rPr>
              <a:t>或监管资源有限</a:t>
            </a:r>
            <a:r>
              <a:rPr lang="zh-CN" altLang="zh-CN" dirty="0"/>
              <a:t>，现有手段在作业发现、响应效率和精度上存在明显短板，</a:t>
            </a:r>
            <a:r>
              <a:rPr lang="zh-CN" altLang="zh-CN" dirty="0">
                <a:solidFill>
                  <a:srgbClr val="FF0000"/>
                </a:solidFill>
              </a:rPr>
              <a:t>难以满足现代城市建设中对实时感知与风险预警的需求。</a:t>
            </a:r>
            <a:endParaRPr lang="en-US" altLang="zh-CN" dirty="0">
              <a:solidFill>
                <a:srgbClr val="FF0000"/>
              </a:solidFill>
            </a:endParaRPr>
          </a:p>
          <a:p>
            <a:pPr indent="720000">
              <a:lnSpc>
                <a:spcPct val="150000"/>
              </a:lnSpc>
            </a:pPr>
            <a:r>
              <a:rPr lang="en-US" altLang="zh-CN" sz="1200" baseline="30000" dirty="0"/>
              <a:t>[3]</a:t>
            </a:r>
            <a:r>
              <a:rPr lang="zh-CN" altLang="zh-CN" dirty="0">
                <a:solidFill>
                  <a:srgbClr val="FF0000"/>
                </a:solidFill>
              </a:rPr>
              <a:t>在此背景下</a:t>
            </a:r>
            <a:r>
              <a:rPr lang="zh-CN" altLang="zh-CN" dirty="0"/>
              <a:t>，本研究面向泛化场景下的管线保护需求，提出一种基于多视角拼接</a:t>
            </a:r>
            <a:r>
              <a:rPr lang="en-US" altLang="zh-CN" dirty="0"/>
              <a:t>,</a:t>
            </a:r>
            <a:r>
              <a:rPr lang="zh-CN" altLang="zh-CN" dirty="0"/>
              <a:t>目标检测</a:t>
            </a:r>
            <a:r>
              <a:rPr lang="en-US" altLang="zh-CN" dirty="0"/>
              <a:t>,</a:t>
            </a:r>
            <a:r>
              <a:rPr lang="zh-CN" altLang="zh-CN" dirty="0"/>
              <a:t>空间定位的综合方法，用于自动监测挖掘设备是否靠近地下管线保护区，并实现实时风险预警。提升了地下管线巡检与保护的自动化与智能化水平</a:t>
            </a:r>
            <a:r>
              <a:rPr lang="zh-CN" altLang="en-US" dirty="0"/>
              <a:t>。</a:t>
            </a:r>
            <a:endParaRPr lang="zh-CN" altLang="zh-CN" dirty="0"/>
          </a:p>
          <a:p>
            <a:endParaRPr lang="zh-CN" altLang="en-US" dirty="0"/>
          </a:p>
        </p:txBody>
      </p:sp>
      <p:pic>
        <p:nvPicPr>
          <p:cNvPr id="7" name="图片 6">
            <a:extLst>
              <a:ext uri="{FF2B5EF4-FFF2-40B4-BE49-F238E27FC236}">
                <a16:creationId xmlns:a16="http://schemas.microsoft.com/office/drawing/2014/main" id="{38CFD3C7-3412-4E8F-7C00-063FF2080A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23792" y="2657454"/>
            <a:ext cx="3638550" cy="23431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C591B5-5C18-0A7F-1376-FDBEF3415937}"/>
            </a:ext>
          </a:extLst>
        </p:cNvPr>
        <p:cNvGrpSpPr/>
        <p:nvPr/>
      </p:nvGrpSpPr>
      <p:grpSpPr>
        <a:xfrm>
          <a:off x="0" y="0"/>
          <a:ext cx="0" cy="0"/>
          <a:chOff x="0" y="0"/>
          <a:chExt cx="0" cy="0"/>
        </a:xfrm>
      </p:grpSpPr>
      <p:sp>
        <p:nvSpPr>
          <p:cNvPr id="1048678" name="标题 1">
            <a:extLst>
              <a:ext uri="{FF2B5EF4-FFF2-40B4-BE49-F238E27FC236}">
                <a16:creationId xmlns:a16="http://schemas.microsoft.com/office/drawing/2014/main" id="{18B2F140-947A-9B6C-8340-370EAD433C8C}"/>
              </a:ext>
            </a:extLst>
          </p:cNvPr>
          <p:cNvSpPr txBox="1"/>
          <p:nvPr/>
        </p:nvSpPr>
        <p:spPr>
          <a:xfrm>
            <a:off x="2150630" y="296863"/>
            <a:ext cx="3801595" cy="645529"/>
          </a:xfrm>
          <a:prstGeom prst="rect">
            <a:avLst/>
          </a:prstGeom>
        </p:spPr>
        <p:txBody>
          <a:bodyPr/>
          <a:lstStyle>
            <a:lvl1pPr algn="ctr" defTabSz="914400" rtl="0" eaLnBrk="1" latinLnBrk="0" hangingPunct="1">
              <a:lnSpc>
                <a:spcPct val="90000"/>
              </a:lnSpc>
              <a:spcBef>
                <a:spcPct val="0"/>
              </a:spcBef>
              <a:buNone/>
              <a:defRPr sz="4400" b="1" kern="1200">
                <a:solidFill>
                  <a:schemeClr val="tx1">
                    <a:lumMod val="75000"/>
                    <a:lumOff val="25000"/>
                  </a:schemeClr>
                </a:solidFill>
                <a:latin typeface="微软雅黑" panose="020B0503020204020204" pitchFamily="34" charset="-122"/>
                <a:ea typeface="微软雅黑" panose="020B0503020204020204" pitchFamily="34" charset="-122"/>
                <a:cs typeface="+mj-cs"/>
              </a:defRPr>
            </a:lvl1pPr>
          </a:lstStyle>
          <a:p>
            <a:pPr algn="l"/>
            <a:r>
              <a:rPr lang="zh-CN" altLang="en-US" sz="3200" dirty="0">
                <a:solidFill>
                  <a:srgbClr val="263A5E"/>
                </a:solidFill>
                <a:latin typeface="+mj-lt"/>
                <a:ea typeface="华文中宋" panose="02010600040101010101" pitchFamily="2" charset="-122"/>
              </a:rPr>
              <a:t>目标检测及定位</a:t>
            </a:r>
          </a:p>
        </p:txBody>
      </p:sp>
      <p:sp>
        <p:nvSpPr>
          <p:cNvPr id="1048679" name="等腰三角形 3">
            <a:extLst>
              <a:ext uri="{FF2B5EF4-FFF2-40B4-BE49-F238E27FC236}">
                <a16:creationId xmlns:a16="http://schemas.microsoft.com/office/drawing/2014/main" id="{52D2137F-9A80-5D65-1D5C-0C000455E45A}"/>
              </a:ext>
            </a:extLst>
          </p:cNvPr>
          <p:cNvSpPr/>
          <p:nvPr/>
        </p:nvSpPr>
        <p:spPr bwMode="auto">
          <a:xfrm flipV="1">
            <a:off x="459276" y="0"/>
            <a:ext cx="1691355" cy="942392"/>
          </a:xfrm>
          <a:prstGeom prst="triangle">
            <a:avLst>
              <a:gd name="adj" fmla="val 49494"/>
            </a:avLst>
          </a:prstGeom>
          <a:solidFill>
            <a:srgbClr val="203864"/>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640080" indent="-182880" algn="l" rtl="0" fontAlgn="base">
              <a:spcBef>
                <a:spcPct val="0"/>
              </a:spcBef>
              <a:spcAft>
                <a:spcPct val="0"/>
              </a:spcAft>
              <a:defRPr kern="1200">
                <a:solidFill>
                  <a:schemeClr val="lt1"/>
                </a:solidFill>
                <a:latin typeface="+mn-lt"/>
                <a:ea typeface="+mn-ea"/>
                <a:cs typeface="+mn-cs"/>
              </a:defRPr>
            </a:lvl2pPr>
            <a:lvl3pPr marL="1282700" indent="-368300" algn="l" rtl="0" fontAlgn="base">
              <a:spcBef>
                <a:spcPct val="0"/>
              </a:spcBef>
              <a:spcAft>
                <a:spcPct val="0"/>
              </a:spcAft>
              <a:defRPr kern="1200">
                <a:solidFill>
                  <a:schemeClr val="lt1"/>
                </a:solidFill>
                <a:latin typeface="+mn-lt"/>
                <a:ea typeface="+mn-ea"/>
                <a:cs typeface="+mn-cs"/>
              </a:defRPr>
            </a:lvl3pPr>
            <a:lvl4pPr marL="1925955" indent="-554355" algn="l" rtl="0" fontAlgn="base">
              <a:spcBef>
                <a:spcPct val="0"/>
              </a:spcBef>
              <a:spcAft>
                <a:spcPct val="0"/>
              </a:spcAft>
              <a:defRPr kern="1200">
                <a:solidFill>
                  <a:schemeClr val="lt1"/>
                </a:solidFill>
                <a:latin typeface="+mn-lt"/>
                <a:ea typeface="+mn-ea"/>
                <a:cs typeface="+mn-cs"/>
              </a:defRPr>
            </a:lvl4pPr>
            <a:lvl5pPr marL="2568575" indent="-739775"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endParaRPr lang="zh-CN" altLang="en-US" dirty="0">
              <a:solidFill>
                <a:prstClr val="white"/>
              </a:solidFill>
              <a:effectLst/>
              <a:latin typeface="华文中宋" panose="02010600040101010101" pitchFamily="2" charset="-122"/>
              <a:ea typeface="华文中宋" panose="02010600040101010101" pitchFamily="2" charset="-122"/>
            </a:endParaRPr>
          </a:p>
        </p:txBody>
      </p:sp>
      <p:pic>
        <p:nvPicPr>
          <p:cNvPr id="2097166" name="图片 5">
            <a:extLst>
              <a:ext uri="{FF2B5EF4-FFF2-40B4-BE49-F238E27FC236}">
                <a16:creationId xmlns:a16="http://schemas.microsoft.com/office/drawing/2014/main" id="{AEF36C24-B013-B73F-8236-61DF7DECAB39}"/>
              </a:ext>
            </a:extLst>
          </p:cNvPr>
          <p:cNvPicPr>
            <a:picLocks noChangeAspect="1"/>
          </p:cNvPicPr>
          <p:nvPr/>
        </p:nvPicPr>
        <p:blipFill>
          <a:blip r:embed="rId3" cstate="print"/>
          <a:stretch>
            <a:fillRect/>
          </a:stretch>
        </p:blipFill>
        <p:spPr>
          <a:xfrm>
            <a:off x="10635170" y="103917"/>
            <a:ext cx="1219202" cy="786386"/>
          </a:xfrm>
          <a:prstGeom prst="rect">
            <a:avLst/>
          </a:prstGeom>
        </p:spPr>
      </p:pic>
      <p:cxnSp>
        <p:nvCxnSpPr>
          <p:cNvPr id="3145742" name="直接连接符 8">
            <a:extLst>
              <a:ext uri="{FF2B5EF4-FFF2-40B4-BE49-F238E27FC236}">
                <a16:creationId xmlns:a16="http://schemas.microsoft.com/office/drawing/2014/main" id="{7AC8232C-3B24-8595-A0B6-54666A8DBAF7}"/>
              </a:ext>
            </a:extLst>
          </p:cNvPr>
          <p:cNvCxnSpPr/>
          <p:nvPr/>
        </p:nvCxnSpPr>
        <p:spPr>
          <a:xfrm>
            <a:off x="2196000" y="936000"/>
            <a:ext cx="8280000" cy="0"/>
          </a:xfrm>
          <a:prstGeom prst="line">
            <a:avLst/>
          </a:prstGeom>
          <a:ln w="41275">
            <a:solidFill>
              <a:schemeClr val="accent1">
                <a:lumMod val="50000"/>
              </a:schemeClr>
            </a:solidFill>
          </a:ln>
        </p:spPr>
        <p:style>
          <a:lnRef idx="1">
            <a:schemeClr val="dk1"/>
          </a:lnRef>
          <a:fillRef idx="0">
            <a:schemeClr val="dk1"/>
          </a:fillRef>
          <a:effectRef idx="0">
            <a:schemeClr val="dk1"/>
          </a:effectRef>
          <a:fontRef idx="minor">
            <a:schemeClr val="tx1"/>
          </a:fontRef>
        </p:style>
      </p:cxnSp>
      <p:sp>
        <p:nvSpPr>
          <p:cNvPr id="3" name="灯片编号占位符 2">
            <a:extLst>
              <a:ext uri="{FF2B5EF4-FFF2-40B4-BE49-F238E27FC236}">
                <a16:creationId xmlns:a16="http://schemas.microsoft.com/office/drawing/2014/main" id="{536FCA2C-B129-4189-EC2D-4D0CE06C3F97}"/>
              </a:ext>
            </a:extLst>
          </p:cNvPr>
          <p:cNvSpPr>
            <a:spLocks noGrp="1"/>
          </p:cNvSpPr>
          <p:nvPr>
            <p:ph type="sldNum" sz="quarter" idx="12"/>
          </p:nvPr>
        </p:nvSpPr>
        <p:spPr/>
        <p:txBody>
          <a:bodyPr/>
          <a:lstStyle/>
          <a:p>
            <a:fld id="{4C728F51-6063-40BC-906F-D6FBF0AE26BF}" type="slidenum">
              <a:rPr lang="zh-CN" altLang="en-US" smtClean="0"/>
              <a:t>4</a:t>
            </a:fld>
            <a:endParaRPr lang="zh-CN" altLang="en-US"/>
          </a:p>
        </p:txBody>
      </p:sp>
      <p:sp>
        <p:nvSpPr>
          <p:cNvPr id="13" name="文本占位符 2">
            <a:extLst>
              <a:ext uri="{FF2B5EF4-FFF2-40B4-BE49-F238E27FC236}">
                <a16:creationId xmlns:a16="http://schemas.microsoft.com/office/drawing/2014/main" id="{76673D2F-6985-BE03-AE63-292363C92148}"/>
              </a:ext>
            </a:extLst>
          </p:cNvPr>
          <p:cNvSpPr txBox="1"/>
          <p:nvPr/>
        </p:nvSpPr>
        <p:spPr>
          <a:xfrm>
            <a:off x="924180" y="104570"/>
            <a:ext cx="832757" cy="5630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mn-lt"/>
                <a:ea typeface="华文中宋" panose="02010600040101010101" pitchFamily="2" charset="-122"/>
              </a:rPr>
              <a:t>02</a:t>
            </a:r>
            <a:endParaRPr lang="zh-CN" altLang="en-US" dirty="0">
              <a:latin typeface="+mn-lt"/>
              <a:ea typeface="华文中宋" panose="02010600040101010101" pitchFamily="2" charset="-122"/>
            </a:endParaRPr>
          </a:p>
        </p:txBody>
      </p:sp>
      <p:grpSp>
        <p:nvGrpSpPr>
          <p:cNvPr id="2097161" name="组合 2097160">
            <a:extLst>
              <a:ext uri="{FF2B5EF4-FFF2-40B4-BE49-F238E27FC236}">
                <a16:creationId xmlns:a16="http://schemas.microsoft.com/office/drawing/2014/main" id="{E3CF918E-1E3D-5639-4048-BFC9F98AFE6F}"/>
              </a:ext>
            </a:extLst>
          </p:cNvPr>
          <p:cNvGrpSpPr/>
          <p:nvPr/>
        </p:nvGrpSpPr>
        <p:grpSpPr>
          <a:xfrm>
            <a:off x="1060222" y="1143442"/>
            <a:ext cx="5848104" cy="5267903"/>
            <a:chOff x="1191793" y="1088446"/>
            <a:chExt cx="5848104" cy="5267903"/>
          </a:xfrm>
        </p:grpSpPr>
        <p:cxnSp>
          <p:nvCxnSpPr>
            <p:cNvPr id="35" name="直接箭头连接符 34">
              <a:extLst>
                <a:ext uri="{FF2B5EF4-FFF2-40B4-BE49-F238E27FC236}">
                  <a16:creationId xmlns:a16="http://schemas.microsoft.com/office/drawing/2014/main" id="{59D7D929-E6B7-739C-71FF-03BAB64FCC92}"/>
                </a:ext>
              </a:extLst>
            </p:cNvPr>
            <p:cNvCxnSpPr>
              <a:stCxn id="4" idx="2"/>
              <a:endCxn id="33" idx="0"/>
            </p:cNvCxnSpPr>
            <p:nvPr/>
          </p:nvCxnSpPr>
          <p:spPr>
            <a:xfrm flipH="1">
              <a:off x="4115845" y="3808100"/>
              <a:ext cx="1" cy="34172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47873F55-D56A-F19B-1426-5E25D847A03E}"/>
                </a:ext>
              </a:extLst>
            </p:cNvPr>
            <p:cNvCxnSpPr>
              <a:stCxn id="33" idx="2"/>
              <a:endCxn id="43" idx="0"/>
            </p:cNvCxnSpPr>
            <p:nvPr/>
          </p:nvCxnSpPr>
          <p:spPr>
            <a:xfrm>
              <a:off x="4115845" y="4426825"/>
              <a:ext cx="0" cy="27480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097160" name="组合 2097159">
              <a:extLst>
                <a:ext uri="{FF2B5EF4-FFF2-40B4-BE49-F238E27FC236}">
                  <a16:creationId xmlns:a16="http://schemas.microsoft.com/office/drawing/2014/main" id="{A6459D80-E867-9FA2-0038-32C1AA0543DD}"/>
                </a:ext>
              </a:extLst>
            </p:cNvPr>
            <p:cNvGrpSpPr/>
            <p:nvPr/>
          </p:nvGrpSpPr>
          <p:grpSpPr>
            <a:xfrm>
              <a:off x="1191793" y="1088446"/>
              <a:ext cx="5848104" cy="5267903"/>
              <a:chOff x="1191793" y="1088446"/>
              <a:chExt cx="5848104" cy="5267903"/>
            </a:xfrm>
          </p:grpSpPr>
          <p:cxnSp>
            <p:nvCxnSpPr>
              <p:cNvPr id="57" name="直接箭头连接符 56">
                <a:extLst>
                  <a:ext uri="{FF2B5EF4-FFF2-40B4-BE49-F238E27FC236}">
                    <a16:creationId xmlns:a16="http://schemas.microsoft.com/office/drawing/2014/main" id="{1E4C3422-E886-D722-7D89-2C8DC9E0322A}"/>
                  </a:ext>
                </a:extLst>
              </p:cNvPr>
              <p:cNvCxnSpPr>
                <a:stCxn id="5" idx="2"/>
                <a:endCxn id="6" idx="0"/>
              </p:cNvCxnSpPr>
              <p:nvPr/>
            </p:nvCxnSpPr>
            <p:spPr>
              <a:xfrm flipH="1">
                <a:off x="4115846" y="1347321"/>
                <a:ext cx="1" cy="2381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3F779923-0545-812F-2F8A-DF96AFEE6C56}"/>
                  </a:ext>
                </a:extLst>
              </p:cNvPr>
              <p:cNvCxnSpPr>
                <a:stCxn id="6" idx="2"/>
                <a:endCxn id="4" idx="0"/>
              </p:cNvCxnSpPr>
              <p:nvPr/>
            </p:nvCxnSpPr>
            <p:spPr>
              <a:xfrm>
                <a:off x="4115846" y="2016893"/>
                <a:ext cx="0" cy="18321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097157" name="组合 2097156">
                <a:extLst>
                  <a:ext uri="{FF2B5EF4-FFF2-40B4-BE49-F238E27FC236}">
                    <a16:creationId xmlns:a16="http://schemas.microsoft.com/office/drawing/2014/main" id="{51135A17-FD61-1B39-0195-19D157F646B3}"/>
                  </a:ext>
                </a:extLst>
              </p:cNvPr>
              <p:cNvGrpSpPr/>
              <p:nvPr/>
            </p:nvGrpSpPr>
            <p:grpSpPr>
              <a:xfrm>
                <a:off x="1191793" y="1088446"/>
                <a:ext cx="5848104" cy="5267903"/>
                <a:chOff x="1191793" y="1088447"/>
                <a:chExt cx="6929652" cy="5267904"/>
              </a:xfrm>
            </p:grpSpPr>
            <p:sp>
              <p:nvSpPr>
                <p:cNvPr id="2097152" name="文本框 2097151">
                  <a:extLst>
                    <a:ext uri="{FF2B5EF4-FFF2-40B4-BE49-F238E27FC236}">
                      <a16:creationId xmlns:a16="http://schemas.microsoft.com/office/drawing/2014/main" id="{F673476E-62F1-EF37-3555-DE67A518D7B7}"/>
                    </a:ext>
                  </a:extLst>
                </p:cNvPr>
                <p:cNvSpPr txBox="1"/>
                <p:nvPr/>
              </p:nvSpPr>
              <p:spPr>
                <a:xfrm>
                  <a:off x="4670881" y="3876575"/>
                  <a:ext cx="2282294" cy="230832"/>
                </a:xfrm>
                <a:prstGeom prst="rect">
                  <a:avLst/>
                </a:prstGeom>
                <a:noFill/>
                <a:ln cmpd="sng">
                  <a:noFill/>
                </a:ln>
              </p:spPr>
              <p:txBody>
                <a:bodyPr wrap="square" rtlCol="0">
                  <a:spAutoFit/>
                </a:bodyPr>
                <a:lstStyle/>
                <a:p>
                  <a:pPr algn="l"/>
                  <a:r>
                    <a:rPr lang="zh-CN" altLang="en-US" sz="900" dirty="0"/>
                    <a:t>拼接图</a:t>
                  </a:r>
                </a:p>
              </p:txBody>
            </p:sp>
            <p:grpSp>
              <p:nvGrpSpPr>
                <p:cNvPr id="2097156" name="组合 2097155">
                  <a:extLst>
                    <a:ext uri="{FF2B5EF4-FFF2-40B4-BE49-F238E27FC236}">
                      <a16:creationId xmlns:a16="http://schemas.microsoft.com/office/drawing/2014/main" id="{BAA89BD2-4EB3-D9D9-C894-E3547FA5739E}"/>
                    </a:ext>
                  </a:extLst>
                </p:cNvPr>
                <p:cNvGrpSpPr/>
                <p:nvPr/>
              </p:nvGrpSpPr>
              <p:grpSpPr>
                <a:xfrm>
                  <a:off x="1191793" y="1088447"/>
                  <a:ext cx="6929652" cy="5267904"/>
                  <a:chOff x="1191793" y="1088446"/>
                  <a:chExt cx="4969619" cy="6537707"/>
                </a:xfrm>
              </p:grpSpPr>
              <p:sp>
                <p:nvSpPr>
                  <p:cNvPr id="5" name="矩形: 圆角 4">
                    <a:extLst>
                      <a:ext uri="{FF2B5EF4-FFF2-40B4-BE49-F238E27FC236}">
                        <a16:creationId xmlns:a16="http://schemas.microsoft.com/office/drawing/2014/main" id="{FC85E316-CADA-F684-4EEC-2A28301B5BEC}"/>
                      </a:ext>
                    </a:extLst>
                  </p:cNvPr>
                  <p:cNvSpPr/>
                  <p:nvPr/>
                </p:nvSpPr>
                <p:spPr>
                  <a:xfrm>
                    <a:off x="3301783" y="1088446"/>
                    <a:ext cx="749643" cy="32127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开始</a:t>
                    </a:r>
                  </a:p>
                </p:txBody>
              </p:sp>
              <p:sp>
                <p:nvSpPr>
                  <p:cNvPr id="6" name="矩形 5">
                    <a:extLst>
                      <a:ext uri="{FF2B5EF4-FFF2-40B4-BE49-F238E27FC236}">
                        <a16:creationId xmlns:a16="http://schemas.microsoft.com/office/drawing/2014/main" id="{7C1151FA-D274-E1AC-B3A6-693AAEDEDC0D}"/>
                      </a:ext>
                    </a:extLst>
                  </p:cNvPr>
                  <p:cNvSpPr/>
                  <p:nvPr/>
                </p:nvSpPr>
                <p:spPr>
                  <a:xfrm>
                    <a:off x="2654317" y="1705232"/>
                    <a:ext cx="2044573" cy="53545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三视图图像输入</a:t>
                    </a:r>
                  </a:p>
                </p:txBody>
              </p:sp>
              <p:grpSp>
                <p:nvGrpSpPr>
                  <p:cNvPr id="2097154" name="组合 2097153">
                    <a:extLst>
                      <a:ext uri="{FF2B5EF4-FFF2-40B4-BE49-F238E27FC236}">
                        <a16:creationId xmlns:a16="http://schemas.microsoft.com/office/drawing/2014/main" id="{B175047E-6F9B-2DD3-583D-3D5C3D3EE2FA}"/>
                      </a:ext>
                    </a:extLst>
                  </p:cNvPr>
                  <p:cNvGrpSpPr/>
                  <p:nvPr/>
                </p:nvGrpSpPr>
                <p:grpSpPr>
                  <a:xfrm>
                    <a:off x="1191794" y="2468072"/>
                    <a:ext cx="4969618" cy="1995589"/>
                    <a:chOff x="1191794" y="2468072"/>
                    <a:chExt cx="4969618" cy="1995589"/>
                  </a:xfrm>
                </p:grpSpPr>
                <p:sp>
                  <p:nvSpPr>
                    <p:cNvPr id="4" name="文本框 3">
                      <a:extLst>
                        <a:ext uri="{FF2B5EF4-FFF2-40B4-BE49-F238E27FC236}">
                          <a16:creationId xmlns:a16="http://schemas.microsoft.com/office/drawing/2014/main" id="{8FFF7297-3FB3-5B54-C48D-F5EF8BB76747}"/>
                        </a:ext>
                      </a:extLst>
                    </p:cNvPr>
                    <p:cNvSpPr txBox="1"/>
                    <p:nvPr/>
                  </p:nvSpPr>
                  <p:spPr>
                    <a:xfrm>
                      <a:off x="1191794" y="2468072"/>
                      <a:ext cx="4969618" cy="1995589"/>
                    </a:xfrm>
                    <a:prstGeom prst="rect">
                      <a:avLst/>
                    </a:prstGeom>
                    <a:noFill/>
                    <a:ln cmpd="sng">
                      <a:solidFill>
                        <a:schemeClr val="tx1"/>
                      </a:solidFill>
                    </a:ln>
                  </p:spPr>
                  <p:txBody>
                    <a:bodyPr wrap="square" rtlCol="0">
                      <a:spAutoFit/>
                    </a:bodyPr>
                    <a:lstStyle/>
                    <a:p>
                      <a:endParaRPr lang="zh-CN" altLang="en-US" dirty="0"/>
                    </a:p>
                  </p:txBody>
                </p:sp>
                <p:sp>
                  <p:nvSpPr>
                    <p:cNvPr id="7" name="矩形 6">
                      <a:extLst>
                        <a:ext uri="{FF2B5EF4-FFF2-40B4-BE49-F238E27FC236}">
                          <a16:creationId xmlns:a16="http://schemas.microsoft.com/office/drawing/2014/main" id="{D4AB7BEA-635B-6B16-600D-4E4EC59F138C}"/>
                        </a:ext>
                      </a:extLst>
                    </p:cNvPr>
                    <p:cNvSpPr/>
                    <p:nvPr/>
                  </p:nvSpPr>
                  <p:spPr>
                    <a:xfrm>
                      <a:off x="2932845" y="2541307"/>
                      <a:ext cx="2023517" cy="3418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三视图拼接模块</a:t>
                      </a:r>
                    </a:p>
                  </p:txBody>
                </p:sp>
                <p:sp>
                  <p:nvSpPr>
                    <p:cNvPr id="8" name="矩形 7">
                      <a:extLst>
                        <a:ext uri="{FF2B5EF4-FFF2-40B4-BE49-F238E27FC236}">
                          <a16:creationId xmlns:a16="http://schemas.microsoft.com/office/drawing/2014/main" id="{4D487A97-B9D9-C839-1425-8E0909C0EB4A}"/>
                        </a:ext>
                      </a:extLst>
                    </p:cNvPr>
                    <p:cNvSpPr/>
                    <p:nvPr/>
                  </p:nvSpPr>
                  <p:spPr>
                    <a:xfrm>
                      <a:off x="1577879" y="3071704"/>
                      <a:ext cx="1428400" cy="23941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rPr>
                        <a:t>特征检测匹配</a:t>
                      </a:r>
                    </a:p>
                  </p:txBody>
                </p:sp>
                <p:sp>
                  <p:nvSpPr>
                    <p:cNvPr id="9" name="矩形 8">
                      <a:extLst>
                        <a:ext uri="{FF2B5EF4-FFF2-40B4-BE49-F238E27FC236}">
                          <a16:creationId xmlns:a16="http://schemas.microsoft.com/office/drawing/2014/main" id="{3D675F9A-11B5-ECC5-02AF-8766139F9E9A}"/>
                        </a:ext>
                      </a:extLst>
                    </p:cNvPr>
                    <p:cNvSpPr/>
                    <p:nvPr/>
                  </p:nvSpPr>
                  <p:spPr>
                    <a:xfrm>
                      <a:off x="3230403" y="3071703"/>
                      <a:ext cx="1428400" cy="23941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rPr>
                        <a:t>线段检测匹配</a:t>
                      </a:r>
                    </a:p>
                  </p:txBody>
                </p:sp>
                <p:sp>
                  <p:nvSpPr>
                    <p:cNvPr id="10" name="矩形 9">
                      <a:extLst>
                        <a:ext uri="{FF2B5EF4-FFF2-40B4-BE49-F238E27FC236}">
                          <a16:creationId xmlns:a16="http://schemas.microsoft.com/office/drawing/2014/main" id="{4B1E5826-15D7-7136-453F-49E5E6B57BCA}"/>
                        </a:ext>
                      </a:extLst>
                    </p:cNvPr>
                    <p:cNvSpPr/>
                    <p:nvPr/>
                  </p:nvSpPr>
                  <p:spPr>
                    <a:xfrm>
                      <a:off x="4886635" y="3071703"/>
                      <a:ext cx="1096240" cy="23941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rPr>
                        <a:t>单应性计算</a:t>
                      </a:r>
                    </a:p>
                  </p:txBody>
                </p:sp>
                <p:sp>
                  <p:nvSpPr>
                    <p:cNvPr id="11" name="矩形 10">
                      <a:extLst>
                        <a:ext uri="{FF2B5EF4-FFF2-40B4-BE49-F238E27FC236}">
                          <a16:creationId xmlns:a16="http://schemas.microsoft.com/office/drawing/2014/main" id="{0D12561C-4460-F630-19F5-6D3692312EAD}"/>
                        </a:ext>
                      </a:extLst>
                    </p:cNvPr>
                    <p:cNvSpPr/>
                    <p:nvPr/>
                  </p:nvSpPr>
                  <p:spPr>
                    <a:xfrm>
                      <a:off x="1577879" y="3669176"/>
                      <a:ext cx="1428400" cy="23941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rPr>
                        <a:t>网格变形优化</a:t>
                      </a:r>
                    </a:p>
                  </p:txBody>
                </p:sp>
                <p:sp>
                  <p:nvSpPr>
                    <p:cNvPr id="12" name="矩形 11">
                      <a:extLst>
                        <a:ext uri="{FF2B5EF4-FFF2-40B4-BE49-F238E27FC236}">
                          <a16:creationId xmlns:a16="http://schemas.microsoft.com/office/drawing/2014/main" id="{BB495BC2-C8C5-61BC-AD78-644D939F28F7}"/>
                        </a:ext>
                      </a:extLst>
                    </p:cNvPr>
                    <p:cNvSpPr/>
                    <p:nvPr/>
                  </p:nvSpPr>
                  <p:spPr>
                    <a:xfrm>
                      <a:off x="3273586" y="3669174"/>
                      <a:ext cx="1428400" cy="23941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rPr>
                        <a:t>基于图割的最佳缝融合</a:t>
                      </a:r>
                    </a:p>
                  </p:txBody>
                </p:sp>
                <p:sp>
                  <p:nvSpPr>
                    <p:cNvPr id="14" name="矩形 13">
                      <a:extLst>
                        <a:ext uri="{FF2B5EF4-FFF2-40B4-BE49-F238E27FC236}">
                          <a16:creationId xmlns:a16="http://schemas.microsoft.com/office/drawing/2014/main" id="{969B103D-5678-768B-603E-436BF293AED9}"/>
                        </a:ext>
                      </a:extLst>
                    </p:cNvPr>
                    <p:cNvSpPr/>
                    <p:nvPr/>
                  </p:nvSpPr>
                  <p:spPr>
                    <a:xfrm>
                      <a:off x="4886635" y="3669174"/>
                      <a:ext cx="1086461" cy="23941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rPr>
                        <a:t>拼接结果输出</a:t>
                      </a:r>
                    </a:p>
                  </p:txBody>
                </p:sp>
                <p:sp>
                  <p:nvSpPr>
                    <p:cNvPr id="16" name="矩形 15">
                      <a:extLst>
                        <a:ext uri="{FF2B5EF4-FFF2-40B4-BE49-F238E27FC236}">
                          <a16:creationId xmlns:a16="http://schemas.microsoft.com/office/drawing/2014/main" id="{CC3938F1-FFAC-3DA1-4DD3-7A26CDFC0265}"/>
                        </a:ext>
                      </a:extLst>
                    </p:cNvPr>
                    <p:cNvSpPr/>
                    <p:nvPr/>
                  </p:nvSpPr>
                  <p:spPr>
                    <a:xfrm>
                      <a:off x="2002475" y="3992068"/>
                      <a:ext cx="3970621" cy="3418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rPr>
                        <a:t>左</a:t>
                      </a:r>
                      <a:r>
                        <a:rPr lang="en-US" altLang="zh-CN" sz="1000" dirty="0">
                          <a:solidFill>
                            <a:schemeClr val="tx1"/>
                          </a:solidFill>
                        </a:rPr>
                        <a:t>+</a:t>
                      </a:r>
                      <a:r>
                        <a:rPr lang="zh-CN" altLang="en-US" sz="1000" dirty="0">
                          <a:solidFill>
                            <a:schemeClr val="tx1"/>
                          </a:solidFill>
                        </a:rPr>
                        <a:t>中</a:t>
                      </a:r>
                      <a:r>
                        <a:rPr lang="en-US" altLang="zh-CN" sz="1000" dirty="0">
                          <a:solidFill>
                            <a:schemeClr val="tx1"/>
                          </a:solidFill>
                        </a:rPr>
                        <a:t>--&gt;</a:t>
                      </a:r>
                      <a:r>
                        <a:rPr lang="zh-CN" altLang="en-US" sz="1000" dirty="0">
                          <a:solidFill>
                            <a:schemeClr val="tx1"/>
                          </a:solidFill>
                        </a:rPr>
                        <a:t>中间图</a:t>
                      </a:r>
                      <a:r>
                        <a:rPr lang="en-US" altLang="zh-CN" sz="1000" dirty="0">
                          <a:solidFill>
                            <a:schemeClr val="tx1"/>
                          </a:solidFill>
                        </a:rPr>
                        <a:t>--&gt;</a:t>
                      </a:r>
                      <a:r>
                        <a:rPr lang="zh-CN" altLang="en-US" sz="1000" dirty="0">
                          <a:solidFill>
                            <a:schemeClr val="tx1"/>
                          </a:solidFill>
                        </a:rPr>
                        <a:t>右</a:t>
                      </a:r>
                      <a:r>
                        <a:rPr lang="en-US" altLang="zh-CN" sz="1000" dirty="0">
                          <a:solidFill>
                            <a:schemeClr val="tx1"/>
                          </a:solidFill>
                        </a:rPr>
                        <a:t>--&gt;</a:t>
                      </a:r>
                      <a:r>
                        <a:rPr lang="zh-CN" altLang="en-US" sz="1000" dirty="0">
                          <a:solidFill>
                            <a:schemeClr val="tx1"/>
                          </a:solidFill>
                        </a:rPr>
                        <a:t>拼接图</a:t>
                      </a:r>
                    </a:p>
                  </p:txBody>
                </p:sp>
              </p:grpSp>
              <p:sp>
                <p:nvSpPr>
                  <p:cNvPr id="33" name="文本框 32">
                    <a:extLst>
                      <a:ext uri="{FF2B5EF4-FFF2-40B4-BE49-F238E27FC236}">
                        <a16:creationId xmlns:a16="http://schemas.microsoft.com/office/drawing/2014/main" id="{BABD4D46-5179-6DD7-1E8E-37C69CBDAC9D}"/>
                      </a:ext>
                    </a:extLst>
                  </p:cNvPr>
                  <p:cNvSpPr txBox="1"/>
                  <p:nvPr/>
                </p:nvSpPr>
                <p:spPr>
                  <a:xfrm>
                    <a:off x="2590138" y="4887758"/>
                    <a:ext cx="2172929" cy="343768"/>
                  </a:xfrm>
                  <a:prstGeom prst="rect">
                    <a:avLst/>
                  </a:prstGeom>
                  <a:noFill/>
                  <a:ln cmpd="sng">
                    <a:solidFill>
                      <a:schemeClr val="tx1"/>
                    </a:solidFill>
                  </a:ln>
                </p:spPr>
                <p:txBody>
                  <a:bodyPr wrap="square" rtlCol="0">
                    <a:spAutoFit/>
                  </a:bodyPr>
                  <a:lstStyle/>
                  <a:p>
                    <a:pPr algn="ctr"/>
                    <a:r>
                      <a:rPr lang="zh-CN" altLang="en-US" sz="1200" dirty="0"/>
                      <a:t>目标检测模块</a:t>
                    </a:r>
                  </a:p>
                </p:txBody>
              </p:sp>
              <p:grpSp>
                <p:nvGrpSpPr>
                  <p:cNvPr id="2097155" name="组合 2097154">
                    <a:extLst>
                      <a:ext uri="{FF2B5EF4-FFF2-40B4-BE49-F238E27FC236}">
                        <a16:creationId xmlns:a16="http://schemas.microsoft.com/office/drawing/2014/main" id="{87066DB4-92BD-7F7C-3B98-35991E699FC2}"/>
                      </a:ext>
                    </a:extLst>
                  </p:cNvPr>
                  <p:cNvGrpSpPr/>
                  <p:nvPr/>
                </p:nvGrpSpPr>
                <p:grpSpPr>
                  <a:xfrm>
                    <a:off x="1191793" y="5307109"/>
                    <a:ext cx="4969618" cy="2319044"/>
                    <a:chOff x="1191793" y="5307109"/>
                    <a:chExt cx="4969618" cy="2319044"/>
                  </a:xfrm>
                </p:grpSpPr>
                <p:grpSp>
                  <p:nvGrpSpPr>
                    <p:cNvPr id="55" name="组合 54">
                      <a:extLst>
                        <a:ext uri="{FF2B5EF4-FFF2-40B4-BE49-F238E27FC236}">
                          <a16:creationId xmlns:a16="http://schemas.microsoft.com/office/drawing/2014/main" id="{8A2591C2-C580-F14E-0D71-8D62E3742A90}"/>
                        </a:ext>
                      </a:extLst>
                    </p:cNvPr>
                    <p:cNvGrpSpPr/>
                    <p:nvPr/>
                  </p:nvGrpSpPr>
                  <p:grpSpPr>
                    <a:xfrm>
                      <a:off x="1191793" y="5572573"/>
                      <a:ext cx="4969618" cy="2053580"/>
                      <a:chOff x="5796705" y="2355996"/>
                      <a:chExt cx="5112304" cy="2308324"/>
                    </a:xfrm>
                  </p:grpSpPr>
                  <p:sp>
                    <p:nvSpPr>
                      <p:cNvPr id="43" name="文本框 42">
                        <a:extLst>
                          <a:ext uri="{FF2B5EF4-FFF2-40B4-BE49-F238E27FC236}">
                            <a16:creationId xmlns:a16="http://schemas.microsoft.com/office/drawing/2014/main" id="{EDCE9FE0-9324-5492-BC13-08B25648FC2A}"/>
                          </a:ext>
                        </a:extLst>
                      </p:cNvPr>
                      <p:cNvSpPr txBox="1"/>
                      <p:nvPr/>
                    </p:nvSpPr>
                    <p:spPr>
                      <a:xfrm>
                        <a:off x="5796705" y="2355996"/>
                        <a:ext cx="5112304" cy="2308324"/>
                      </a:xfrm>
                      <a:prstGeom prst="rect">
                        <a:avLst/>
                      </a:prstGeom>
                      <a:noFill/>
                      <a:ln cmpd="sng">
                        <a:solidFill>
                          <a:schemeClr val="tx1"/>
                        </a:solidFill>
                      </a:ln>
                    </p:spPr>
                    <p:txBody>
                      <a:bodyPr wrap="square" rtlCol="0">
                        <a:spAutoFit/>
                      </a:bodyPr>
                      <a:lstStyle/>
                      <a:p>
                        <a:pPr algn="l"/>
                        <a:r>
                          <a:rPr lang="en-US" altLang="zh-CN" dirty="0"/>
                          <a:t>	</a:t>
                        </a:r>
                      </a:p>
                      <a:p>
                        <a:pPr algn="l"/>
                        <a:r>
                          <a:rPr lang="en-US" altLang="zh-CN" dirty="0"/>
                          <a:t>		</a:t>
                        </a:r>
                      </a:p>
                      <a:p>
                        <a:pPr algn="l"/>
                        <a:endParaRPr lang="en-US" altLang="zh-CN" dirty="0"/>
                      </a:p>
                      <a:p>
                        <a:pPr algn="l"/>
                        <a:endParaRPr lang="en-US" altLang="zh-CN" dirty="0"/>
                      </a:p>
                      <a:p>
                        <a:pPr algn="l"/>
                        <a:endParaRPr lang="en-US" altLang="zh-CN" dirty="0"/>
                      </a:p>
                      <a:p>
                        <a:pPr algn="l"/>
                        <a:endParaRPr lang="en-US" altLang="zh-CN" dirty="0"/>
                      </a:p>
                      <a:p>
                        <a:pPr algn="l"/>
                        <a:endParaRPr lang="en-US" altLang="zh-CN" dirty="0"/>
                      </a:p>
                      <a:p>
                        <a:pPr algn="l"/>
                        <a:endParaRPr lang="en-US" altLang="zh-CN" dirty="0"/>
                      </a:p>
                    </p:txBody>
                  </p:sp>
                  <p:sp>
                    <p:nvSpPr>
                      <p:cNvPr id="44" name="文本框 43">
                        <a:extLst>
                          <a:ext uri="{FF2B5EF4-FFF2-40B4-BE49-F238E27FC236}">
                            <a16:creationId xmlns:a16="http://schemas.microsoft.com/office/drawing/2014/main" id="{32F79724-89AC-B0E1-BB15-74C9599720C8}"/>
                          </a:ext>
                        </a:extLst>
                      </p:cNvPr>
                      <p:cNvSpPr txBox="1"/>
                      <p:nvPr/>
                    </p:nvSpPr>
                    <p:spPr>
                      <a:xfrm>
                        <a:off x="7708364" y="2525308"/>
                        <a:ext cx="1571068" cy="472281"/>
                      </a:xfrm>
                      <a:prstGeom prst="rect">
                        <a:avLst/>
                      </a:prstGeom>
                      <a:noFill/>
                      <a:ln cmpd="sng">
                        <a:noFill/>
                      </a:ln>
                    </p:spPr>
                    <p:txBody>
                      <a:bodyPr wrap="square" rtlCol="0">
                        <a:spAutoFit/>
                      </a:bodyPr>
                      <a:lstStyle/>
                      <a:p>
                        <a:pPr algn="ctr"/>
                        <a:r>
                          <a:rPr lang="zh-CN" altLang="en-US" sz="1600" dirty="0">
                            <a:latin typeface="+mn-ea"/>
                          </a:rPr>
                          <a:t>定位模块</a:t>
                        </a:r>
                      </a:p>
                    </p:txBody>
                  </p:sp>
                  <p:sp>
                    <p:nvSpPr>
                      <p:cNvPr id="45" name="文本框 44">
                        <a:extLst>
                          <a:ext uri="{FF2B5EF4-FFF2-40B4-BE49-F238E27FC236}">
                            <a16:creationId xmlns:a16="http://schemas.microsoft.com/office/drawing/2014/main" id="{5288D032-A6B9-5A63-9564-0CFFAD38E51E}"/>
                          </a:ext>
                        </a:extLst>
                      </p:cNvPr>
                      <p:cNvSpPr txBox="1"/>
                      <p:nvPr/>
                    </p:nvSpPr>
                    <p:spPr>
                      <a:xfrm>
                        <a:off x="5952226" y="3280387"/>
                        <a:ext cx="1413398" cy="253071"/>
                      </a:xfrm>
                      <a:prstGeom prst="rect">
                        <a:avLst/>
                      </a:prstGeom>
                      <a:noFill/>
                      <a:ln cmpd="sng">
                        <a:solidFill>
                          <a:schemeClr val="tx1"/>
                        </a:solidFill>
                      </a:ln>
                    </p:spPr>
                    <p:txBody>
                      <a:bodyPr wrap="square" rtlCol="0">
                        <a:spAutoFit/>
                      </a:bodyPr>
                      <a:lstStyle/>
                      <a:p>
                        <a:pPr algn="ctr"/>
                        <a:r>
                          <a:rPr lang="zh-CN" altLang="en-US" sz="1000" dirty="0"/>
                          <a:t>将点云投影三视图</a:t>
                        </a:r>
                      </a:p>
                    </p:txBody>
                  </p:sp>
                  <p:sp>
                    <p:nvSpPr>
                      <p:cNvPr id="46" name="文本框 45">
                        <a:extLst>
                          <a:ext uri="{FF2B5EF4-FFF2-40B4-BE49-F238E27FC236}">
                            <a16:creationId xmlns:a16="http://schemas.microsoft.com/office/drawing/2014/main" id="{5631D1DA-D9F4-94DD-3FEA-C3B20C75ABBA}"/>
                          </a:ext>
                        </a:extLst>
                      </p:cNvPr>
                      <p:cNvSpPr txBox="1"/>
                      <p:nvPr/>
                    </p:nvSpPr>
                    <p:spPr>
                      <a:xfrm>
                        <a:off x="9622172" y="3278149"/>
                        <a:ext cx="1030159" cy="253071"/>
                      </a:xfrm>
                      <a:prstGeom prst="rect">
                        <a:avLst/>
                      </a:prstGeom>
                      <a:noFill/>
                      <a:ln cmpd="sng">
                        <a:solidFill>
                          <a:schemeClr val="tx1"/>
                        </a:solidFill>
                      </a:ln>
                    </p:spPr>
                    <p:txBody>
                      <a:bodyPr wrap="square" rtlCol="0">
                        <a:spAutoFit/>
                      </a:bodyPr>
                      <a:lstStyle/>
                      <a:p>
                        <a:pPr algn="ctr"/>
                        <a:r>
                          <a:rPr lang="zh-CN" altLang="en-US" sz="1000" dirty="0"/>
                          <a:t>检测框过滤</a:t>
                        </a:r>
                      </a:p>
                    </p:txBody>
                  </p:sp>
                  <p:sp>
                    <p:nvSpPr>
                      <p:cNvPr id="49" name="文本框 48">
                        <a:extLst>
                          <a:ext uri="{FF2B5EF4-FFF2-40B4-BE49-F238E27FC236}">
                            <a16:creationId xmlns:a16="http://schemas.microsoft.com/office/drawing/2014/main" id="{D4144BF3-6212-A40E-E137-31DF8FAB3CB8}"/>
                          </a:ext>
                        </a:extLst>
                      </p:cNvPr>
                      <p:cNvSpPr txBox="1"/>
                      <p:nvPr/>
                    </p:nvSpPr>
                    <p:spPr>
                      <a:xfrm>
                        <a:off x="5952225" y="3985228"/>
                        <a:ext cx="1399857" cy="253071"/>
                      </a:xfrm>
                      <a:prstGeom prst="rect">
                        <a:avLst/>
                      </a:prstGeom>
                      <a:noFill/>
                      <a:ln cmpd="sng">
                        <a:solidFill>
                          <a:schemeClr val="tx1"/>
                        </a:solidFill>
                      </a:ln>
                    </p:spPr>
                    <p:txBody>
                      <a:bodyPr wrap="square" rtlCol="0">
                        <a:spAutoFit/>
                      </a:bodyPr>
                      <a:lstStyle/>
                      <a:p>
                        <a:pPr algn="ctr"/>
                        <a:r>
                          <a:rPr lang="en-US" altLang="zh-CN" sz="1000" dirty="0"/>
                          <a:t>DBSCAN</a:t>
                        </a:r>
                        <a:r>
                          <a:rPr lang="zh-CN" altLang="en-US" sz="1000" dirty="0"/>
                          <a:t>聚类</a:t>
                        </a:r>
                      </a:p>
                    </p:txBody>
                  </p:sp>
                  <p:sp>
                    <p:nvSpPr>
                      <p:cNvPr id="50" name="文本框 49">
                        <a:extLst>
                          <a:ext uri="{FF2B5EF4-FFF2-40B4-BE49-F238E27FC236}">
                            <a16:creationId xmlns:a16="http://schemas.microsoft.com/office/drawing/2014/main" id="{5D10CAD0-B24C-DEC7-1BC1-290198A7E499}"/>
                          </a:ext>
                        </a:extLst>
                      </p:cNvPr>
                      <p:cNvSpPr txBox="1"/>
                      <p:nvPr/>
                    </p:nvSpPr>
                    <p:spPr>
                      <a:xfrm>
                        <a:off x="7805737" y="3278150"/>
                        <a:ext cx="1376322" cy="253071"/>
                      </a:xfrm>
                      <a:prstGeom prst="rect">
                        <a:avLst/>
                      </a:prstGeom>
                      <a:noFill/>
                      <a:ln cmpd="sng">
                        <a:solidFill>
                          <a:schemeClr val="tx1"/>
                        </a:solidFill>
                      </a:ln>
                    </p:spPr>
                    <p:txBody>
                      <a:bodyPr wrap="square" rtlCol="0">
                        <a:spAutoFit/>
                      </a:bodyPr>
                      <a:lstStyle/>
                      <a:p>
                        <a:pPr algn="ctr"/>
                        <a:r>
                          <a:rPr lang="zh-CN" altLang="en-US" sz="1000" dirty="0"/>
                          <a:t>三视图投影到拼接图</a:t>
                        </a:r>
                      </a:p>
                    </p:txBody>
                  </p:sp>
                  <p:sp>
                    <p:nvSpPr>
                      <p:cNvPr id="51" name="文本框 50">
                        <a:extLst>
                          <a:ext uri="{FF2B5EF4-FFF2-40B4-BE49-F238E27FC236}">
                            <a16:creationId xmlns:a16="http://schemas.microsoft.com/office/drawing/2014/main" id="{B15F4E89-0296-1257-A1F6-817C3B7A867D}"/>
                          </a:ext>
                        </a:extLst>
                      </p:cNvPr>
                      <p:cNvSpPr txBox="1"/>
                      <p:nvPr/>
                    </p:nvSpPr>
                    <p:spPr>
                      <a:xfrm>
                        <a:off x="7816985" y="3985227"/>
                        <a:ext cx="1376321" cy="253071"/>
                      </a:xfrm>
                      <a:prstGeom prst="rect">
                        <a:avLst/>
                      </a:prstGeom>
                      <a:noFill/>
                      <a:ln cmpd="sng">
                        <a:solidFill>
                          <a:schemeClr val="tx1"/>
                        </a:solidFill>
                      </a:ln>
                    </p:spPr>
                    <p:txBody>
                      <a:bodyPr wrap="square" rtlCol="0">
                        <a:spAutoFit/>
                      </a:bodyPr>
                      <a:lstStyle/>
                      <a:p>
                        <a:pPr algn="ctr"/>
                        <a:r>
                          <a:rPr lang="en-US" altLang="zh-CN" sz="1000" dirty="0"/>
                          <a:t>IOU</a:t>
                        </a:r>
                        <a:r>
                          <a:rPr lang="zh-CN" altLang="en-US" sz="1000" dirty="0"/>
                          <a:t>计算并选择</a:t>
                        </a:r>
                      </a:p>
                    </p:txBody>
                  </p:sp>
                  <p:sp>
                    <p:nvSpPr>
                      <p:cNvPr id="53" name="文本框 52">
                        <a:extLst>
                          <a:ext uri="{FF2B5EF4-FFF2-40B4-BE49-F238E27FC236}">
                            <a16:creationId xmlns:a16="http://schemas.microsoft.com/office/drawing/2014/main" id="{8E56459F-FFA2-DA0B-6215-EAE3C9AD3A78}"/>
                          </a:ext>
                        </a:extLst>
                      </p:cNvPr>
                      <p:cNvSpPr txBox="1"/>
                      <p:nvPr/>
                    </p:nvSpPr>
                    <p:spPr>
                      <a:xfrm>
                        <a:off x="9658209" y="3979902"/>
                        <a:ext cx="1030160" cy="246221"/>
                      </a:xfrm>
                      <a:prstGeom prst="rect">
                        <a:avLst/>
                      </a:prstGeom>
                      <a:noFill/>
                      <a:ln cmpd="sng">
                        <a:solidFill>
                          <a:schemeClr val="tx1"/>
                        </a:solidFill>
                      </a:ln>
                    </p:spPr>
                    <p:txBody>
                      <a:bodyPr wrap="square" rtlCol="0">
                        <a:spAutoFit/>
                      </a:bodyPr>
                      <a:lstStyle/>
                      <a:p>
                        <a:pPr algn="ctr"/>
                        <a:r>
                          <a:rPr lang="zh-CN" altLang="en-US" sz="1000" dirty="0"/>
                          <a:t>可视化</a:t>
                        </a:r>
                      </a:p>
                    </p:txBody>
                  </p:sp>
                </p:grpSp>
                <p:sp>
                  <p:nvSpPr>
                    <p:cNvPr id="2097153" name="文本框 2097152">
                      <a:extLst>
                        <a:ext uri="{FF2B5EF4-FFF2-40B4-BE49-F238E27FC236}">
                          <a16:creationId xmlns:a16="http://schemas.microsoft.com/office/drawing/2014/main" id="{FBBEB81F-FA4B-C317-6FC4-0948FCFE8E18}"/>
                        </a:ext>
                      </a:extLst>
                    </p:cNvPr>
                    <p:cNvSpPr txBox="1"/>
                    <p:nvPr/>
                  </p:nvSpPr>
                  <p:spPr>
                    <a:xfrm>
                      <a:off x="3700581" y="5307109"/>
                      <a:ext cx="2282294" cy="230832"/>
                    </a:xfrm>
                    <a:prstGeom prst="rect">
                      <a:avLst/>
                    </a:prstGeom>
                    <a:noFill/>
                    <a:ln cmpd="sng">
                      <a:noFill/>
                    </a:ln>
                  </p:spPr>
                  <p:txBody>
                    <a:bodyPr wrap="square" rtlCol="0">
                      <a:spAutoFit/>
                    </a:bodyPr>
                    <a:lstStyle/>
                    <a:p>
                      <a:pPr algn="l"/>
                      <a:r>
                        <a:rPr lang="zh-CN" altLang="en-US" sz="900" dirty="0"/>
                        <a:t>检测框</a:t>
                      </a:r>
                      <a:r>
                        <a:rPr lang="en-US" altLang="zh-CN" sz="900" dirty="0"/>
                        <a:t>+</a:t>
                      </a:r>
                      <a:r>
                        <a:rPr lang="zh-CN" altLang="en-US" sz="900" dirty="0"/>
                        <a:t>拼接图</a:t>
                      </a:r>
                    </a:p>
                  </p:txBody>
                </p:sp>
              </p:grpSp>
            </p:grpSp>
          </p:grpSp>
        </p:grpSp>
      </p:grpSp>
      <p:sp>
        <p:nvSpPr>
          <p:cNvPr id="2097158" name="文本框 2097157">
            <a:extLst>
              <a:ext uri="{FF2B5EF4-FFF2-40B4-BE49-F238E27FC236}">
                <a16:creationId xmlns:a16="http://schemas.microsoft.com/office/drawing/2014/main" id="{F720A1C4-F3C1-1D3F-7096-76161D184F17}"/>
              </a:ext>
            </a:extLst>
          </p:cNvPr>
          <p:cNvSpPr txBox="1"/>
          <p:nvPr/>
        </p:nvSpPr>
        <p:spPr>
          <a:xfrm>
            <a:off x="1914584" y="6417736"/>
            <a:ext cx="4139381" cy="369332"/>
          </a:xfrm>
          <a:prstGeom prst="rect">
            <a:avLst/>
          </a:prstGeom>
          <a:noFill/>
          <a:ln cmpd="sng">
            <a:noFill/>
          </a:ln>
        </p:spPr>
        <p:txBody>
          <a:bodyPr wrap="square" rtlCol="0">
            <a:spAutoFit/>
          </a:bodyPr>
          <a:lstStyle/>
          <a:p>
            <a:pPr algn="ctr"/>
            <a:r>
              <a:rPr lang="zh-CN" altLang="en-US" dirty="0"/>
              <a:t>技术路线图</a:t>
            </a:r>
          </a:p>
        </p:txBody>
      </p:sp>
      <p:sp>
        <p:nvSpPr>
          <p:cNvPr id="2097159" name="文本框 2097158">
            <a:extLst>
              <a:ext uri="{FF2B5EF4-FFF2-40B4-BE49-F238E27FC236}">
                <a16:creationId xmlns:a16="http://schemas.microsoft.com/office/drawing/2014/main" id="{D3B805CE-A936-E202-0A1B-8F6DA74D5DF6}"/>
              </a:ext>
            </a:extLst>
          </p:cNvPr>
          <p:cNvSpPr txBox="1"/>
          <p:nvPr/>
        </p:nvSpPr>
        <p:spPr>
          <a:xfrm>
            <a:off x="7374193" y="1217883"/>
            <a:ext cx="4630994" cy="5451621"/>
          </a:xfrm>
          <a:prstGeom prst="rect">
            <a:avLst/>
          </a:prstGeom>
          <a:noFill/>
          <a:ln cmpd="sng">
            <a:noFill/>
          </a:ln>
        </p:spPr>
        <p:txBody>
          <a:bodyPr wrap="square" rtlCol="0">
            <a:spAutoFit/>
          </a:bodyPr>
          <a:lstStyle/>
          <a:p>
            <a:pPr indent="457200" algn="l">
              <a:lnSpc>
                <a:spcPct val="150000"/>
              </a:lnSpc>
            </a:pPr>
            <a:r>
              <a:rPr lang="zh-CN" altLang="en-US" dirty="0"/>
              <a:t>目前整个技术流程分为三部分，分别为三视图拼接模块，目标检测模块，定位模块。</a:t>
            </a:r>
            <a:endParaRPr lang="en-US" altLang="zh-CN" dirty="0"/>
          </a:p>
          <a:p>
            <a:pPr indent="457200">
              <a:lnSpc>
                <a:spcPct val="150000"/>
              </a:lnSpc>
            </a:pPr>
            <a:r>
              <a:rPr lang="zh-CN" altLang="en-US" dirty="0"/>
              <a:t>在三视图拼接模块中，优化传统多视图拼接流程，减小了由二次配准引起的累积误差失真</a:t>
            </a:r>
            <a:r>
              <a:rPr lang="en-US" altLang="zh-CN" dirty="0"/>
              <a:t>,</a:t>
            </a:r>
            <a:r>
              <a:rPr lang="zh-CN" altLang="en-US" dirty="0"/>
              <a:t>达到优化拼接效果的作用</a:t>
            </a:r>
            <a:endParaRPr lang="en-US" altLang="zh-CN" dirty="0"/>
          </a:p>
          <a:p>
            <a:pPr indent="457200">
              <a:lnSpc>
                <a:spcPct val="150000"/>
              </a:lnSpc>
            </a:pPr>
            <a:r>
              <a:rPr lang="zh-CN" altLang="en-US" b="1" dirty="0"/>
              <a:t>定位模块</a:t>
            </a:r>
            <a:r>
              <a:rPr lang="zh-CN" altLang="en-US" dirty="0"/>
              <a:t>结合</a:t>
            </a:r>
            <a:r>
              <a:rPr lang="en-US" altLang="zh-CN" dirty="0"/>
              <a:t>3D</a:t>
            </a:r>
            <a:r>
              <a:rPr lang="zh-CN" altLang="en-US" dirty="0"/>
              <a:t>点云数据和目标检测结果，实现精确的</a:t>
            </a:r>
            <a:r>
              <a:rPr lang="en-US" altLang="zh-CN" dirty="0"/>
              <a:t>3D</a:t>
            </a:r>
            <a:r>
              <a:rPr lang="zh-CN" altLang="en-US" dirty="0"/>
              <a:t>空间定位。首先将激光雷达获取的</a:t>
            </a:r>
            <a:r>
              <a:rPr lang="en-US" altLang="zh-CN" dirty="0"/>
              <a:t>3D</a:t>
            </a:r>
            <a:r>
              <a:rPr lang="zh-CN" altLang="en-US" dirty="0"/>
              <a:t>点云投影到拼接图像坐标系，然后利用目标检测框过滤出目标区域内的有效点云。通过</a:t>
            </a:r>
            <a:r>
              <a:rPr lang="en-US" altLang="zh-CN" dirty="0"/>
              <a:t>DBSCAN</a:t>
            </a:r>
            <a:r>
              <a:rPr lang="zh-CN" altLang="en-US" dirty="0"/>
              <a:t>聚类算法对点云进行密度聚类，并基于</a:t>
            </a:r>
            <a:r>
              <a:rPr lang="en-US" altLang="zh-CN" dirty="0" err="1"/>
              <a:t>IoU</a:t>
            </a:r>
            <a:r>
              <a:rPr lang="zh-CN" altLang="en-US" dirty="0"/>
              <a:t>匹配确定聚类中心作为目标的</a:t>
            </a:r>
            <a:r>
              <a:rPr lang="en-US" altLang="zh-CN" dirty="0"/>
              <a:t>3D</a:t>
            </a:r>
            <a:r>
              <a:rPr lang="zh-CN" altLang="en-US" dirty="0"/>
              <a:t>位置，确保了定位结果的准确性和可靠性。</a:t>
            </a:r>
            <a:endParaRPr lang="en-US" altLang="zh-CN" dirty="0"/>
          </a:p>
        </p:txBody>
      </p:sp>
    </p:spTree>
    <p:extLst>
      <p:ext uri="{BB962C8B-B14F-4D97-AF65-F5344CB8AC3E}">
        <p14:creationId xmlns:p14="http://schemas.microsoft.com/office/powerpoint/2010/main" val="1056970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AE7D9-671C-6539-170D-9705A13D4B6F}"/>
            </a:ext>
          </a:extLst>
        </p:cNvPr>
        <p:cNvGrpSpPr/>
        <p:nvPr/>
      </p:nvGrpSpPr>
      <p:grpSpPr>
        <a:xfrm>
          <a:off x="0" y="0"/>
          <a:ext cx="0" cy="0"/>
          <a:chOff x="0" y="0"/>
          <a:chExt cx="0" cy="0"/>
        </a:xfrm>
      </p:grpSpPr>
      <p:sp>
        <p:nvSpPr>
          <p:cNvPr id="1048678" name="标题 1">
            <a:extLst>
              <a:ext uri="{FF2B5EF4-FFF2-40B4-BE49-F238E27FC236}">
                <a16:creationId xmlns:a16="http://schemas.microsoft.com/office/drawing/2014/main" id="{1B4B9F8D-A824-BB8A-541D-AC4D4C4D6A47}"/>
              </a:ext>
            </a:extLst>
          </p:cNvPr>
          <p:cNvSpPr txBox="1"/>
          <p:nvPr/>
        </p:nvSpPr>
        <p:spPr>
          <a:xfrm>
            <a:off x="2150630" y="296863"/>
            <a:ext cx="3801595" cy="645529"/>
          </a:xfrm>
          <a:prstGeom prst="rect">
            <a:avLst/>
          </a:prstGeom>
        </p:spPr>
        <p:txBody>
          <a:bodyPr/>
          <a:lstStyle>
            <a:lvl1pPr algn="ctr" defTabSz="914400" rtl="0" eaLnBrk="1" latinLnBrk="0" hangingPunct="1">
              <a:lnSpc>
                <a:spcPct val="90000"/>
              </a:lnSpc>
              <a:spcBef>
                <a:spcPct val="0"/>
              </a:spcBef>
              <a:buNone/>
              <a:defRPr sz="4400" b="1" kern="1200">
                <a:solidFill>
                  <a:schemeClr val="tx1">
                    <a:lumMod val="75000"/>
                    <a:lumOff val="25000"/>
                  </a:schemeClr>
                </a:solidFill>
                <a:latin typeface="微软雅黑" panose="020B0503020204020204" pitchFamily="34" charset="-122"/>
                <a:ea typeface="微软雅黑" panose="020B0503020204020204" pitchFamily="34" charset="-122"/>
                <a:cs typeface="+mj-cs"/>
              </a:defRPr>
            </a:lvl1pPr>
          </a:lstStyle>
          <a:p>
            <a:pPr algn="l"/>
            <a:r>
              <a:rPr lang="zh-CN" altLang="en-US" sz="3200" dirty="0">
                <a:solidFill>
                  <a:srgbClr val="263A5E"/>
                </a:solidFill>
                <a:latin typeface="+mj-lt"/>
                <a:ea typeface="华文中宋" panose="02010600040101010101" pitchFamily="2" charset="-122"/>
              </a:rPr>
              <a:t>目标检测及定位</a:t>
            </a:r>
          </a:p>
        </p:txBody>
      </p:sp>
      <p:sp>
        <p:nvSpPr>
          <p:cNvPr id="1048679" name="等腰三角形 3">
            <a:extLst>
              <a:ext uri="{FF2B5EF4-FFF2-40B4-BE49-F238E27FC236}">
                <a16:creationId xmlns:a16="http://schemas.microsoft.com/office/drawing/2014/main" id="{9CFBD1E9-5F4A-7386-707D-9E9D47E3D8FB}"/>
              </a:ext>
            </a:extLst>
          </p:cNvPr>
          <p:cNvSpPr/>
          <p:nvPr/>
        </p:nvSpPr>
        <p:spPr bwMode="auto">
          <a:xfrm flipV="1">
            <a:off x="459276" y="0"/>
            <a:ext cx="1691355" cy="942392"/>
          </a:xfrm>
          <a:prstGeom prst="triangle">
            <a:avLst>
              <a:gd name="adj" fmla="val 49494"/>
            </a:avLst>
          </a:prstGeom>
          <a:solidFill>
            <a:srgbClr val="203864"/>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640080" indent="-182880" algn="l" rtl="0" fontAlgn="base">
              <a:spcBef>
                <a:spcPct val="0"/>
              </a:spcBef>
              <a:spcAft>
                <a:spcPct val="0"/>
              </a:spcAft>
              <a:defRPr kern="1200">
                <a:solidFill>
                  <a:schemeClr val="lt1"/>
                </a:solidFill>
                <a:latin typeface="+mn-lt"/>
                <a:ea typeface="+mn-ea"/>
                <a:cs typeface="+mn-cs"/>
              </a:defRPr>
            </a:lvl2pPr>
            <a:lvl3pPr marL="1282700" indent="-368300" algn="l" rtl="0" fontAlgn="base">
              <a:spcBef>
                <a:spcPct val="0"/>
              </a:spcBef>
              <a:spcAft>
                <a:spcPct val="0"/>
              </a:spcAft>
              <a:defRPr kern="1200">
                <a:solidFill>
                  <a:schemeClr val="lt1"/>
                </a:solidFill>
                <a:latin typeface="+mn-lt"/>
                <a:ea typeface="+mn-ea"/>
                <a:cs typeface="+mn-cs"/>
              </a:defRPr>
            </a:lvl3pPr>
            <a:lvl4pPr marL="1925955" indent="-554355" algn="l" rtl="0" fontAlgn="base">
              <a:spcBef>
                <a:spcPct val="0"/>
              </a:spcBef>
              <a:spcAft>
                <a:spcPct val="0"/>
              </a:spcAft>
              <a:defRPr kern="1200">
                <a:solidFill>
                  <a:schemeClr val="lt1"/>
                </a:solidFill>
                <a:latin typeface="+mn-lt"/>
                <a:ea typeface="+mn-ea"/>
                <a:cs typeface="+mn-cs"/>
              </a:defRPr>
            </a:lvl4pPr>
            <a:lvl5pPr marL="2568575" indent="-739775"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endParaRPr lang="zh-CN" altLang="en-US" dirty="0">
              <a:solidFill>
                <a:prstClr val="white"/>
              </a:solidFill>
              <a:effectLst/>
              <a:latin typeface="华文中宋" panose="02010600040101010101" pitchFamily="2" charset="-122"/>
              <a:ea typeface="华文中宋" panose="02010600040101010101" pitchFamily="2" charset="-122"/>
            </a:endParaRPr>
          </a:p>
        </p:txBody>
      </p:sp>
      <p:pic>
        <p:nvPicPr>
          <p:cNvPr id="2097166" name="图片 5">
            <a:extLst>
              <a:ext uri="{FF2B5EF4-FFF2-40B4-BE49-F238E27FC236}">
                <a16:creationId xmlns:a16="http://schemas.microsoft.com/office/drawing/2014/main" id="{C3C7B9E8-909F-3C14-D2AC-941D7A1A2FE6}"/>
              </a:ext>
            </a:extLst>
          </p:cNvPr>
          <p:cNvPicPr>
            <a:picLocks noChangeAspect="1"/>
          </p:cNvPicPr>
          <p:nvPr/>
        </p:nvPicPr>
        <p:blipFill>
          <a:blip r:embed="rId3" cstate="print"/>
          <a:stretch>
            <a:fillRect/>
          </a:stretch>
        </p:blipFill>
        <p:spPr>
          <a:xfrm>
            <a:off x="10635170" y="103917"/>
            <a:ext cx="1219202" cy="786386"/>
          </a:xfrm>
          <a:prstGeom prst="rect">
            <a:avLst/>
          </a:prstGeom>
        </p:spPr>
      </p:pic>
      <p:cxnSp>
        <p:nvCxnSpPr>
          <p:cNvPr id="3145742" name="直接连接符 8">
            <a:extLst>
              <a:ext uri="{FF2B5EF4-FFF2-40B4-BE49-F238E27FC236}">
                <a16:creationId xmlns:a16="http://schemas.microsoft.com/office/drawing/2014/main" id="{B72F9954-E5C9-8890-DEF4-8E839506E033}"/>
              </a:ext>
            </a:extLst>
          </p:cNvPr>
          <p:cNvCxnSpPr/>
          <p:nvPr/>
        </p:nvCxnSpPr>
        <p:spPr>
          <a:xfrm>
            <a:off x="2196000" y="936000"/>
            <a:ext cx="8280000" cy="0"/>
          </a:xfrm>
          <a:prstGeom prst="line">
            <a:avLst/>
          </a:prstGeom>
          <a:ln w="41275">
            <a:solidFill>
              <a:schemeClr val="accent1">
                <a:lumMod val="50000"/>
              </a:schemeClr>
            </a:solidFill>
          </a:ln>
        </p:spPr>
        <p:style>
          <a:lnRef idx="1">
            <a:schemeClr val="dk1"/>
          </a:lnRef>
          <a:fillRef idx="0">
            <a:schemeClr val="dk1"/>
          </a:fillRef>
          <a:effectRef idx="0">
            <a:schemeClr val="dk1"/>
          </a:effectRef>
          <a:fontRef idx="minor">
            <a:schemeClr val="tx1"/>
          </a:fontRef>
        </p:style>
      </p:cxnSp>
      <p:sp>
        <p:nvSpPr>
          <p:cNvPr id="3" name="灯片编号占位符 2">
            <a:extLst>
              <a:ext uri="{FF2B5EF4-FFF2-40B4-BE49-F238E27FC236}">
                <a16:creationId xmlns:a16="http://schemas.microsoft.com/office/drawing/2014/main" id="{C6D78ED1-E43C-5763-CFA9-5E04326A7AB7}"/>
              </a:ext>
            </a:extLst>
          </p:cNvPr>
          <p:cNvSpPr>
            <a:spLocks noGrp="1"/>
          </p:cNvSpPr>
          <p:nvPr>
            <p:ph type="sldNum" sz="quarter" idx="12"/>
          </p:nvPr>
        </p:nvSpPr>
        <p:spPr/>
        <p:txBody>
          <a:bodyPr/>
          <a:lstStyle/>
          <a:p>
            <a:fld id="{4C728F51-6063-40BC-906F-D6FBF0AE26BF}" type="slidenum">
              <a:rPr lang="zh-CN" altLang="en-US" smtClean="0"/>
              <a:t>5</a:t>
            </a:fld>
            <a:endParaRPr lang="zh-CN" altLang="en-US"/>
          </a:p>
        </p:txBody>
      </p:sp>
      <p:sp>
        <p:nvSpPr>
          <p:cNvPr id="13" name="文本占位符 2">
            <a:extLst>
              <a:ext uri="{FF2B5EF4-FFF2-40B4-BE49-F238E27FC236}">
                <a16:creationId xmlns:a16="http://schemas.microsoft.com/office/drawing/2014/main" id="{0E4EFE87-AD56-D335-7767-DD0AF1B56E53}"/>
              </a:ext>
            </a:extLst>
          </p:cNvPr>
          <p:cNvSpPr txBox="1"/>
          <p:nvPr/>
        </p:nvSpPr>
        <p:spPr>
          <a:xfrm>
            <a:off x="924180" y="104570"/>
            <a:ext cx="832757" cy="5630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mn-lt"/>
                <a:ea typeface="华文中宋" panose="02010600040101010101" pitchFamily="2" charset="-122"/>
              </a:rPr>
              <a:t>02</a:t>
            </a:r>
            <a:endParaRPr lang="zh-CN" altLang="en-US" dirty="0">
              <a:latin typeface="+mn-lt"/>
              <a:ea typeface="华文中宋" panose="02010600040101010101" pitchFamily="2" charset="-122"/>
            </a:endParaRPr>
          </a:p>
        </p:txBody>
      </p:sp>
      <p:sp>
        <p:nvSpPr>
          <p:cNvPr id="2097159" name="文本框 2097158">
            <a:extLst>
              <a:ext uri="{FF2B5EF4-FFF2-40B4-BE49-F238E27FC236}">
                <a16:creationId xmlns:a16="http://schemas.microsoft.com/office/drawing/2014/main" id="{DA663ED7-46E9-FB2C-B3F9-75A7E56F0512}"/>
              </a:ext>
            </a:extLst>
          </p:cNvPr>
          <p:cNvSpPr txBox="1"/>
          <p:nvPr/>
        </p:nvSpPr>
        <p:spPr>
          <a:xfrm>
            <a:off x="5952225" y="1217883"/>
            <a:ext cx="5649839" cy="4431983"/>
          </a:xfrm>
          <a:prstGeom prst="rect">
            <a:avLst/>
          </a:prstGeom>
          <a:noFill/>
          <a:ln cmpd="sng">
            <a:noFill/>
          </a:ln>
        </p:spPr>
        <p:txBody>
          <a:bodyPr wrap="square" rtlCol="0">
            <a:spAutoFit/>
          </a:bodyPr>
          <a:lstStyle/>
          <a:p>
            <a:pPr indent="457200">
              <a:lnSpc>
                <a:spcPct val="150000"/>
              </a:lnSpc>
            </a:pPr>
            <a:r>
              <a:rPr lang="zh-CN" altLang="en-US" sz="1600" dirty="0"/>
              <a:t>传统多视图拼接算法是以左边缘图像为基准图依次进行配准拼接</a:t>
            </a:r>
            <a:r>
              <a:rPr lang="en-US" altLang="zh-CN" sz="1600" dirty="0"/>
              <a:t>,</a:t>
            </a:r>
            <a:r>
              <a:rPr lang="zh-CN" altLang="en-US" sz="1600" dirty="0"/>
              <a:t> 如左图所示，以图 </a:t>
            </a:r>
            <a:r>
              <a:rPr lang="en-US" altLang="zh-CN" sz="1600" dirty="0"/>
              <a:t>I</a:t>
            </a:r>
            <a:r>
              <a:rPr lang="zh-CN" altLang="en-US" sz="1600" dirty="0"/>
              <a:t>为基准图</a:t>
            </a:r>
            <a:r>
              <a:rPr lang="en-US" altLang="zh-CN" sz="1600" dirty="0"/>
              <a:t>,</a:t>
            </a:r>
            <a:r>
              <a:rPr lang="zh-CN" altLang="en-US" sz="1600" dirty="0"/>
              <a:t>则图 </a:t>
            </a:r>
            <a:r>
              <a:rPr lang="en-US" altLang="zh-CN" sz="1600" dirty="0"/>
              <a:t>II </a:t>
            </a:r>
            <a:r>
              <a:rPr lang="zh-CN" altLang="en-US" sz="1600" dirty="0"/>
              <a:t>到图 </a:t>
            </a:r>
            <a:r>
              <a:rPr lang="en-US" altLang="zh-CN" sz="1600" dirty="0"/>
              <a:t>I </a:t>
            </a:r>
            <a:r>
              <a:rPr lang="zh-CN" altLang="en-US" sz="1600" dirty="0"/>
              <a:t>的配准可以将图 </a:t>
            </a:r>
            <a:r>
              <a:rPr lang="en-US" altLang="zh-CN" sz="1600" dirty="0"/>
              <a:t>II </a:t>
            </a:r>
            <a:r>
              <a:rPr lang="zh-CN" altLang="en-US" sz="1600" dirty="0"/>
              <a:t>中的像素用单应矩阵 </a:t>
            </a:r>
            <a:r>
              <a:rPr lang="en-US" altLang="zh-CN" sz="1600" dirty="0"/>
              <a:t>H2-1</a:t>
            </a:r>
            <a:r>
              <a:rPr lang="zh-CN" altLang="en-US" sz="1600" dirty="0"/>
              <a:t>透视变换得到配准图像</a:t>
            </a:r>
            <a:r>
              <a:rPr lang="en-US" altLang="zh-CN" sz="1600" dirty="0"/>
              <a:t>,</a:t>
            </a:r>
            <a:r>
              <a:rPr lang="zh-CN" altLang="en-US" sz="1600" dirty="0"/>
              <a:t>图 </a:t>
            </a:r>
            <a:r>
              <a:rPr lang="en-US" altLang="zh-CN" sz="1600" dirty="0"/>
              <a:t>III </a:t>
            </a:r>
            <a:r>
              <a:rPr lang="zh-CN" altLang="en-US" sz="1600" dirty="0"/>
              <a:t>到图 </a:t>
            </a:r>
            <a:r>
              <a:rPr lang="en-US" altLang="zh-CN" sz="1600" dirty="0"/>
              <a:t>I</a:t>
            </a:r>
            <a:r>
              <a:rPr lang="zh-CN" altLang="en-US" sz="1600" dirty="0"/>
              <a:t>的配准图像通过两次透视变换</a:t>
            </a:r>
            <a:r>
              <a:rPr lang="en-US" altLang="zh-CN" sz="1600" dirty="0"/>
              <a:t>,</a:t>
            </a:r>
            <a:r>
              <a:rPr lang="zh-CN" altLang="en-US" sz="1600" dirty="0"/>
              <a:t>即先使用 </a:t>
            </a:r>
            <a:r>
              <a:rPr lang="en-US" altLang="zh-CN" sz="1600" dirty="0"/>
              <a:t>H3-2 </a:t>
            </a:r>
            <a:r>
              <a:rPr lang="zh-CN" altLang="en-US" sz="1600" dirty="0"/>
              <a:t>得到关于图 </a:t>
            </a:r>
            <a:r>
              <a:rPr lang="en-US" altLang="zh-CN" sz="1600" dirty="0"/>
              <a:t>II </a:t>
            </a:r>
            <a:r>
              <a:rPr lang="zh-CN" altLang="en-US" sz="1600" dirty="0"/>
              <a:t>的配准图像</a:t>
            </a:r>
            <a:r>
              <a:rPr lang="en-US" altLang="zh-CN" sz="1600" dirty="0"/>
              <a:t>,</a:t>
            </a:r>
            <a:r>
              <a:rPr lang="zh-CN" altLang="en-US" sz="1600" dirty="0"/>
              <a:t>再经过 </a:t>
            </a:r>
            <a:r>
              <a:rPr lang="en-US" altLang="zh-CN" sz="1600" dirty="0"/>
              <a:t>H2-1 </a:t>
            </a:r>
            <a:r>
              <a:rPr lang="zh-CN" altLang="en-US" sz="1600" dirty="0"/>
              <a:t>得到关于图 </a:t>
            </a:r>
            <a:r>
              <a:rPr lang="en-US" altLang="zh-CN" sz="1600" dirty="0"/>
              <a:t>I  </a:t>
            </a:r>
            <a:r>
              <a:rPr lang="zh-CN" altLang="en-US" sz="1600" dirty="0"/>
              <a:t>的配准图像</a:t>
            </a:r>
            <a:r>
              <a:rPr lang="en-US" altLang="zh-CN" sz="1600" dirty="0"/>
              <a:t>,</a:t>
            </a:r>
            <a:r>
              <a:rPr lang="zh-CN" altLang="en-US" sz="1600" dirty="0"/>
              <a:t>以此进行拼接的操作这种单向多图拼接算法容易产生拼接的累积误差</a:t>
            </a:r>
            <a:r>
              <a:rPr lang="en-US" altLang="zh-CN" sz="1600" dirty="0"/>
              <a:t>,</a:t>
            </a:r>
            <a:r>
              <a:rPr lang="zh-CN" altLang="en-US" sz="1600" dirty="0"/>
              <a:t>使得图像失真严重</a:t>
            </a:r>
            <a:endParaRPr lang="en-US" altLang="zh-CN" sz="1600" dirty="0"/>
          </a:p>
          <a:p>
            <a:pPr indent="457200">
              <a:lnSpc>
                <a:spcPct val="150000"/>
              </a:lnSpc>
            </a:pPr>
            <a:r>
              <a:rPr lang="zh-CN" altLang="en-US" sz="1600" dirty="0"/>
              <a:t>改进多图拼接算法思想为</a:t>
            </a:r>
            <a:r>
              <a:rPr lang="en-US" altLang="zh-CN" sz="1600" dirty="0"/>
              <a:t>: </a:t>
            </a:r>
            <a:r>
              <a:rPr lang="zh-CN" altLang="en-US" sz="1600" dirty="0"/>
              <a:t>以中间的图像为基准图像</a:t>
            </a:r>
            <a:r>
              <a:rPr lang="en-US" altLang="zh-CN" sz="1600" dirty="0"/>
              <a:t>,</a:t>
            </a:r>
            <a:r>
              <a:rPr lang="zh-CN" altLang="en-US" sz="1600" dirty="0"/>
              <a:t>左右两侧的图像进行配准</a:t>
            </a:r>
            <a:r>
              <a:rPr lang="en-US" altLang="zh-CN" sz="1600" dirty="0"/>
              <a:t>,</a:t>
            </a:r>
            <a:r>
              <a:rPr lang="zh-CN" altLang="en-US" sz="1600" dirty="0"/>
              <a:t>这样使得每张图片只进行单次透视变换</a:t>
            </a:r>
            <a:r>
              <a:rPr lang="en-US" altLang="zh-CN" sz="1600" dirty="0"/>
              <a:t>,</a:t>
            </a:r>
            <a:r>
              <a:rPr lang="zh-CN" altLang="en-US" sz="1600" dirty="0"/>
              <a:t>从而减小由二次配准引起的累积误差失真</a:t>
            </a:r>
            <a:r>
              <a:rPr lang="en-US" altLang="zh-CN" sz="1600" dirty="0"/>
              <a:t>,</a:t>
            </a:r>
            <a:r>
              <a:rPr lang="zh-CN" altLang="en-US" sz="1600" dirty="0"/>
              <a:t>达到优化拼接效果的作用</a:t>
            </a:r>
            <a:endParaRPr lang="en-US" altLang="zh-CN" sz="1600" dirty="0"/>
          </a:p>
          <a:p>
            <a:endParaRPr lang="zh-CN" altLang="en-US" dirty="0"/>
          </a:p>
        </p:txBody>
      </p:sp>
      <p:sp>
        <p:nvSpPr>
          <p:cNvPr id="41" name="文本框 40">
            <a:extLst>
              <a:ext uri="{FF2B5EF4-FFF2-40B4-BE49-F238E27FC236}">
                <a16:creationId xmlns:a16="http://schemas.microsoft.com/office/drawing/2014/main" id="{666584B7-165E-C8D7-20EB-FDBEC40FC559}"/>
              </a:ext>
            </a:extLst>
          </p:cNvPr>
          <p:cNvSpPr txBox="1"/>
          <p:nvPr/>
        </p:nvSpPr>
        <p:spPr>
          <a:xfrm>
            <a:off x="2195999" y="3126658"/>
            <a:ext cx="2867613" cy="307777"/>
          </a:xfrm>
          <a:prstGeom prst="rect">
            <a:avLst/>
          </a:prstGeom>
          <a:noFill/>
          <a:ln cmpd="sng">
            <a:noFill/>
          </a:ln>
        </p:spPr>
        <p:txBody>
          <a:bodyPr wrap="square" rtlCol="0">
            <a:spAutoFit/>
          </a:bodyPr>
          <a:lstStyle/>
          <a:p>
            <a:pPr algn="ctr"/>
            <a:r>
              <a:rPr lang="zh-CN" altLang="en-US" sz="1400" dirty="0"/>
              <a:t>传统多图拼接算法</a:t>
            </a:r>
          </a:p>
        </p:txBody>
      </p:sp>
      <p:pic>
        <p:nvPicPr>
          <p:cNvPr id="47" name="图片 46">
            <a:extLst>
              <a:ext uri="{FF2B5EF4-FFF2-40B4-BE49-F238E27FC236}">
                <a16:creationId xmlns:a16="http://schemas.microsoft.com/office/drawing/2014/main" id="{48A0371C-16DF-E276-7BAE-020CF5F4B578}"/>
              </a:ext>
            </a:extLst>
          </p:cNvPr>
          <p:cNvPicPr>
            <a:picLocks noChangeAspect="1"/>
          </p:cNvPicPr>
          <p:nvPr/>
        </p:nvPicPr>
        <p:blipFill>
          <a:blip r:embed="rId4"/>
          <a:stretch>
            <a:fillRect/>
          </a:stretch>
        </p:blipFill>
        <p:spPr>
          <a:xfrm>
            <a:off x="1466642" y="3659054"/>
            <a:ext cx="4009524" cy="1152381"/>
          </a:xfrm>
          <a:prstGeom prst="rect">
            <a:avLst/>
          </a:prstGeom>
        </p:spPr>
      </p:pic>
      <p:sp>
        <p:nvSpPr>
          <p:cNvPr id="48" name="文本框 47">
            <a:extLst>
              <a:ext uri="{FF2B5EF4-FFF2-40B4-BE49-F238E27FC236}">
                <a16:creationId xmlns:a16="http://schemas.microsoft.com/office/drawing/2014/main" id="{685686A3-D056-AC39-0EFB-8CF78D2D7216}"/>
              </a:ext>
            </a:extLst>
          </p:cNvPr>
          <p:cNvSpPr txBox="1"/>
          <p:nvPr/>
        </p:nvSpPr>
        <p:spPr>
          <a:xfrm>
            <a:off x="2195999" y="4882165"/>
            <a:ext cx="2890684" cy="307777"/>
          </a:xfrm>
          <a:prstGeom prst="rect">
            <a:avLst/>
          </a:prstGeom>
          <a:noFill/>
          <a:ln cmpd="sng">
            <a:noFill/>
          </a:ln>
        </p:spPr>
        <p:txBody>
          <a:bodyPr wrap="square" rtlCol="0">
            <a:spAutoFit/>
          </a:bodyPr>
          <a:lstStyle/>
          <a:p>
            <a:pPr algn="ctr"/>
            <a:r>
              <a:rPr lang="zh-CN" altLang="en-US" sz="1400" dirty="0"/>
              <a:t>改进多图拼接算法</a:t>
            </a:r>
          </a:p>
        </p:txBody>
      </p:sp>
      <p:pic>
        <p:nvPicPr>
          <p:cNvPr id="54" name="图片 53">
            <a:extLst>
              <a:ext uri="{FF2B5EF4-FFF2-40B4-BE49-F238E27FC236}">
                <a16:creationId xmlns:a16="http://schemas.microsoft.com/office/drawing/2014/main" id="{95460633-E333-6239-7402-5F981C9812A3}"/>
              </a:ext>
            </a:extLst>
          </p:cNvPr>
          <p:cNvPicPr>
            <a:picLocks noChangeAspect="1"/>
          </p:cNvPicPr>
          <p:nvPr/>
        </p:nvPicPr>
        <p:blipFill>
          <a:blip r:embed="rId5"/>
          <a:stretch>
            <a:fillRect/>
          </a:stretch>
        </p:blipFill>
        <p:spPr>
          <a:xfrm>
            <a:off x="1561880" y="1288416"/>
            <a:ext cx="3914286" cy="1790476"/>
          </a:xfrm>
          <a:prstGeom prst="rect">
            <a:avLst/>
          </a:prstGeom>
        </p:spPr>
      </p:pic>
    </p:spTree>
    <p:extLst>
      <p:ext uri="{BB962C8B-B14F-4D97-AF65-F5344CB8AC3E}">
        <p14:creationId xmlns:p14="http://schemas.microsoft.com/office/powerpoint/2010/main" val="662018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BD7BB-9A5D-3434-1839-FD18CA2603EF}"/>
            </a:ext>
          </a:extLst>
        </p:cNvPr>
        <p:cNvGrpSpPr/>
        <p:nvPr/>
      </p:nvGrpSpPr>
      <p:grpSpPr>
        <a:xfrm>
          <a:off x="0" y="0"/>
          <a:ext cx="0" cy="0"/>
          <a:chOff x="0" y="0"/>
          <a:chExt cx="0" cy="0"/>
        </a:xfrm>
      </p:grpSpPr>
      <p:sp>
        <p:nvSpPr>
          <p:cNvPr id="1048678" name="标题 1">
            <a:extLst>
              <a:ext uri="{FF2B5EF4-FFF2-40B4-BE49-F238E27FC236}">
                <a16:creationId xmlns:a16="http://schemas.microsoft.com/office/drawing/2014/main" id="{5E915EC2-6064-5D75-79D2-30390BC60A81}"/>
              </a:ext>
            </a:extLst>
          </p:cNvPr>
          <p:cNvSpPr txBox="1"/>
          <p:nvPr/>
        </p:nvSpPr>
        <p:spPr>
          <a:xfrm>
            <a:off x="2150630" y="296863"/>
            <a:ext cx="3801595" cy="645529"/>
          </a:xfrm>
          <a:prstGeom prst="rect">
            <a:avLst/>
          </a:prstGeom>
        </p:spPr>
        <p:txBody>
          <a:bodyPr/>
          <a:lstStyle>
            <a:lvl1pPr algn="ctr" defTabSz="914400" rtl="0" eaLnBrk="1" latinLnBrk="0" hangingPunct="1">
              <a:lnSpc>
                <a:spcPct val="90000"/>
              </a:lnSpc>
              <a:spcBef>
                <a:spcPct val="0"/>
              </a:spcBef>
              <a:buNone/>
              <a:defRPr sz="4400" b="1" kern="1200">
                <a:solidFill>
                  <a:schemeClr val="tx1">
                    <a:lumMod val="75000"/>
                    <a:lumOff val="25000"/>
                  </a:schemeClr>
                </a:solidFill>
                <a:latin typeface="微软雅黑" panose="020B0503020204020204" pitchFamily="34" charset="-122"/>
                <a:ea typeface="微软雅黑" panose="020B0503020204020204" pitchFamily="34" charset="-122"/>
                <a:cs typeface="+mj-cs"/>
              </a:defRPr>
            </a:lvl1pPr>
          </a:lstStyle>
          <a:p>
            <a:pPr algn="l"/>
            <a:r>
              <a:rPr lang="zh-CN" altLang="en-US" sz="3200" dirty="0">
                <a:solidFill>
                  <a:srgbClr val="263A5E"/>
                </a:solidFill>
                <a:latin typeface="+mj-lt"/>
                <a:ea typeface="华文中宋" panose="02010600040101010101" pitchFamily="2" charset="-122"/>
              </a:rPr>
              <a:t>目标检测及定位</a:t>
            </a:r>
          </a:p>
        </p:txBody>
      </p:sp>
      <p:sp>
        <p:nvSpPr>
          <p:cNvPr id="1048679" name="等腰三角形 3">
            <a:extLst>
              <a:ext uri="{FF2B5EF4-FFF2-40B4-BE49-F238E27FC236}">
                <a16:creationId xmlns:a16="http://schemas.microsoft.com/office/drawing/2014/main" id="{1EF791A7-3570-2E87-1843-F9CE621C3884}"/>
              </a:ext>
            </a:extLst>
          </p:cNvPr>
          <p:cNvSpPr/>
          <p:nvPr/>
        </p:nvSpPr>
        <p:spPr bwMode="auto">
          <a:xfrm flipV="1">
            <a:off x="459276" y="0"/>
            <a:ext cx="1691355" cy="942392"/>
          </a:xfrm>
          <a:prstGeom prst="triangle">
            <a:avLst>
              <a:gd name="adj" fmla="val 49494"/>
            </a:avLst>
          </a:prstGeom>
          <a:solidFill>
            <a:srgbClr val="203864"/>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640080" indent="-182880" algn="l" rtl="0" fontAlgn="base">
              <a:spcBef>
                <a:spcPct val="0"/>
              </a:spcBef>
              <a:spcAft>
                <a:spcPct val="0"/>
              </a:spcAft>
              <a:defRPr kern="1200">
                <a:solidFill>
                  <a:schemeClr val="lt1"/>
                </a:solidFill>
                <a:latin typeface="+mn-lt"/>
                <a:ea typeface="+mn-ea"/>
                <a:cs typeface="+mn-cs"/>
              </a:defRPr>
            </a:lvl2pPr>
            <a:lvl3pPr marL="1282700" indent="-368300" algn="l" rtl="0" fontAlgn="base">
              <a:spcBef>
                <a:spcPct val="0"/>
              </a:spcBef>
              <a:spcAft>
                <a:spcPct val="0"/>
              </a:spcAft>
              <a:defRPr kern="1200">
                <a:solidFill>
                  <a:schemeClr val="lt1"/>
                </a:solidFill>
                <a:latin typeface="+mn-lt"/>
                <a:ea typeface="+mn-ea"/>
                <a:cs typeface="+mn-cs"/>
              </a:defRPr>
            </a:lvl3pPr>
            <a:lvl4pPr marL="1925955" indent="-554355" algn="l" rtl="0" fontAlgn="base">
              <a:spcBef>
                <a:spcPct val="0"/>
              </a:spcBef>
              <a:spcAft>
                <a:spcPct val="0"/>
              </a:spcAft>
              <a:defRPr kern="1200">
                <a:solidFill>
                  <a:schemeClr val="lt1"/>
                </a:solidFill>
                <a:latin typeface="+mn-lt"/>
                <a:ea typeface="+mn-ea"/>
                <a:cs typeface="+mn-cs"/>
              </a:defRPr>
            </a:lvl4pPr>
            <a:lvl5pPr marL="2568575" indent="-739775"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endParaRPr lang="zh-CN" altLang="en-US" dirty="0">
              <a:solidFill>
                <a:prstClr val="white"/>
              </a:solidFill>
              <a:effectLst/>
              <a:latin typeface="华文中宋" panose="02010600040101010101" pitchFamily="2" charset="-122"/>
              <a:ea typeface="华文中宋" panose="02010600040101010101" pitchFamily="2" charset="-122"/>
            </a:endParaRPr>
          </a:p>
        </p:txBody>
      </p:sp>
      <p:pic>
        <p:nvPicPr>
          <p:cNvPr id="2097166" name="图片 5">
            <a:extLst>
              <a:ext uri="{FF2B5EF4-FFF2-40B4-BE49-F238E27FC236}">
                <a16:creationId xmlns:a16="http://schemas.microsoft.com/office/drawing/2014/main" id="{B7F51339-318E-AFE2-F20A-C807686E3329}"/>
              </a:ext>
            </a:extLst>
          </p:cNvPr>
          <p:cNvPicPr>
            <a:picLocks noChangeAspect="1"/>
          </p:cNvPicPr>
          <p:nvPr/>
        </p:nvPicPr>
        <p:blipFill>
          <a:blip r:embed="rId3" cstate="print"/>
          <a:stretch>
            <a:fillRect/>
          </a:stretch>
        </p:blipFill>
        <p:spPr>
          <a:xfrm>
            <a:off x="10635170" y="103917"/>
            <a:ext cx="1219202" cy="786386"/>
          </a:xfrm>
          <a:prstGeom prst="rect">
            <a:avLst/>
          </a:prstGeom>
        </p:spPr>
      </p:pic>
      <p:cxnSp>
        <p:nvCxnSpPr>
          <p:cNvPr id="3145742" name="直接连接符 8">
            <a:extLst>
              <a:ext uri="{FF2B5EF4-FFF2-40B4-BE49-F238E27FC236}">
                <a16:creationId xmlns:a16="http://schemas.microsoft.com/office/drawing/2014/main" id="{5DF71F20-A387-31DD-95CA-11A8D5053A28}"/>
              </a:ext>
            </a:extLst>
          </p:cNvPr>
          <p:cNvCxnSpPr/>
          <p:nvPr/>
        </p:nvCxnSpPr>
        <p:spPr>
          <a:xfrm>
            <a:off x="2196000" y="936000"/>
            <a:ext cx="8280000" cy="0"/>
          </a:xfrm>
          <a:prstGeom prst="line">
            <a:avLst/>
          </a:prstGeom>
          <a:ln w="41275">
            <a:solidFill>
              <a:schemeClr val="accent1">
                <a:lumMod val="50000"/>
              </a:schemeClr>
            </a:solidFill>
          </a:ln>
        </p:spPr>
        <p:style>
          <a:lnRef idx="1">
            <a:schemeClr val="dk1"/>
          </a:lnRef>
          <a:fillRef idx="0">
            <a:schemeClr val="dk1"/>
          </a:fillRef>
          <a:effectRef idx="0">
            <a:schemeClr val="dk1"/>
          </a:effectRef>
          <a:fontRef idx="minor">
            <a:schemeClr val="tx1"/>
          </a:fontRef>
        </p:style>
      </p:cxnSp>
      <p:sp>
        <p:nvSpPr>
          <p:cNvPr id="3" name="灯片编号占位符 2">
            <a:extLst>
              <a:ext uri="{FF2B5EF4-FFF2-40B4-BE49-F238E27FC236}">
                <a16:creationId xmlns:a16="http://schemas.microsoft.com/office/drawing/2014/main" id="{59CCCD90-B24C-5A5A-80BA-FD231525A9B9}"/>
              </a:ext>
            </a:extLst>
          </p:cNvPr>
          <p:cNvSpPr>
            <a:spLocks noGrp="1"/>
          </p:cNvSpPr>
          <p:nvPr>
            <p:ph type="sldNum" sz="quarter" idx="12"/>
          </p:nvPr>
        </p:nvSpPr>
        <p:spPr/>
        <p:txBody>
          <a:bodyPr/>
          <a:lstStyle/>
          <a:p>
            <a:fld id="{4C728F51-6063-40BC-906F-D6FBF0AE26BF}" type="slidenum">
              <a:rPr lang="zh-CN" altLang="en-US" smtClean="0"/>
              <a:t>6</a:t>
            </a:fld>
            <a:endParaRPr lang="zh-CN" altLang="en-US"/>
          </a:p>
        </p:txBody>
      </p:sp>
      <p:sp>
        <p:nvSpPr>
          <p:cNvPr id="13" name="文本占位符 2">
            <a:extLst>
              <a:ext uri="{FF2B5EF4-FFF2-40B4-BE49-F238E27FC236}">
                <a16:creationId xmlns:a16="http://schemas.microsoft.com/office/drawing/2014/main" id="{00848ADF-334E-E0C4-541C-B11AAD1931D7}"/>
              </a:ext>
            </a:extLst>
          </p:cNvPr>
          <p:cNvSpPr txBox="1"/>
          <p:nvPr/>
        </p:nvSpPr>
        <p:spPr>
          <a:xfrm>
            <a:off x="924180" y="104570"/>
            <a:ext cx="832757" cy="5630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mn-lt"/>
                <a:ea typeface="华文中宋" panose="02010600040101010101" pitchFamily="2" charset="-122"/>
              </a:rPr>
              <a:t>02</a:t>
            </a:r>
            <a:endParaRPr lang="zh-CN" altLang="en-US" dirty="0">
              <a:latin typeface="+mn-lt"/>
              <a:ea typeface="华文中宋" panose="02010600040101010101" pitchFamily="2" charset="-122"/>
            </a:endParaRPr>
          </a:p>
        </p:txBody>
      </p:sp>
      <p:sp>
        <p:nvSpPr>
          <p:cNvPr id="2" name="文本框 1">
            <a:extLst>
              <a:ext uri="{FF2B5EF4-FFF2-40B4-BE49-F238E27FC236}">
                <a16:creationId xmlns:a16="http://schemas.microsoft.com/office/drawing/2014/main" id="{BA197C89-1D2C-FB21-907F-29178176D964}"/>
              </a:ext>
            </a:extLst>
          </p:cNvPr>
          <p:cNvSpPr txBox="1"/>
          <p:nvPr/>
        </p:nvSpPr>
        <p:spPr>
          <a:xfrm>
            <a:off x="933733" y="1139715"/>
            <a:ext cx="2560320" cy="369332"/>
          </a:xfrm>
          <a:prstGeom prst="rect">
            <a:avLst/>
          </a:prstGeom>
          <a:noFill/>
          <a:ln cmpd="sng">
            <a:noFill/>
          </a:ln>
        </p:spPr>
        <p:txBody>
          <a:bodyPr wrap="square" rtlCol="0">
            <a:spAutoFit/>
          </a:bodyPr>
          <a:lstStyle/>
          <a:p>
            <a:pPr algn="l"/>
            <a:r>
              <a:rPr lang="zh-CN" altLang="en-US" dirty="0"/>
              <a:t>网格变形优化</a:t>
            </a:r>
          </a:p>
        </p:txBody>
      </p:sp>
      <p:pic>
        <p:nvPicPr>
          <p:cNvPr id="6" name="图片 5">
            <a:extLst>
              <a:ext uri="{FF2B5EF4-FFF2-40B4-BE49-F238E27FC236}">
                <a16:creationId xmlns:a16="http://schemas.microsoft.com/office/drawing/2014/main" id="{F1F3FA02-14A8-E1D2-CB0A-0B8A5EF893A3}"/>
              </a:ext>
            </a:extLst>
          </p:cNvPr>
          <p:cNvPicPr>
            <a:picLocks noChangeAspect="1"/>
          </p:cNvPicPr>
          <p:nvPr/>
        </p:nvPicPr>
        <p:blipFill>
          <a:blip r:embed="rId4"/>
          <a:stretch>
            <a:fillRect/>
          </a:stretch>
        </p:blipFill>
        <p:spPr>
          <a:xfrm>
            <a:off x="1204556" y="1786143"/>
            <a:ext cx="1104762" cy="3285714"/>
          </a:xfrm>
          <a:prstGeom prst="rect">
            <a:avLst/>
          </a:prstGeom>
        </p:spPr>
      </p:pic>
      <p:sp>
        <p:nvSpPr>
          <p:cNvPr id="7" name="文本框 6">
            <a:extLst>
              <a:ext uri="{FF2B5EF4-FFF2-40B4-BE49-F238E27FC236}">
                <a16:creationId xmlns:a16="http://schemas.microsoft.com/office/drawing/2014/main" id="{A7F354A4-30CD-FA67-72BB-730D549F1032}"/>
              </a:ext>
            </a:extLst>
          </p:cNvPr>
          <p:cNvSpPr txBox="1"/>
          <p:nvPr/>
        </p:nvSpPr>
        <p:spPr>
          <a:xfrm>
            <a:off x="3069005" y="1339389"/>
            <a:ext cx="8488681" cy="2958630"/>
          </a:xfrm>
          <a:prstGeom prst="rect">
            <a:avLst/>
          </a:prstGeom>
          <a:noFill/>
          <a:ln cmpd="sng">
            <a:noFill/>
          </a:ln>
        </p:spPr>
        <p:txBody>
          <a:bodyPr wrap="square" rtlCol="0">
            <a:spAutoFit/>
          </a:bodyPr>
          <a:lstStyle/>
          <a:p>
            <a:pPr indent="457200">
              <a:lnSpc>
                <a:spcPct val="150000"/>
              </a:lnSpc>
            </a:pPr>
            <a:r>
              <a:rPr lang="zh-CN" altLang="en-US" dirty="0"/>
              <a:t>先对图像做 </a:t>
            </a:r>
            <a:r>
              <a:rPr lang="en-US" altLang="zh-CN" dirty="0"/>
              <a:t>C1×C2</a:t>
            </a:r>
            <a:r>
              <a:rPr lang="zh-CN" altLang="en-US" dirty="0"/>
              <a:t>规则网格划分</a:t>
            </a:r>
            <a:r>
              <a:rPr lang="en-US" altLang="zh-CN" dirty="0"/>
              <a:t>V,</a:t>
            </a:r>
            <a:r>
              <a:rPr lang="zh-CN" altLang="en-US" dirty="0"/>
              <a:t>得到由四个顶点控制的小四边形</a:t>
            </a:r>
            <a:r>
              <a:rPr lang="en-US" altLang="zh-CN" dirty="0"/>
              <a:t>,</a:t>
            </a:r>
            <a:r>
              <a:rPr lang="zh-CN" altLang="en-US" dirty="0"/>
              <a:t>然后结合几何约束</a:t>
            </a:r>
            <a:r>
              <a:rPr lang="en-US" altLang="zh-CN" dirty="0"/>
              <a:t>(</a:t>
            </a:r>
            <a:r>
              <a:rPr lang="zh-CN" altLang="en-US" dirty="0"/>
              <a:t>直线保持、点线对齐、失真抑制</a:t>
            </a:r>
            <a:r>
              <a:rPr lang="en-US" altLang="zh-CN" dirty="0"/>
              <a:t>)</a:t>
            </a:r>
            <a:r>
              <a:rPr lang="zh-CN" altLang="en-US" dirty="0"/>
              <a:t>构建能量项，组成稀疏线性系统 </a:t>
            </a:r>
            <a:r>
              <a:rPr lang="en-US" altLang="zh-CN" dirty="0" err="1"/>
              <a:t>A·V≈b</a:t>
            </a:r>
            <a:r>
              <a:rPr lang="en-US" altLang="zh-CN" dirty="0"/>
              <a:t>,</a:t>
            </a:r>
            <a:r>
              <a:rPr lang="zh-CN" altLang="en-US" dirty="0"/>
              <a:t>用迭代法</a:t>
            </a:r>
            <a:r>
              <a:rPr lang="en-US" altLang="zh-CN" dirty="0"/>
              <a:t>(LSQR)</a:t>
            </a:r>
            <a:r>
              <a:rPr lang="zh-CN" altLang="en-US" dirty="0"/>
              <a:t>求解优化网格顶点 </a:t>
            </a:r>
            <a:r>
              <a:rPr lang="en-US" altLang="zh-CN" dirty="0"/>
              <a:t>V</a:t>
            </a:r>
            <a:r>
              <a:rPr lang="zh-CN" altLang="en-US" dirty="0"/>
              <a:t>得到</a:t>
            </a:r>
            <a:r>
              <a:rPr lang="en-US" altLang="zh-CN" dirty="0"/>
              <a:t>V*</a:t>
            </a:r>
            <a:r>
              <a:rPr lang="zh-CN" altLang="en-US" dirty="0"/>
              <a:t>，依据 </a:t>
            </a:r>
            <a:r>
              <a:rPr lang="en-US" altLang="zh-CN" dirty="0"/>
              <a:t>V*</a:t>
            </a:r>
            <a:r>
              <a:rPr lang="zh-CN" altLang="en-US" dirty="0"/>
              <a:t>对原图分片双线性变形，计算全局偏移量 </a:t>
            </a:r>
            <a:r>
              <a:rPr lang="en-US" altLang="zh-CN" dirty="0"/>
              <a:t>off </a:t>
            </a:r>
            <a:r>
              <a:rPr lang="zh-CN" altLang="en-US" dirty="0"/>
              <a:t>并平移顶点至第一象限，确定拼接画布尺寸 </a:t>
            </a:r>
            <a:r>
              <a:rPr lang="en-US" altLang="zh-CN" dirty="0"/>
              <a:t>[</a:t>
            </a:r>
            <a:r>
              <a:rPr lang="en-US" altLang="zh-CN" dirty="0" err="1"/>
              <a:t>ch,cw</a:t>
            </a:r>
            <a:r>
              <a:rPr lang="en-US" altLang="zh-CN" dirty="0"/>
              <a:t>]</a:t>
            </a:r>
            <a:r>
              <a:rPr lang="zh-CN" altLang="en-US" dirty="0"/>
              <a:t>，记录原网格 </a:t>
            </a:r>
            <a:r>
              <a:rPr lang="en-US" altLang="zh-CN" dirty="0"/>
              <a:t>V </a:t>
            </a:r>
            <a:r>
              <a:rPr lang="zh-CN" altLang="en-US" dirty="0"/>
              <a:t>与优化网格 </a:t>
            </a:r>
            <a:r>
              <a:rPr lang="en-US" altLang="zh-CN" dirty="0"/>
              <a:t>V*</a:t>
            </a:r>
            <a:r>
              <a:rPr lang="zh-CN" altLang="en-US" dirty="0"/>
              <a:t>的顶点对应关系；定义</a:t>
            </a:r>
            <a:r>
              <a:rPr lang="zh-CN" altLang="en-US" b="1" dirty="0"/>
              <a:t>拼接投影变换参数 </a:t>
            </a:r>
            <a:r>
              <a:rPr lang="en-US" altLang="zh-CN" b="1" dirty="0"/>
              <a:t>SPTP</a:t>
            </a:r>
            <a:r>
              <a:rPr lang="en-US" altLang="zh-CN" dirty="0"/>
              <a:t>= {V, V*, off, </a:t>
            </a:r>
            <a:r>
              <a:rPr lang="en-US" altLang="zh-CN" dirty="0" err="1"/>
              <a:t>ch,cw</a:t>
            </a:r>
            <a:r>
              <a:rPr lang="en-US" altLang="zh-CN" dirty="0"/>
              <a:t>}</a:t>
            </a:r>
            <a:r>
              <a:rPr lang="zh-CN" altLang="en-US" dirty="0"/>
              <a:t>，它封装了原图到拼接图的网格映射、偏移与画布尺寸信息；基于 </a:t>
            </a:r>
            <a:r>
              <a:rPr lang="en-US" altLang="zh-CN" dirty="0"/>
              <a:t>SPTP</a:t>
            </a:r>
            <a:r>
              <a:rPr lang="zh-CN" altLang="en-US" dirty="0"/>
              <a:t>建立了原图像素到拼接坐标的映射</a:t>
            </a:r>
            <a:endParaRPr lang="en-US" altLang="zh-CN" i="1" dirty="0"/>
          </a:p>
        </p:txBody>
      </p:sp>
      <p:sp>
        <p:nvSpPr>
          <p:cNvPr id="9" name="文本框 8">
            <a:extLst>
              <a:ext uri="{FF2B5EF4-FFF2-40B4-BE49-F238E27FC236}">
                <a16:creationId xmlns:a16="http://schemas.microsoft.com/office/drawing/2014/main" id="{EA37045E-3742-88C7-B5DF-45FF40EC6C9D}"/>
              </a:ext>
            </a:extLst>
          </p:cNvPr>
          <p:cNvSpPr txBox="1"/>
          <p:nvPr/>
        </p:nvSpPr>
        <p:spPr>
          <a:xfrm>
            <a:off x="3138616" y="4382530"/>
            <a:ext cx="8114270" cy="1296637"/>
          </a:xfrm>
          <a:prstGeom prst="rect">
            <a:avLst/>
          </a:prstGeom>
          <a:noFill/>
          <a:ln cmpd="sng">
            <a:noFill/>
          </a:ln>
        </p:spPr>
        <p:txBody>
          <a:bodyPr wrap="square" rtlCol="0">
            <a:spAutoFit/>
          </a:bodyPr>
          <a:lstStyle/>
          <a:p>
            <a:pPr indent="457200">
              <a:lnSpc>
                <a:spcPct val="150000"/>
              </a:lnSpc>
            </a:pPr>
            <a:r>
              <a:rPr lang="zh-CN" altLang="en-US" dirty="0"/>
              <a:t>对任意原图像素</a:t>
            </a:r>
            <a:r>
              <a:rPr lang="en-US" altLang="zh-CN" dirty="0"/>
              <a:t>p</a:t>
            </a:r>
            <a:r>
              <a:rPr lang="zh-CN" altLang="en-US" dirty="0"/>
              <a:t>，先定位其所在网格单元，计算双线性权重</a:t>
            </a:r>
            <a:r>
              <a:rPr lang="en-US" altLang="zh-CN" dirty="0"/>
              <a:t>w</a:t>
            </a:r>
            <a:r>
              <a:rPr lang="zh-CN" altLang="en-US" dirty="0"/>
              <a:t>，再按公式</a:t>
            </a:r>
            <a:r>
              <a:rPr lang="en-US" altLang="zh-CN" dirty="0" err="1"/>
              <a:t>x_stitch</a:t>
            </a:r>
            <a:r>
              <a:rPr lang="en-US" altLang="zh-CN" dirty="0"/>
              <a:t> = </a:t>
            </a:r>
            <a:r>
              <a:rPr lang="en-US" altLang="zh-CN" dirty="0" err="1"/>
              <a:t>w·V</a:t>
            </a:r>
            <a:r>
              <a:rPr lang="en-US" altLang="zh-CN" dirty="0"/>
              <a:t>* + off</a:t>
            </a:r>
            <a:r>
              <a:rPr lang="zh-CN" altLang="en-US" dirty="0"/>
              <a:t>得到拼接坐标</a:t>
            </a:r>
            <a:r>
              <a:rPr lang="en-US" altLang="zh-CN" dirty="0"/>
              <a:t>,</a:t>
            </a:r>
            <a:r>
              <a:rPr lang="zh-CN" altLang="en-US" dirty="0"/>
              <a:t>最终形成</a:t>
            </a:r>
            <a:r>
              <a:rPr lang="en-US" altLang="zh-CN" dirty="0"/>
              <a:t>“</a:t>
            </a:r>
            <a:r>
              <a:rPr lang="zh-CN" altLang="en-US" dirty="0"/>
              <a:t>点云</a:t>
            </a:r>
            <a:r>
              <a:rPr lang="en-US" altLang="zh-CN" dirty="0"/>
              <a:t>-</a:t>
            </a:r>
            <a:r>
              <a:rPr lang="zh-CN" altLang="en-US" dirty="0"/>
              <a:t>原图</a:t>
            </a:r>
            <a:r>
              <a:rPr lang="en-US" altLang="zh-CN" dirty="0"/>
              <a:t>-</a:t>
            </a:r>
            <a:r>
              <a:rPr lang="zh-CN" altLang="en-US" dirty="0"/>
              <a:t>拼接图</a:t>
            </a:r>
            <a:r>
              <a:rPr lang="en-US" altLang="zh-CN" dirty="0"/>
              <a:t>”</a:t>
            </a:r>
            <a:r>
              <a:rPr lang="zh-CN" altLang="en-US" dirty="0"/>
              <a:t>的路径转化，为后续的目标定位提供了基础</a:t>
            </a:r>
          </a:p>
        </p:txBody>
      </p:sp>
    </p:spTree>
    <p:extLst>
      <p:ext uri="{BB962C8B-B14F-4D97-AF65-F5344CB8AC3E}">
        <p14:creationId xmlns:p14="http://schemas.microsoft.com/office/powerpoint/2010/main" val="3282462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52E0D-9321-772E-74BB-778DB9C6367E}"/>
            </a:ext>
          </a:extLst>
        </p:cNvPr>
        <p:cNvGrpSpPr/>
        <p:nvPr/>
      </p:nvGrpSpPr>
      <p:grpSpPr>
        <a:xfrm>
          <a:off x="0" y="0"/>
          <a:ext cx="0" cy="0"/>
          <a:chOff x="0" y="0"/>
          <a:chExt cx="0" cy="0"/>
        </a:xfrm>
      </p:grpSpPr>
      <p:sp>
        <p:nvSpPr>
          <p:cNvPr id="1048678" name="标题 1">
            <a:extLst>
              <a:ext uri="{FF2B5EF4-FFF2-40B4-BE49-F238E27FC236}">
                <a16:creationId xmlns:a16="http://schemas.microsoft.com/office/drawing/2014/main" id="{BC69E731-87D3-F2B8-DB77-2870416CD353}"/>
              </a:ext>
            </a:extLst>
          </p:cNvPr>
          <p:cNvSpPr txBox="1"/>
          <p:nvPr/>
        </p:nvSpPr>
        <p:spPr>
          <a:xfrm>
            <a:off x="2150630" y="296863"/>
            <a:ext cx="3801595" cy="645529"/>
          </a:xfrm>
          <a:prstGeom prst="rect">
            <a:avLst/>
          </a:prstGeom>
        </p:spPr>
        <p:txBody>
          <a:bodyPr/>
          <a:lstStyle>
            <a:lvl1pPr algn="ctr" defTabSz="914400" rtl="0" eaLnBrk="1" latinLnBrk="0" hangingPunct="1">
              <a:lnSpc>
                <a:spcPct val="90000"/>
              </a:lnSpc>
              <a:spcBef>
                <a:spcPct val="0"/>
              </a:spcBef>
              <a:buNone/>
              <a:defRPr sz="4400" b="1" kern="1200">
                <a:solidFill>
                  <a:schemeClr val="tx1">
                    <a:lumMod val="75000"/>
                    <a:lumOff val="25000"/>
                  </a:schemeClr>
                </a:solidFill>
                <a:latin typeface="微软雅黑" panose="020B0503020204020204" pitchFamily="34" charset="-122"/>
                <a:ea typeface="微软雅黑" panose="020B0503020204020204" pitchFamily="34" charset="-122"/>
                <a:cs typeface="+mj-cs"/>
              </a:defRPr>
            </a:lvl1pPr>
          </a:lstStyle>
          <a:p>
            <a:pPr algn="l"/>
            <a:r>
              <a:rPr lang="zh-CN" altLang="en-US" sz="3200" dirty="0">
                <a:solidFill>
                  <a:srgbClr val="263A5E"/>
                </a:solidFill>
                <a:latin typeface="+mj-lt"/>
                <a:ea typeface="华文中宋" panose="02010600040101010101" pitchFamily="2" charset="-122"/>
              </a:rPr>
              <a:t>目标检测及定位</a:t>
            </a:r>
          </a:p>
        </p:txBody>
      </p:sp>
      <p:sp>
        <p:nvSpPr>
          <p:cNvPr id="1048679" name="等腰三角形 3">
            <a:extLst>
              <a:ext uri="{FF2B5EF4-FFF2-40B4-BE49-F238E27FC236}">
                <a16:creationId xmlns:a16="http://schemas.microsoft.com/office/drawing/2014/main" id="{83AC44A2-EB8D-2527-5963-8E490A35A5AA}"/>
              </a:ext>
            </a:extLst>
          </p:cNvPr>
          <p:cNvSpPr/>
          <p:nvPr/>
        </p:nvSpPr>
        <p:spPr bwMode="auto">
          <a:xfrm flipV="1">
            <a:off x="459276" y="0"/>
            <a:ext cx="1691355" cy="942392"/>
          </a:xfrm>
          <a:prstGeom prst="triangle">
            <a:avLst>
              <a:gd name="adj" fmla="val 49494"/>
            </a:avLst>
          </a:prstGeom>
          <a:solidFill>
            <a:srgbClr val="203864"/>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640080" indent="-182880" algn="l" rtl="0" fontAlgn="base">
              <a:spcBef>
                <a:spcPct val="0"/>
              </a:spcBef>
              <a:spcAft>
                <a:spcPct val="0"/>
              </a:spcAft>
              <a:defRPr kern="1200">
                <a:solidFill>
                  <a:schemeClr val="lt1"/>
                </a:solidFill>
                <a:latin typeface="+mn-lt"/>
                <a:ea typeface="+mn-ea"/>
                <a:cs typeface="+mn-cs"/>
              </a:defRPr>
            </a:lvl2pPr>
            <a:lvl3pPr marL="1282700" indent="-368300" algn="l" rtl="0" fontAlgn="base">
              <a:spcBef>
                <a:spcPct val="0"/>
              </a:spcBef>
              <a:spcAft>
                <a:spcPct val="0"/>
              </a:spcAft>
              <a:defRPr kern="1200">
                <a:solidFill>
                  <a:schemeClr val="lt1"/>
                </a:solidFill>
                <a:latin typeface="+mn-lt"/>
                <a:ea typeface="+mn-ea"/>
                <a:cs typeface="+mn-cs"/>
              </a:defRPr>
            </a:lvl3pPr>
            <a:lvl4pPr marL="1925955" indent="-554355" algn="l" rtl="0" fontAlgn="base">
              <a:spcBef>
                <a:spcPct val="0"/>
              </a:spcBef>
              <a:spcAft>
                <a:spcPct val="0"/>
              </a:spcAft>
              <a:defRPr kern="1200">
                <a:solidFill>
                  <a:schemeClr val="lt1"/>
                </a:solidFill>
                <a:latin typeface="+mn-lt"/>
                <a:ea typeface="+mn-ea"/>
                <a:cs typeface="+mn-cs"/>
              </a:defRPr>
            </a:lvl4pPr>
            <a:lvl5pPr marL="2568575" indent="-739775"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endParaRPr lang="zh-CN" altLang="en-US" dirty="0">
              <a:solidFill>
                <a:prstClr val="white"/>
              </a:solidFill>
              <a:effectLst/>
              <a:latin typeface="华文中宋" panose="02010600040101010101" pitchFamily="2" charset="-122"/>
              <a:ea typeface="华文中宋" panose="02010600040101010101" pitchFamily="2" charset="-122"/>
            </a:endParaRPr>
          </a:p>
        </p:txBody>
      </p:sp>
      <p:pic>
        <p:nvPicPr>
          <p:cNvPr id="2097166" name="图片 5">
            <a:extLst>
              <a:ext uri="{FF2B5EF4-FFF2-40B4-BE49-F238E27FC236}">
                <a16:creationId xmlns:a16="http://schemas.microsoft.com/office/drawing/2014/main" id="{33C67024-A2D4-C6DB-6A11-D835BD1E1051}"/>
              </a:ext>
            </a:extLst>
          </p:cNvPr>
          <p:cNvPicPr>
            <a:picLocks noChangeAspect="1"/>
          </p:cNvPicPr>
          <p:nvPr/>
        </p:nvPicPr>
        <p:blipFill>
          <a:blip r:embed="rId3" cstate="print"/>
          <a:stretch>
            <a:fillRect/>
          </a:stretch>
        </p:blipFill>
        <p:spPr>
          <a:xfrm>
            <a:off x="10635170" y="103917"/>
            <a:ext cx="1219202" cy="786386"/>
          </a:xfrm>
          <a:prstGeom prst="rect">
            <a:avLst/>
          </a:prstGeom>
        </p:spPr>
      </p:pic>
      <p:cxnSp>
        <p:nvCxnSpPr>
          <p:cNvPr id="3145742" name="直接连接符 8">
            <a:extLst>
              <a:ext uri="{FF2B5EF4-FFF2-40B4-BE49-F238E27FC236}">
                <a16:creationId xmlns:a16="http://schemas.microsoft.com/office/drawing/2014/main" id="{782D559D-D1D3-160E-1D71-E1D381E5C014}"/>
              </a:ext>
            </a:extLst>
          </p:cNvPr>
          <p:cNvCxnSpPr/>
          <p:nvPr/>
        </p:nvCxnSpPr>
        <p:spPr>
          <a:xfrm>
            <a:off x="2196000" y="936000"/>
            <a:ext cx="8280000" cy="0"/>
          </a:xfrm>
          <a:prstGeom prst="line">
            <a:avLst/>
          </a:prstGeom>
          <a:ln w="41275">
            <a:solidFill>
              <a:schemeClr val="accent1">
                <a:lumMod val="50000"/>
              </a:schemeClr>
            </a:solidFill>
          </a:ln>
        </p:spPr>
        <p:style>
          <a:lnRef idx="1">
            <a:schemeClr val="dk1"/>
          </a:lnRef>
          <a:fillRef idx="0">
            <a:schemeClr val="dk1"/>
          </a:fillRef>
          <a:effectRef idx="0">
            <a:schemeClr val="dk1"/>
          </a:effectRef>
          <a:fontRef idx="minor">
            <a:schemeClr val="tx1"/>
          </a:fontRef>
        </p:style>
      </p:cxnSp>
      <p:sp>
        <p:nvSpPr>
          <p:cNvPr id="3" name="灯片编号占位符 2">
            <a:extLst>
              <a:ext uri="{FF2B5EF4-FFF2-40B4-BE49-F238E27FC236}">
                <a16:creationId xmlns:a16="http://schemas.microsoft.com/office/drawing/2014/main" id="{7DDBD0D6-AD7F-A2A5-A01C-D308B9F164A1}"/>
              </a:ext>
            </a:extLst>
          </p:cNvPr>
          <p:cNvSpPr>
            <a:spLocks noGrp="1"/>
          </p:cNvSpPr>
          <p:nvPr>
            <p:ph type="sldNum" sz="quarter" idx="12"/>
          </p:nvPr>
        </p:nvSpPr>
        <p:spPr/>
        <p:txBody>
          <a:bodyPr/>
          <a:lstStyle/>
          <a:p>
            <a:fld id="{4C728F51-6063-40BC-906F-D6FBF0AE26BF}" type="slidenum">
              <a:rPr lang="zh-CN" altLang="en-US" smtClean="0"/>
              <a:t>7</a:t>
            </a:fld>
            <a:endParaRPr lang="zh-CN" altLang="en-US"/>
          </a:p>
        </p:txBody>
      </p:sp>
      <p:sp>
        <p:nvSpPr>
          <p:cNvPr id="13" name="文本占位符 2">
            <a:extLst>
              <a:ext uri="{FF2B5EF4-FFF2-40B4-BE49-F238E27FC236}">
                <a16:creationId xmlns:a16="http://schemas.microsoft.com/office/drawing/2014/main" id="{A5162B70-D2CB-7ADB-2F1E-E58ED094FD4A}"/>
              </a:ext>
            </a:extLst>
          </p:cNvPr>
          <p:cNvSpPr txBox="1"/>
          <p:nvPr/>
        </p:nvSpPr>
        <p:spPr>
          <a:xfrm>
            <a:off x="924180" y="104570"/>
            <a:ext cx="832757" cy="5630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mn-lt"/>
                <a:ea typeface="华文中宋" panose="02010600040101010101" pitchFamily="2" charset="-122"/>
              </a:rPr>
              <a:t>02</a:t>
            </a:r>
            <a:endParaRPr lang="zh-CN" altLang="en-US" dirty="0">
              <a:latin typeface="+mn-lt"/>
              <a:ea typeface="华文中宋" panose="02010600040101010101" pitchFamily="2" charset="-122"/>
            </a:endParaRPr>
          </a:p>
        </p:txBody>
      </p:sp>
      <p:pic>
        <p:nvPicPr>
          <p:cNvPr id="6" name="图片 5">
            <a:extLst>
              <a:ext uri="{FF2B5EF4-FFF2-40B4-BE49-F238E27FC236}">
                <a16:creationId xmlns:a16="http://schemas.microsoft.com/office/drawing/2014/main" id="{F626C8CB-24FD-D274-B683-E525504414F5}"/>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95519" y="3319719"/>
            <a:ext cx="3602686" cy="1233961"/>
          </a:xfrm>
          <a:prstGeom prst="rect">
            <a:avLst/>
          </a:prstGeom>
        </p:spPr>
      </p:pic>
      <p:sp>
        <p:nvSpPr>
          <p:cNvPr id="12" name="文本框 11">
            <a:extLst>
              <a:ext uri="{FF2B5EF4-FFF2-40B4-BE49-F238E27FC236}">
                <a16:creationId xmlns:a16="http://schemas.microsoft.com/office/drawing/2014/main" id="{E1230839-8340-912E-EAF2-04727C0A878E}"/>
              </a:ext>
            </a:extLst>
          </p:cNvPr>
          <p:cNvSpPr txBox="1"/>
          <p:nvPr/>
        </p:nvSpPr>
        <p:spPr>
          <a:xfrm>
            <a:off x="924180" y="4578255"/>
            <a:ext cx="2047246" cy="307777"/>
          </a:xfrm>
          <a:prstGeom prst="rect">
            <a:avLst/>
          </a:prstGeom>
          <a:noFill/>
        </p:spPr>
        <p:txBody>
          <a:bodyPr wrap="square" rtlCol="0">
            <a:spAutoFit/>
          </a:bodyPr>
          <a:lstStyle/>
          <a:p>
            <a:pPr algn="ctr"/>
            <a:r>
              <a:rPr lang="zh-CN" altLang="en-US" sz="1400" dirty="0"/>
              <a:t>目标检测可视化</a:t>
            </a:r>
          </a:p>
        </p:txBody>
      </p:sp>
      <p:pic>
        <p:nvPicPr>
          <p:cNvPr id="19" name="图片 18">
            <a:extLst>
              <a:ext uri="{FF2B5EF4-FFF2-40B4-BE49-F238E27FC236}">
                <a16:creationId xmlns:a16="http://schemas.microsoft.com/office/drawing/2014/main" id="{33EFD576-05F8-BEDC-5F33-E6F01CD5116B}"/>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69971" y="1535305"/>
            <a:ext cx="3761318" cy="1367614"/>
          </a:xfrm>
          <a:prstGeom prst="rect">
            <a:avLst/>
          </a:prstGeom>
        </p:spPr>
      </p:pic>
      <p:sp>
        <p:nvSpPr>
          <p:cNvPr id="21" name="文本框 20">
            <a:extLst>
              <a:ext uri="{FF2B5EF4-FFF2-40B4-BE49-F238E27FC236}">
                <a16:creationId xmlns:a16="http://schemas.microsoft.com/office/drawing/2014/main" id="{4A773B18-CF41-A8AB-D90A-8028CA85B585}"/>
              </a:ext>
            </a:extLst>
          </p:cNvPr>
          <p:cNvSpPr txBox="1"/>
          <p:nvPr/>
        </p:nvSpPr>
        <p:spPr>
          <a:xfrm>
            <a:off x="106372" y="2895734"/>
            <a:ext cx="4179256" cy="307777"/>
          </a:xfrm>
          <a:prstGeom prst="rect">
            <a:avLst/>
          </a:prstGeom>
          <a:noFill/>
        </p:spPr>
        <p:txBody>
          <a:bodyPr wrap="square" rtlCol="0">
            <a:spAutoFit/>
          </a:bodyPr>
          <a:lstStyle/>
          <a:p>
            <a:pPr algn="ctr"/>
            <a:r>
              <a:rPr lang="zh-CN" altLang="en-US" sz="1400" dirty="0"/>
              <a:t>点云投影到拼接图示意图</a:t>
            </a:r>
          </a:p>
        </p:txBody>
      </p:sp>
      <p:pic>
        <p:nvPicPr>
          <p:cNvPr id="2" name="图片 1">
            <a:extLst>
              <a:ext uri="{FF2B5EF4-FFF2-40B4-BE49-F238E27FC236}">
                <a16:creationId xmlns:a16="http://schemas.microsoft.com/office/drawing/2014/main" id="{A3DCB8C6-905E-1C24-F316-EDCAE7DC2C81}"/>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222340" y="4886032"/>
            <a:ext cx="3528913" cy="1283111"/>
          </a:xfrm>
          <a:prstGeom prst="rect">
            <a:avLst/>
          </a:prstGeom>
        </p:spPr>
      </p:pic>
      <p:sp>
        <p:nvSpPr>
          <p:cNvPr id="4" name="文本框 3">
            <a:extLst>
              <a:ext uri="{FF2B5EF4-FFF2-40B4-BE49-F238E27FC236}">
                <a16:creationId xmlns:a16="http://schemas.microsoft.com/office/drawing/2014/main" id="{BA3A96CB-242A-EBED-1E73-1CEBA6E399BB}"/>
              </a:ext>
            </a:extLst>
          </p:cNvPr>
          <p:cNvSpPr txBox="1"/>
          <p:nvPr/>
        </p:nvSpPr>
        <p:spPr>
          <a:xfrm>
            <a:off x="309387" y="6169143"/>
            <a:ext cx="3494796" cy="307777"/>
          </a:xfrm>
          <a:prstGeom prst="rect">
            <a:avLst/>
          </a:prstGeom>
          <a:noFill/>
          <a:ln cmpd="sng">
            <a:noFill/>
          </a:ln>
        </p:spPr>
        <p:txBody>
          <a:bodyPr wrap="square" rtlCol="0">
            <a:spAutoFit/>
          </a:bodyPr>
          <a:lstStyle/>
          <a:p>
            <a:pPr algn="ctr"/>
            <a:r>
              <a:rPr lang="zh-CN" altLang="en-US" sz="1400" dirty="0"/>
              <a:t>基于检测框进行过滤点云示意图</a:t>
            </a:r>
          </a:p>
        </p:txBody>
      </p:sp>
      <p:sp>
        <p:nvSpPr>
          <p:cNvPr id="5" name="文本框 4">
            <a:extLst>
              <a:ext uri="{FF2B5EF4-FFF2-40B4-BE49-F238E27FC236}">
                <a16:creationId xmlns:a16="http://schemas.microsoft.com/office/drawing/2014/main" id="{DBAD2A4F-430C-079B-31D3-3ED54BA22DC3}"/>
              </a:ext>
            </a:extLst>
          </p:cNvPr>
          <p:cNvSpPr txBox="1"/>
          <p:nvPr/>
        </p:nvSpPr>
        <p:spPr>
          <a:xfrm>
            <a:off x="4733129" y="2777323"/>
            <a:ext cx="5775960" cy="2127634"/>
          </a:xfrm>
          <a:prstGeom prst="rect">
            <a:avLst/>
          </a:prstGeom>
          <a:noFill/>
          <a:ln cmpd="sng">
            <a:noFill/>
          </a:ln>
        </p:spPr>
        <p:txBody>
          <a:bodyPr wrap="square" rtlCol="0">
            <a:spAutoFit/>
          </a:bodyPr>
          <a:lstStyle/>
          <a:p>
            <a:pPr indent="457200">
              <a:lnSpc>
                <a:spcPct val="150000"/>
              </a:lnSpc>
            </a:pPr>
            <a:r>
              <a:rPr lang="zh-CN" altLang="en-US" dirty="0"/>
              <a:t>先利用标定参数（内外参）将点云按相机视场裁剪并投影到各相机图像，再通过</a:t>
            </a:r>
            <a:r>
              <a:rPr lang="zh-CN" altLang="en-US" b="1" dirty="0"/>
              <a:t>拼接投影变换参数</a:t>
            </a:r>
            <a:r>
              <a:rPr lang="zh-CN" altLang="en-US" dirty="0"/>
              <a:t>将点云投影到统一的拼接坐标系中；随后在拼接图上进行目标检测得到检测框，对于拼接图点云，筛选出其</a:t>
            </a:r>
            <a:r>
              <a:rPr lang="en-US" altLang="zh-CN" dirty="0"/>
              <a:t>2D</a:t>
            </a:r>
            <a:r>
              <a:rPr lang="zh-CN" altLang="en-US" dirty="0"/>
              <a:t>位置落入检测框内的点，得到目标点云</a:t>
            </a:r>
          </a:p>
        </p:txBody>
      </p:sp>
    </p:spTree>
    <p:extLst>
      <p:ext uri="{BB962C8B-B14F-4D97-AF65-F5344CB8AC3E}">
        <p14:creationId xmlns:p14="http://schemas.microsoft.com/office/powerpoint/2010/main" val="3536007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BD91F-C02C-A02F-3F4A-3AF56D27E0FA}"/>
            </a:ext>
          </a:extLst>
        </p:cNvPr>
        <p:cNvGrpSpPr/>
        <p:nvPr/>
      </p:nvGrpSpPr>
      <p:grpSpPr>
        <a:xfrm>
          <a:off x="0" y="0"/>
          <a:ext cx="0" cy="0"/>
          <a:chOff x="0" y="0"/>
          <a:chExt cx="0" cy="0"/>
        </a:xfrm>
      </p:grpSpPr>
      <p:sp>
        <p:nvSpPr>
          <p:cNvPr id="1048678" name="标题 1">
            <a:extLst>
              <a:ext uri="{FF2B5EF4-FFF2-40B4-BE49-F238E27FC236}">
                <a16:creationId xmlns:a16="http://schemas.microsoft.com/office/drawing/2014/main" id="{B698936E-EBFD-50A3-0FEB-40F280996DAE}"/>
              </a:ext>
            </a:extLst>
          </p:cNvPr>
          <p:cNvSpPr txBox="1"/>
          <p:nvPr/>
        </p:nvSpPr>
        <p:spPr>
          <a:xfrm>
            <a:off x="2150630" y="296863"/>
            <a:ext cx="3801595" cy="645529"/>
          </a:xfrm>
          <a:prstGeom prst="rect">
            <a:avLst/>
          </a:prstGeom>
        </p:spPr>
        <p:txBody>
          <a:bodyPr/>
          <a:lstStyle>
            <a:lvl1pPr algn="ctr" defTabSz="914400" rtl="0" eaLnBrk="1" latinLnBrk="0" hangingPunct="1">
              <a:lnSpc>
                <a:spcPct val="90000"/>
              </a:lnSpc>
              <a:spcBef>
                <a:spcPct val="0"/>
              </a:spcBef>
              <a:buNone/>
              <a:defRPr sz="4400" b="1" kern="1200">
                <a:solidFill>
                  <a:schemeClr val="tx1">
                    <a:lumMod val="75000"/>
                    <a:lumOff val="25000"/>
                  </a:schemeClr>
                </a:solidFill>
                <a:latin typeface="微软雅黑" panose="020B0503020204020204" pitchFamily="34" charset="-122"/>
                <a:ea typeface="微软雅黑" panose="020B0503020204020204" pitchFamily="34" charset="-122"/>
                <a:cs typeface="+mj-cs"/>
              </a:defRPr>
            </a:lvl1pPr>
          </a:lstStyle>
          <a:p>
            <a:pPr algn="l"/>
            <a:r>
              <a:rPr lang="zh-CN" altLang="en-US" sz="3200" dirty="0">
                <a:solidFill>
                  <a:srgbClr val="263A5E"/>
                </a:solidFill>
                <a:latin typeface="+mj-lt"/>
                <a:ea typeface="华文中宋" panose="02010600040101010101" pitchFamily="2" charset="-122"/>
              </a:rPr>
              <a:t>目标检测及定位</a:t>
            </a:r>
          </a:p>
        </p:txBody>
      </p:sp>
      <p:sp>
        <p:nvSpPr>
          <p:cNvPr id="1048679" name="等腰三角形 3">
            <a:extLst>
              <a:ext uri="{FF2B5EF4-FFF2-40B4-BE49-F238E27FC236}">
                <a16:creationId xmlns:a16="http://schemas.microsoft.com/office/drawing/2014/main" id="{1A10DCA1-0276-B953-44A4-9C989C642AA7}"/>
              </a:ext>
            </a:extLst>
          </p:cNvPr>
          <p:cNvSpPr/>
          <p:nvPr/>
        </p:nvSpPr>
        <p:spPr bwMode="auto">
          <a:xfrm flipV="1">
            <a:off x="459276" y="0"/>
            <a:ext cx="1691355" cy="942392"/>
          </a:xfrm>
          <a:prstGeom prst="triangle">
            <a:avLst>
              <a:gd name="adj" fmla="val 49494"/>
            </a:avLst>
          </a:prstGeom>
          <a:solidFill>
            <a:srgbClr val="203864"/>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640080" indent="-182880" algn="l" rtl="0" fontAlgn="base">
              <a:spcBef>
                <a:spcPct val="0"/>
              </a:spcBef>
              <a:spcAft>
                <a:spcPct val="0"/>
              </a:spcAft>
              <a:defRPr kern="1200">
                <a:solidFill>
                  <a:schemeClr val="lt1"/>
                </a:solidFill>
                <a:latin typeface="+mn-lt"/>
                <a:ea typeface="+mn-ea"/>
                <a:cs typeface="+mn-cs"/>
              </a:defRPr>
            </a:lvl2pPr>
            <a:lvl3pPr marL="1282700" indent="-368300" algn="l" rtl="0" fontAlgn="base">
              <a:spcBef>
                <a:spcPct val="0"/>
              </a:spcBef>
              <a:spcAft>
                <a:spcPct val="0"/>
              </a:spcAft>
              <a:defRPr kern="1200">
                <a:solidFill>
                  <a:schemeClr val="lt1"/>
                </a:solidFill>
                <a:latin typeface="+mn-lt"/>
                <a:ea typeface="+mn-ea"/>
                <a:cs typeface="+mn-cs"/>
              </a:defRPr>
            </a:lvl3pPr>
            <a:lvl4pPr marL="1925955" indent="-554355" algn="l" rtl="0" fontAlgn="base">
              <a:spcBef>
                <a:spcPct val="0"/>
              </a:spcBef>
              <a:spcAft>
                <a:spcPct val="0"/>
              </a:spcAft>
              <a:defRPr kern="1200">
                <a:solidFill>
                  <a:schemeClr val="lt1"/>
                </a:solidFill>
                <a:latin typeface="+mn-lt"/>
                <a:ea typeface="+mn-ea"/>
                <a:cs typeface="+mn-cs"/>
              </a:defRPr>
            </a:lvl4pPr>
            <a:lvl5pPr marL="2568575" indent="-739775"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endParaRPr lang="zh-CN" altLang="en-US" dirty="0">
              <a:solidFill>
                <a:prstClr val="white"/>
              </a:solidFill>
              <a:effectLst/>
              <a:latin typeface="华文中宋" panose="02010600040101010101" pitchFamily="2" charset="-122"/>
              <a:ea typeface="华文中宋" panose="02010600040101010101" pitchFamily="2" charset="-122"/>
            </a:endParaRPr>
          </a:p>
        </p:txBody>
      </p:sp>
      <p:pic>
        <p:nvPicPr>
          <p:cNvPr id="2097166" name="图片 5">
            <a:extLst>
              <a:ext uri="{FF2B5EF4-FFF2-40B4-BE49-F238E27FC236}">
                <a16:creationId xmlns:a16="http://schemas.microsoft.com/office/drawing/2014/main" id="{5C400160-1C2D-2ACC-5A45-14073F343C7D}"/>
              </a:ext>
            </a:extLst>
          </p:cNvPr>
          <p:cNvPicPr>
            <a:picLocks noChangeAspect="1"/>
          </p:cNvPicPr>
          <p:nvPr/>
        </p:nvPicPr>
        <p:blipFill>
          <a:blip r:embed="rId3" cstate="print"/>
          <a:stretch>
            <a:fillRect/>
          </a:stretch>
        </p:blipFill>
        <p:spPr>
          <a:xfrm>
            <a:off x="10635170" y="103917"/>
            <a:ext cx="1219202" cy="786386"/>
          </a:xfrm>
          <a:prstGeom prst="rect">
            <a:avLst/>
          </a:prstGeom>
        </p:spPr>
      </p:pic>
      <p:cxnSp>
        <p:nvCxnSpPr>
          <p:cNvPr id="3145742" name="直接连接符 8">
            <a:extLst>
              <a:ext uri="{FF2B5EF4-FFF2-40B4-BE49-F238E27FC236}">
                <a16:creationId xmlns:a16="http://schemas.microsoft.com/office/drawing/2014/main" id="{00A50788-3454-6871-5481-F1C77E8CB59E}"/>
              </a:ext>
            </a:extLst>
          </p:cNvPr>
          <p:cNvCxnSpPr/>
          <p:nvPr/>
        </p:nvCxnSpPr>
        <p:spPr>
          <a:xfrm>
            <a:off x="2196000" y="936000"/>
            <a:ext cx="8280000" cy="0"/>
          </a:xfrm>
          <a:prstGeom prst="line">
            <a:avLst/>
          </a:prstGeom>
          <a:ln w="41275">
            <a:solidFill>
              <a:schemeClr val="accent1">
                <a:lumMod val="50000"/>
              </a:schemeClr>
            </a:solidFill>
          </a:ln>
        </p:spPr>
        <p:style>
          <a:lnRef idx="1">
            <a:schemeClr val="dk1"/>
          </a:lnRef>
          <a:fillRef idx="0">
            <a:schemeClr val="dk1"/>
          </a:fillRef>
          <a:effectRef idx="0">
            <a:schemeClr val="dk1"/>
          </a:effectRef>
          <a:fontRef idx="minor">
            <a:schemeClr val="tx1"/>
          </a:fontRef>
        </p:style>
      </p:cxnSp>
      <p:sp>
        <p:nvSpPr>
          <p:cNvPr id="3" name="灯片编号占位符 2">
            <a:extLst>
              <a:ext uri="{FF2B5EF4-FFF2-40B4-BE49-F238E27FC236}">
                <a16:creationId xmlns:a16="http://schemas.microsoft.com/office/drawing/2014/main" id="{B397DA5B-B438-DC88-CAFC-F992D8A2BD93}"/>
              </a:ext>
            </a:extLst>
          </p:cNvPr>
          <p:cNvSpPr>
            <a:spLocks noGrp="1"/>
          </p:cNvSpPr>
          <p:nvPr>
            <p:ph type="sldNum" sz="quarter" idx="12"/>
          </p:nvPr>
        </p:nvSpPr>
        <p:spPr/>
        <p:txBody>
          <a:bodyPr/>
          <a:lstStyle/>
          <a:p>
            <a:fld id="{4C728F51-6063-40BC-906F-D6FBF0AE26BF}" type="slidenum">
              <a:rPr lang="zh-CN" altLang="en-US" smtClean="0"/>
              <a:t>8</a:t>
            </a:fld>
            <a:endParaRPr lang="zh-CN" altLang="en-US"/>
          </a:p>
        </p:txBody>
      </p:sp>
      <p:sp>
        <p:nvSpPr>
          <p:cNvPr id="13" name="文本占位符 2">
            <a:extLst>
              <a:ext uri="{FF2B5EF4-FFF2-40B4-BE49-F238E27FC236}">
                <a16:creationId xmlns:a16="http://schemas.microsoft.com/office/drawing/2014/main" id="{A4BAC095-D2C6-4061-3C90-3DEB8C8611E9}"/>
              </a:ext>
            </a:extLst>
          </p:cNvPr>
          <p:cNvSpPr txBox="1"/>
          <p:nvPr/>
        </p:nvSpPr>
        <p:spPr>
          <a:xfrm>
            <a:off x="924180" y="104570"/>
            <a:ext cx="832757" cy="5630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mn-lt"/>
                <a:ea typeface="华文中宋" panose="02010600040101010101" pitchFamily="2" charset="-122"/>
              </a:rPr>
              <a:t>02</a:t>
            </a:r>
            <a:endParaRPr lang="zh-CN" altLang="en-US" dirty="0">
              <a:latin typeface="+mn-lt"/>
              <a:ea typeface="华文中宋" panose="02010600040101010101" pitchFamily="2" charset="-122"/>
            </a:endParaRPr>
          </a:p>
        </p:txBody>
      </p:sp>
      <p:pic>
        <p:nvPicPr>
          <p:cNvPr id="19" name="图片 18">
            <a:extLst>
              <a:ext uri="{FF2B5EF4-FFF2-40B4-BE49-F238E27FC236}">
                <a16:creationId xmlns:a16="http://schemas.microsoft.com/office/drawing/2014/main" id="{0FA31AF6-B280-8936-788D-9D2BB7C71C8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756937" y="1618170"/>
            <a:ext cx="2695261" cy="1785543"/>
          </a:xfrm>
          <a:prstGeom prst="rect">
            <a:avLst/>
          </a:prstGeom>
        </p:spPr>
      </p:pic>
      <p:sp>
        <p:nvSpPr>
          <p:cNvPr id="21" name="文本框 20">
            <a:extLst>
              <a:ext uri="{FF2B5EF4-FFF2-40B4-BE49-F238E27FC236}">
                <a16:creationId xmlns:a16="http://schemas.microsoft.com/office/drawing/2014/main" id="{1373A3DC-7C0F-ADF9-A62A-D8EA8D33DA43}"/>
              </a:ext>
            </a:extLst>
          </p:cNvPr>
          <p:cNvSpPr txBox="1"/>
          <p:nvPr/>
        </p:nvSpPr>
        <p:spPr>
          <a:xfrm>
            <a:off x="792138" y="1085366"/>
            <a:ext cx="4179256" cy="307777"/>
          </a:xfrm>
          <a:prstGeom prst="rect">
            <a:avLst/>
          </a:prstGeom>
          <a:noFill/>
        </p:spPr>
        <p:txBody>
          <a:bodyPr wrap="square" rtlCol="0">
            <a:spAutoFit/>
          </a:bodyPr>
          <a:lstStyle/>
          <a:p>
            <a:pPr algn="ctr"/>
            <a:r>
              <a:rPr lang="zh-CN" altLang="en-US" sz="1400" dirty="0"/>
              <a:t>聚类中心可视化</a:t>
            </a:r>
          </a:p>
        </p:txBody>
      </p:sp>
      <p:sp>
        <p:nvSpPr>
          <p:cNvPr id="2" name="文本框 1">
            <a:extLst>
              <a:ext uri="{FF2B5EF4-FFF2-40B4-BE49-F238E27FC236}">
                <a16:creationId xmlns:a16="http://schemas.microsoft.com/office/drawing/2014/main" id="{7006A662-3EBF-D770-C33E-A603CF002874}"/>
              </a:ext>
            </a:extLst>
          </p:cNvPr>
          <p:cNvSpPr txBox="1"/>
          <p:nvPr/>
        </p:nvSpPr>
        <p:spPr>
          <a:xfrm>
            <a:off x="6096000" y="1913413"/>
            <a:ext cx="4670854" cy="3374129"/>
          </a:xfrm>
          <a:prstGeom prst="rect">
            <a:avLst/>
          </a:prstGeom>
          <a:noFill/>
          <a:ln cmpd="sng">
            <a:noFill/>
          </a:ln>
        </p:spPr>
        <p:txBody>
          <a:bodyPr wrap="square" rtlCol="0">
            <a:spAutoFit/>
          </a:bodyPr>
          <a:lstStyle/>
          <a:p>
            <a:pPr indent="457200">
              <a:lnSpc>
                <a:spcPct val="150000"/>
              </a:lnSpc>
            </a:pPr>
            <a:r>
              <a:rPr lang="zh-CN" altLang="en-US" dirty="0"/>
              <a:t>得到过滤后的点云之后，对</a:t>
            </a:r>
            <a:r>
              <a:rPr lang="zh-CN" altLang="en-US" b="1" dirty="0"/>
              <a:t>每个检测框</a:t>
            </a:r>
            <a:r>
              <a:rPr lang="zh-CN" altLang="en-US" dirty="0"/>
              <a:t>内的</a:t>
            </a:r>
            <a:r>
              <a:rPr lang="en-US" altLang="zh-CN" dirty="0"/>
              <a:t>3D</a:t>
            </a:r>
            <a:r>
              <a:rPr lang="zh-CN" altLang="en-US" dirty="0"/>
              <a:t>点分别做 </a:t>
            </a:r>
            <a:r>
              <a:rPr lang="en-US" altLang="zh-CN" dirty="0"/>
              <a:t>DBSCAN</a:t>
            </a:r>
            <a:r>
              <a:rPr lang="zh-CN" altLang="en-US" dirty="0"/>
              <a:t>聚类算法得到若干个簇，对每簇取</a:t>
            </a:r>
            <a:r>
              <a:rPr lang="en-US" altLang="zh-CN" dirty="0"/>
              <a:t>3D</a:t>
            </a:r>
            <a:r>
              <a:rPr lang="zh-CN" altLang="en-US" dirty="0"/>
              <a:t>均值作为该簇的聚类中心；若同一检测框产生多个簇，则把各簇在拼接图上的</a:t>
            </a:r>
            <a:r>
              <a:rPr lang="en-US" altLang="zh-CN" dirty="0"/>
              <a:t>2D</a:t>
            </a:r>
            <a:r>
              <a:rPr lang="zh-CN" altLang="en-US" dirty="0"/>
              <a:t>投影做</a:t>
            </a:r>
            <a:r>
              <a:rPr lang="en-US" altLang="zh-CN" dirty="0"/>
              <a:t>PCA</a:t>
            </a:r>
            <a:r>
              <a:rPr lang="zh-CN" altLang="en-US" dirty="0"/>
              <a:t>最小外接矩形，与检测框计算交并比</a:t>
            </a:r>
            <a:r>
              <a:rPr lang="en-US" altLang="zh-CN" dirty="0"/>
              <a:t>(</a:t>
            </a:r>
            <a:r>
              <a:rPr lang="en-US" altLang="zh-CN" dirty="0" err="1"/>
              <a:t>IoU</a:t>
            </a:r>
            <a:r>
              <a:rPr lang="en-US" altLang="zh-CN" dirty="0"/>
              <a:t>)</a:t>
            </a:r>
            <a:r>
              <a:rPr lang="zh-CN" altLang="en-US" dirty="0"/>
              <a:t>，</a:t>
            </a:r>
            <a:r>
              <a:rPr lang="zh-CN" altLang="en-US" b="1" dirty="0"/>
              <a:t>选择</a:t>
            </a:r>
            <a:r>
              <a:rPr lang="en-US" altLang="zh-CN" b="1" dirty="0" err="1"/>
              <a:t>IoU</a:t>
            </a:r>
            <a:r>
              <a:rPr lang="zh-CN" altLang="en-US" b="1" dirty="0"/>
              <a:t>最大的簇，其</a:t>
            </a:r>
            <a:r>
              <a:rPr lang="en-US" altLang="zh-CN" b="1" dirty="0"/>
              <a:t>3D</a:t>
            </a:r>
            <a:r>
              <a:rPr lang="zh-CN" altLang="en-US" b="1" dirty="0"/>
              <a:t>均值即为该检测框的最终聚类中心，</a:t>
            </a:r>
            <a:r>
              <a:rPr lang="zh-CN" altLang="en-US" dirty="0"/>
              <a:t>并通过</a:t>
            </a:r>
            <a:r>
              <a:rPr lang="en-US" altLang="zh-CN" dirty="0"/>
              <a:t>3D</a:t>
            </a:r>
            <a:r>
              <a:rPr lang="zh-CN" altLang="en-US" dirty="0"/>
              <a:t>可视化和</a:t>
            </a:r>
            <a:r>
              <a:rPr lang="en-US" altLang="zh-CN" dirty="0"/>
              <a:t>2D</a:t>
            </a:r>
            <a:r>
              <a:rPr lang="zh-CN" altLang="en-US" dirty="0"/>
              <a:t>可视化聚类中心</a:t>
            </a:r>
          </a:p>
        </p:txBody>
      </p:sp>
      <p:pic>
        <p:nvPicPr>
          <p:cNvPr id="4" name="图片 3">
            <a:extLst>
              <a:ext uri="{FF2B5EF4-FFF2-40B4-BE49-F238E27FC236}">
                <a16:creationId xmlns:a16="http://schemas.microsoft.com/office/drawing/2014/main" id="{452C592B-57A4-C2EA-D306-3B2CF1348277}"/>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3061559" y="5287542"/>
            <a:ext cx="2873389" cy="1606163"/>
          </a:xfrm>
          <a:prstGeom prst="rect">
            <a:avLst/>
          </a:prstGeom>
        </p:spPr>
      </p:pic>
      <p:pic>
        <p:nvPicPr>
          <p:cNvPr id="5" name="图片 4">
            <a:extLst>
              <a:ext uri="{FF2B5EF4-FFF2-40B4-BE49-F238E27FC236}">
                <a16:creationId xmlns:a16="http://schemas.microsoft.com/office/drawing/2014/main" id="{C327851C-B6E6-0368-A822-6FC23EB3CF4E}"/>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205447" y="5275204"/>
            <a:ext cx="2873389" cy="1606163"/>
          </a:xfrm>
          <a:prstGeom prst="rect">
            <a:avLst/>
          </a:prstGeom>
        </p:spPr>
      </p:pic>
      <p:sp>
        <p:nvSpPr>
          <p:cNvPr id="7" name="文本框 6">
            <a:extLst>
              <a:ext uri="{FF2B5EF4-FFF2-40B4-BE49-F238E27FC236}">
                <a16:creationId xmlns:a16="http://schemas.microsoft.com/office/drawing/2014/main" id="{5F63D9FF-D1FE-0DAA-2602-D2BD13709C14}"/>
              </a:ext>
            </a:extLst>
          </p:cNvPr>
          <p:cNvSpPr txBox="1"/>
          <p:nvPr/>
        </p:nvSpPr>
        <p:spPr>
          <a:xfrm>
            <a:off x="1767020" y="3162806"/>
            <a:ext cx="2057183" cy="307777"/>
          </a:xfrm>
          <a:prstGeom prst="rect">
            <a:avLst/>
          </a:prstGeom>
          <a:noFill/>
          <a:ln cmpd="sng">
            <a:noFill/>
          </a:ln>
        </p:spPr>
        <p:txBody>
          <a:bodyPr wrap="square" rtlCol="0">
            <a:spAutoFit/>
          </a:bodyPr>
          <a:lstStyle/>
          <a:p>
            <a:pPr algn="ctr"/>
            <a:r>
              <a:rPr lang="en-US" altLang="zh-CN" sz="1400" dirty="0"/>
              <a:t>3d</a:t>
            </a:r>
            <a:r>
              <a:rPr lang="zh-CN" altLang="en-US" sz="1400" dirty="0"/>
              <a:t>可视化</a:t>
            </a:r>
          </a:p>
        </p:txBody>
      </p:sp>
      <p:sp>
        <p:nvSpPr>
          <p:cNvPr id="8" name="文本框 7">
            <a:extLst>
              <a:ext uri="{FF2B5EF4-FFF2-40B4-BE49-F238E27FC236}">
                <a16:creationId xmlns:a16="http://schemas.microsoft.com/office/drawing/2014/main" id="{8788A676-2B1D-FED7-FD20-113273BC3BE9}"/>
              </a:ext>
            </a:extLst>
          </p:cNvPr>
          <p:cNvSpPr txBox="1"/>
          <p:nvPr/>
        </p:nvSpPr>
        <p:spPr>
          <a:xfrm>
            <a:off x="1853175" y="5015219"/>
            <a:ext cx="2057183" cy="307777"/>
          </a:xfrm>
          <a:prstGeom prst="rect">
            <a:avLst/>
          </a:prstGeom>
          <a:noFill/>
          <a:ln cmpd="sng">
            <a:noFill/>
          </a:ln>
        </p:spPr>
        <p:txBody>
          <a:bodyPr wrap="square" rtlCol="0">
            <a:spAutoFit/>
          </a:bodyPr>
          <a:lstStyle/>
          <a:p>
            <a:pPr algn="ctr"/>
            <a:r>
              <a:rPr lang="en-US" altLang="zh-CN" sz="1400" dirty="0"/>
              <a:t>2d</a:t>
            </a:r>
            <a:r>
              <a:rPr lang="zh-CN" altLang="en-US" sz="1400" dirty="0"/>
              <a:t>可视化</a:t>
            </a:r>
          </a:p>
        </p:txBody>
      </p:sp>
      <p:pic>
        <p:nvPicPr>
          <p:cNvPr id="9" name="图片 8">
            <a:extLst>
              <a:ext uri="{FF2B5EF4-FFF2-40B4-BE49-F238E27FC236}">
                <a16:creationId xmlns:a16="http://schemas.microsoft.com/office/drawing/2014/main" id="{2A4867D2-433D-EE62-A6B2-D325B9F5838D}"/>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538347" y="3419993"/>
            <a:ext cx="4425983" cy="1609286"/>
          </a:xfrm>
          <a:prstGeom prst="rect">
            <a:avLst/>
          </a:prstGeom>
        </p:spPr>
      </p:pic>
    </p:spTree>
    <p:extLst>
      <p:ext uri="{BB962C8B-B14F-4D97-AF65-F5344CB8AC3E}">
        <p14:creationId xmlns:p14="http://schemas.microsoft.com/office/powerpoint/2010/main" val="36892903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DE3F5-AD5A-57D0-E7BA-55985E3E00DC}"/>
            </a:ext>
          </a:extLst>
        </p:cNvPr>
        <p:cNvGrpSpPr/>
        <p:nvPr/>
      </p:nvGrpSpPr>
      <p:grpSpPr>
        <a:xfrm>
          <a:off x="0" y="0"/>
          <a:ext cx="0" cy="0"/>
          <a:chOff x="0" y="0"/>
          <a:chExt cx="0" cy="0"/>
        </a:xfrm>
      </p:grpSpPr>
      <p:sp>
        <p:nvSpPr>
          <p:cNvPr id="1048678" name="标题 1">
            <a:extLst>
              <a:ext uri="{FF2B5EF4-FFF2-40B4-BE49-F238E27FC236}">
                <a16:creationId xmlns:a16="http://schemas.microsoft.com/office/drawing/2014/main" id="{CB9A4557-631C-7DE8-F593-55B937019670}"/>
              </a:ext>
            </a:extLst>
          </p:cNvPr>
          <p:cNvSpPr txBox="1"/>
          <p:nvPr/>
        </p:nvSpPr>
        <p:spPr>
          <a:xfrm>
            <a:off x="2150630" y="296863"/>
            <a:ext cx="3801595" cy="645529"/>
          </a:xfrm>
          <a:prstGeom prst="rect">
            <a:avLst/>
          </a:prstGeom>
        </p:spPr>
        <p:txBody>
          <a:bodyPr/>
          <a:lstStyle>
            <a:lvl1pPr algn="ctr" defTabSz="914400" rtl="0" eaLnBrk="1" latinLnBrk="0" hangingPunct="1">
              <a:lnSpc>
                <a:spcPct val="90000"/>
              </a:lnSpc>
              <a:spcBef>
                <a:spcPct val="0"/>
              </a:spcBef>
              <a:buNone/>
              <a:defRPr sz="4400" b="1" kern="1200">
                <a:solidFill>
                  <a:schemeClr val="tx1">
                    <a:lumMod val="75000"/>
                    <a:lumOff val="25000"/>
                  </a:schemeClr>
                </a:solidFill>
                <a:latin typeface="微软雅黑" panose="020B0503020204020204" pitchFamily="34" charset="-122"/>
                <a:ea typeface="微软雅黑" panose="020B0503020204020204" pitchFamily="34" charset="-122"/>
                <a:cs typeface="+mj-cs"/>
              </a:defRPr>
            </a:lvl1pPr>
          </a:lstStyle>
          <a:p>
            <a:pPr algn="l"/>
            <a:r>
              <a:rPr lang="zh-CN" altLang="en-US" sz="3200" dirty="0">
                <a:solidFill>
                  <a:srgbClr val="263A5E"/>
                </a:solidFill>
                <a:latin typeface="+mj-lt"/>
                <a:ea typeface="华文中宋" panose="02010600040101010101" pitchFamily="2" charset="-122"/>
              </a:rPr>
              <a:t>目标检测及定位</a:t>
            </a:r>
          </a:p>
        </p:txBody>
      </p:sp>
      <p:sp>
        <p:nvSpPr>
          <p:cNvPr id="1048679" name="等腰三角形 3">
            <a:extLst>
              <a:ext uri="{FF2B5EF4-FFF2-40B4-BE49-F238E27FC236}">
                <a16:creationId xmlns:a16="http://schemas.microsoft.com/office/drawing/2014/main" id="{ABD7AF47-71AF-8461-CC1A-6B2FA375FDDE}"/>
              </a:ext>
            </a:extLst>
          </p:cNvPr>
          <p:cNvSpPr/>
          <p:nvPr/>
        </p:nvSpPr>
        <p:spPr bwMode="auto">
          <a:xfrm flipV="1">
            <a:off x="459276" y="0"/>
            <a:ext cx="1691355" cy="942392"/>
          </a:xfrm>
          <a:prstGeom prst="triangle">
            <a:avLst>
              <a:gd name="adj" fmla="val 49494"/>
            </a:avLst>
          </a:prstGeom>
          <a:solidFill>
            <a:srgbClr val="203864"/>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640080" indent="-182880" algn="l" rtl="0" fontAlgn="base">
              <a:spcBef>
                <a:spcPct val="0"/>
              </a:spcBef>
              <a:spcAft>
                <a:spcPct val="0"/>
              </a:spcAft>
              <a:defRPr kern="1200">
                <a:solidFill>
                  <a:schemeClr val="lt1"/>
                </a:solidFill>
                <a:latin typeface="+mn-lt"/>
                <a:ea typeface="+mn-ea"/>
                <a:cs typeface="+mn-cs"/>
              </a:defRPr>
            </a:lvl2pPr>
            <a:lvl3pPr marL="1282700" indent="-368300" algn="l" rtl="0" fontAlgn="base">
              <a:spcBef>
                <a:spcPct val="0"/>
              </a:spcBef>
              <a:spcAft>
                <a:spcPct val="0"/>
              </a:spcAft>
              <a:defRPr kern="1200">
                <a:solidFill>
                  <a:schemeClr val="lt1"/>
                </a:solidFill>
                <a:latin typeface="+mn-lt"/>
                <a:ea typeface="+mn-ea"/>
                <a:cs typeface="+mn-cs"/>
              </a:defRPr>
            </a:lvl3pPr>
            <a:lvl4pPr marL="1925955" indent="-554355" algn="l" rtl="0" fontAlgn="base">
              <a:spcBef>
                <a:spcPct val="0"/>
              </a:spcBef>
              <a:spcAft>
                <a:spcPct val="0"/>
              </a:spcAft>
              <a:defRPr kern="1200">
                <a:solidFill>
                  <a:schemeClr val="lt1"/>
                </a:solidFill>
                <a:latin typeface="+mn-lt"/>
                <a:ea typeface="+mn-ea"/>
                <a:cs typeface="+mn-cs"/>
              </a:defRPr>
            </a:lvl4pPr>
            <a:lvl5pPr marL="2568575" indent="-739775"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endParaRPr lang="zh-CN" altLang="en-US" dirty="0">
              <a:solidFill>
                <a:prstClr val="white"/>
              </a:solidFill>
              <a:effectLst/>
              <a:latin typeface="华文中宋" panose="02010600040101010101" pitchFamily="2" charset="-122"/>
              <a:ea typeface="华文中宋" panose="02010600040101010101" pitchFamily="2" charset="-122"/>
            </a:endParaRPr>
          </a:p>
        </p:txBody>
      </p:sp>
      <p:pic>
        <p:nvPicPr>
          <p:cNvPr id="2097166" name="图片 5">
            <a:extLst>
              <a:ext uri="{FF2B5EF4-FFF2-40B4-BE49-F238E27FC236}">
                <a16:creationId xmlns:a16="http://schemas.microsoft.com/office/drawing/2014/main" id="{438FCC80-95F1-B868-0CA6-B7718EDA736C}"/>
              </a:ext>
            </a:extLst>
          </p:cNvPr>
          <p:cNvPicPr>
            <a:picLocks noChangeAspect="1"/>
          </p:cNvPicPr>
          <p:nvPr/>
        </p:nvPicPr>
        <p:blipFill>
          <a:blip r:embed="rId3" cstate="print"/>
          <a:stretch>
            <a:fillRect/>
          </a:stretch>
        </p:blipFill>
        <p:spPr>
          <a:xfrm>
            <a:off x="10635170" y="103917"/>
            <a:ext cx="1219202" cy="786386"/>
          </a:xfrm>
          <a:prstGeom prst="rect">
            <a:avLst/>
          </a:prstGeom>
        </p:spPr>
      </p:pic>
      <p:cxnSp>
        <p:nvCxnSpPr>
          <p:cNvPr id="3145742" name="直接连接符 8">
            <a:extLst>
              <a:ext uri="{FF2B5EF4-FFF2-40B4-BE49-F238E27FC236}">
                <a16:creationId xmlns:a16="http://schemas.microsoft.com/office/drawing/2014/main" id="{44B6D4C8-0DAA-E4B1-A285-3278600A5D05}"/>
              </a:ext>
            </a:extLst>
          </p:cNvPr>
          <p:cNvCxnSpPr/>
          <p:nvPr/>
        </p:nvCxnSpPr>
        <p:spPr>
          <a:xfrm>
            <a:off x="2196000" y="936000"/>
            <a:ext cx="8280000" cy="0"/>
          </a:xfrm>
          <a:prstGeom prst="line">
            <a:avLst/>
          </a:prstGeom>
          <a:ln w="41275">
            <a:solidFill>
              <a:schemeClr val="accent1">
                <a:lumMod val="50000"/>
              </a:schemeClr>
            </a:solidFill>
          </a:ln>
        </p:spPr>
        <p:style>
          <a:lnRef idx="1">
            <a:schemeClr val="dk1"/>
          </a:lnRef>
          <a:fillRef idx="0">
            <a:schemeClr val="dk1"/>
          </a:fillRef>
          <a:effectRef idx="0">
            <a:schemeClr val="dk1"/>
          </a:effectRef>
          <a:fontRef idx="minor">
            <a:schemeClr val="tx1"/>
          </a:fontRef>
        </p:style>
      </p:cxnSp>
      <p:sp>
        <p:nvSpPr>
          <p:cNvPr id="3" name="灯片编号占位符 2">
            <a:extLst>
              <a:ext uri="{FF2B5EF4-FFF2-40B4-BE49-F238E27FC236}">
                <a16:creationId xmlns:a16="http://schemas.microsoft.com/office/drawing/2014/main" id="{481F950D-02FB-B38C-E02E-186974CAC431}"/>
              </a:ext>
            </a:extLst>
          </p:cNvPr>
          <p:cNvSpPr>
            <a:spLocks noGrp="1"/>
          </p:cNvSpPr>
          <p:nvPr>
            <p:ph type="sldNum" sz="quarter" idx="12"/>
          </p:nvPr>
        </p:nvSpPr>
        <p:spPr/>
        <p:txBody>
          <a:bodyPr/>
          <a:lstStyle/>
          <a:p>
            <a:fld id="{4C728F51-6063-40BC-906F-D6FBF0AE26BF}" type="slidenum">
              <a:rPr lang="zh-CN" altLang="en-US" smtClean="0"/>
              <a:t>9</a:t>
            </a:fld>
            <a:endParaRPr lang="zh-CN" altLang="en-US"/>
          </a:p>
        </p:txBody>
      </p:sp>
      <p:sp>
        <p:nvSpPr>
          <p:cNvPr id="13" name="文本占位符 2">
            <a:extLst>
              <a:ext uri="{FF2B5EF4-FFF2-40B4-BE49-F238E27FC236}">
                <a16:creationId xmlns:a16="http://schemas.microsoft.com/office/drawing/2014/main" id="{A9A5D22E-4880-9260-6D4B-7586929477E5}"/>
              </a:ext>
            </a:extLst>
          </p:cNvPr>
          <p:cNvSpPr txBox="1"/>
          <p:nvPr/>
        </p:nvSpPr>
        <p:spPr>
          <a:xfrm>
            <a:off x="924180" y="104570"/>
            <a:ext cx="832757" cy="5630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mn-lt"/>
                <a:ea typeface="华文中宋" panose="02010600040101010101" pitchFamily="2" charset="-122"/>
              </a:rPr>
              <a:t>02</a:t>
            </a:r>
            <a:endParaRPr lang="zh-CN" altLang="en-US" dirty="0">
              <a:latin typeface="+mn-lt"/>
              <a:ea typeface="华文中宋" panose="02010600040101010101" pitchFamily="2" charset="-122"/>
            </a:endParaRPr>
          </a:p>
        </p:txBody>
      </p:sp>
      <p:graphicFrame>
        <p:nvGraphicFramePr>
          <p:cNvPr id="4" name="表格 3">
            <a:extLst>
              <a:ext uri="{FF2B5EF4-FFF2-40B4-BE49-F238E27FC236}">
                <a16:creationId xmlns:a16="http://schemas.microsoft.com/office/drawing/2014/main" id="{B6E3DD4E-4A7C-4FD9-8006-DF06DDA08177}"/>
              </a:ext>
            </a:extLst>
          </p:cNvPr>
          <p:cNvGraphicFramePr>
            <a:graphicFrameLocks noGrp="1"/>
          </p:cNvGraphicFramePr>
          <p:nvPr>
            <p:extLst>
              <p:ext uri="{D42A27DB-BD31-4B8C-83A1-F6EECF244321}">
                <p14:modId xmlns:p14="http://schemas.microsoft.com/office/powerpoint/2010/main" val="3307129212"/>
              </p:ext>
            </p:extLst>
          </p:nvPr>
        </p:nvGraphicFramePr>
        <p:xfrm>
          <a:off x="5206436" y="1419032"/>
          <a:ext cx="6647936" cy="3899032"/>
        </p:xfrm>
        <a:graphic>
          <a:graphicData uri="http://schemas.openxmlformats.org/drawingml/2006/table">
            <a:tbl>
              <a:tblPr firstRow="1" bandRow="1">
                <a:tableStyleId>{5C22544A-7EE6-4342-B048-85BDC9FD1C3A}</a:tableStyleId>
              </a:tblPr>
              <a:tblGrid>
                <a:gridCol w="3323968">
                  <a:extLst>
                    <a:ext uri="{9D8B030D-6E8A-4147-A177-3AD203B41FA5}">
                      <a16:colId xmlns:a16="http://schemas.microsoft.com/office/drawing/2014/main" val="3943020856"/>
                    </a:ext>
                  </a:extLst>
                </a:gridCol>
                <a:gridCol w="3323968">
                  <a:extLst>
                    <a:ext uri="{9D8B030D-6E8A-4147-A177-3AD203B41FA5}">
                      <a16:colId xmlns:a16="http://schemas.microsoft.com/office/drawing/2014/main" val="1371175820"/>
                    </a:ext>
                  </a:extLst>
                </a:gridCol>
              </a:tblGrid>
              <a:tr h="364778">
                <a:tc>
                  <a:txBody>
                    <a:bodyPr/>
                    <a:lstStyle/>
                    <a:p>
                      <a:pPr algn="ctr"/>
                      <a:r>
                        <a:rPr lang="zh-CN" altLang="en-US" dirty="0">
                          <a:solidFill>
                            <a:schemeClr val="tx1"/>
                          </a:solidFill>
                        </a:rPr>
                        <a:t>目标框</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a:solidFill>
                            <a:schemeClr val="tx1"/>
                          </a:solidFill>
                        </a:rPr>
                        <a:t>计算坐标</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9433343"/>
                  </a:ext>
                </a:extLst>
              </a:tr>
              <a:tr h="638362">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zh-CN" altLang="en-US" dirty="0">
                          <a:solidFill>
                            <a:schemeClr val="tx1"/>
                          </a:solidFill>
                        </a:rPr>
                        <a:t>（</a:t>
                      </a:r>
                      <a:r>
                        <a:rPr lang="en-US" altLang="zh-CN" dirty="0">
                          <a:solidFill>
                            <a:schemeClr val="tx1"/>
                          </a:solidFill>
                        </a:rPr>
                        <a:t>-26.42806,-3.62545,0.62500</a:t>
                      </a:r>
                      <a:r>
                        <a:rPr lang="zh-CN" altLang="en-US" dirty="0">
                          <a:solidFill>
                            <a:schemeClr val="tx1"/>
                          </a:solidFil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8677456"/>
                  </a:ext>
                </a:extLst>
              </a:tr>
              <a:tr h="638362">
                <a:tc>
                  <a:txBody>
                    <a:bodyPr/>
                    <a:lstStyle/>
                    <a:p>
                      <a:pPr algn="ctr"/>
                      <a:r>
                        <a:rPr lang="en-US" altLang="zh-CN" dirty="0">
                          <a:solidFill>
                            <a:schemeClr val="tx1"/>
                          </a:solidFill>
                        </a:rPr>
                        <a:t>2</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dirty="0">
                          <a:solidFill>
                            <a:schemeClr val="tx1"/>
                          </a:solidFill>
                        </a:rPr>
                        <a:t>（</a:t>
                      </a:r>
                      <a:r>
                        <a:rPr lang="en-US" altLang="zh-CN" dirty="0">
                          <a:solidFill>
                            <a:schemeClr val="tx1"/>
                          </a:solidFill>
                        </a:rPr>
                        <a:t>-26.25241,-2.61452,-1.60990)</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8135405"/>
                  </a:ext>
                </a:extLst>
              </a:tr>
              <a:tr h="364778">
                <a:tc>
                  <a:txBody>
                    <a:bodyPr/>
                    <a:lstStyle/>
                    <a:p>
                      <a:pPr algn="ctr"/>
                      <a:r>
                        <a:rPr lang="en-US" altLang="zh-CN">
                          <a:solidFill>
                            <a:schemeClr val="tx1"/>
                          </a:solidFill>
                        </a:rPr>
                        <a:t>3</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dirty="0">
                          <a:solidFill>
                            <a:schemeClr val="tx1"/>
                          </a:solidFill>
                        </a:rPr>
                        <a:t>(-24.18000,3.90077,-1.11795)</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0439851"/>
                  </a:ext>
                </a:extLst>
              </a:tr>
              <a:tr h="638362">
                <a:tc>
                  <a:txBody>
                    <a:bodyPr/>
                    <a:lstStyle/>
                    <a:p>
                      <a:pPr algn="ctr"/>
                      <a:r>
                        <a:rPr lang="en-US" altLang="zh-CN" dirty="0">
                          <a:solidFill>
                            <a:schemeClr val="tx1"/>
                          </a:solidFill>
                        </a:rPr>
                        <a:t>4</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dirty="0">
                          <a:solidFill>
                            <a:schemeClr val="tx1"/>
                          </a:solidFill>
                        </a:rPr>
                        <a:t>（</a:t>
                      </a:r>
                      <a:r>
                        <a:rPr lang="en-US" altLang="zh-CN" dirty="0">
                          <a:solidFill>
                            <a:schemeClr val="tx1"/>
                          </a:solidFill>
                        </a:rPr>
                        <a:t>-26.45441,-2.74937,3.31165)</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04845438"/>
                  </a:ext>
                </a:extLst>
              </a:tr>
              <a:tr h="614064">
                <a:tc>
                  <a:txBody>
                    <a:bodyPr/>
                    <a:lstStyle/>
                    <a:p>
                      <a:pPr algn="ctr"/>
                      <a:r>
                        <a:rPr lang="en-US" altLang="zh-CN" dirty="0">
                          <a:solidFill>
                            <a:schemeClr val="tx1"/>
                          </a:solidFill>
                        </a:rPr>
                        <a:t>5</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(-5.33190,-12.03388,1.91201)</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9628732"/>
                  </a:ext>
                </a:extLst>
              </a:tr>
              <a:tr h="638362">
                <a:tc>
                  <a:txBody>
                    <a:bodyPr/>
                    <a:lstStyle/>
                    <a:p>
                      <a:pPr algn="ctr"/>
                      <a:r>
                        <a:rPr lang="en-US" altLang="zh-CN" dirty="0">
                          <a:solidFill>
                            <a:schemeClr val="tx1"/>
                          </a:solidFill>
                        </a:rPr>
                        <a:t>6</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(-5.04961,-11.63372,-0.71488)</a:t>
                      </a:r>
                      <a:endParaRPr lang="zh-CN" alt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0039577"/>
                  </a:ext>
                </a:extLst>
              </a:tr>
            </a:tbl>
          </a:graphicData>
        </a:graphic>
      </p:graphicFrame>
      <p:pic>
        <p:nvPicPr>
          <p:cNvPr id="8" name="图片 7">
            <a:extLst>
              <a:ext uri="{FF2B5EF4-FFF2-40B4-BE49-F238E27FC236}">
                <a16:creationId xmlns:a16="http://schemas.microsoft.com/office/drawing/2014/main" id="{39FEBE64-2C1C-8E0B-D1FD-13B469F299C7}"/>
              </a:ext>
            </a:extLst>
          </p:cNvPr>
          <p:cNvPicPr>
            <a:picLocks noChangeAspect="1"/>
          </p:cNvPicPr>
          <p:nvPr/>
        </p:nvPicPr>
        <p:blipFill>
          <a:blip r:embed="rId4"/>
          <a:stretch>
            <a:fillRect/>
          </a:stretch>
        </p:blipFill>
        <p:spPr>
          <a:xfrm>
            <a:off x="214184" y="1991066"/>
            <a:ext cx="4678014" cy="2194112"/>
          </a:xfrm>
          <a:prstGeom prst="rect">
            <a:avLst/>
          </a:prstGeom>
        </p:spPr>
      </p:pic>
      <p:sp>
        <p:nvSpPr>
          <p:cNvPr id="9" name="文本框 8">
            <a:extLst>
              <a:ext uri="{FF2B5EF4-FFF2-40B4-BE49-F238E27FC236}">
                <a16:creationId xmlns:a16="http://schemas.microsoft.com/office/drawing/2014/main" id="{459C06F6-82A9-5F2C-DF0B-D19ADBE94363}"/>
              </a:ext>
            </a:extLst>
          </p:cNvPr>
          <p:cNvSpPr txBox="1"/>
          <p:nvPr/>
        </p:nvSpPr>
        <p:spPr>
          <a:xfrm>
            <a:off x="617837" y="4275438"/>
            <a:ext cx="3797643" cy="369332"/>
          </a:xfrm>
          <a:prstGeom prst="rect">
            <a:avLst/>
          </a:prstGeom>
          <a:noFill/>
          <a:ln cmpd="sng">
            <a:noFill/>
          </a:ln>
        </p:spPr>
        <p:txBody>
          <a:bodyPr wrap="square" rtlCol="0">
            <a:spAutoFit/>
          </a:bodyPr>
          <a:lstStyle/>
          <a:p>
            <a:pPr algn="ctr"/>
            <a:r>
              <a:rPr lang="zh-CN" altLang="en-US" dirty="0"/>
              <a:t>计算坐标在</a:t>
            </a:r>
            <a:r>
              <a:rPr lang="en-US" altLang="zh-CN" dirty="0" err="1"/>
              <a:t>cloudcompare</a:t>
            </a:r>
            <a:r>
              <a:rPr lang="zh-CN" altLang="en-US" dirty="0"/>
              <a:t>的可视化</a:t>
            </a:r>
          </a:p>
        </p:txBody>
      </p:sp>
    </p:spTree>
    <p:extLst>
      <p:ext uri="{BB962C8B-B14F-4D97-AF65-F5344CB8AC3E}">
        <p14:creationId xmlns:p14="http://schemas.microsoft.com/office/powerpoint/2010/main" val="3015078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EE438-6BB8-2036-2522-4912BF781F25}"/>
            </a:ext>
          </a:extLst>
        </p:cNvPr>
        <p:cNvGrpSpPr/>
        <p:nvPr/>
      </p:nvGrpSpPr>
      <p:grpSpPr>
        <a:xfrm>
          <a:off x="0" y="0"/>
          <a:ext cx="0" cy="0"/>
          <a:chOff x="0" y="0"/>
          <a:chExt cx="0" cy="0"/>
        </a:xfrm>
      </p:grpSpPr>
      <p:sp>
        <p:nvSpPr>
          <p:cNvPr id="1048678" name="标题 1">
            <a:extLst>
              <a:ext uri="{FF2B5EF4-FFF2-40B4-BE49-F238E27FC236}">
                <a16:creationId xmlns:a16="http://schemas.microsoft.com/office/drawing/2014/main" id="{82A7FA8D-C3BF-F672-2013-27F0FE8C46AF}"/>
              </a:ext>
            </a:extLst>
          </p:cNvPr>
          <p:cNvSpPr txBox="1"/>
          <p:nvPr/>
        </p:nvSpPr>
        <p:spPr>
          <a:xfrm>
            <a:off x="2150630" y="296863"/>
            <a:ext cx="3801595" cy="645529"/>
          </a:xfrm>
          <a:prstGeom prst="rect">
            <a:avLst/>
          </a:prstGeom>
        </p:spPr>
        <p:txBody>
          <a:bodyPr/>
          <a:lstStyle>
            <a:lvl1pPr algn="ctr" defTabSz="914400" rtl="0" eaLnBrk="1" latinLnBrk="0" hangingPunct="1">
              <a:lnSpc>
                <a:spcPct val="90000"/>
              </a:lnSpc>
              <a:spcBef>
                <a:spcPct val="0"/>
              </a:spcBef>
              <a:buNone/>
              <a:defRPr sz="4400" b="1" kern="1200">
                <a:solidFill>
                  <a:schemeClr val="tx1">
                    <a:lumMod val="75000"/>
                    <a:lumOff val="25000"/>
                  </a:schemeClr>
                </a:solidFill>
                <a:latin typeface="微软雅黑" panose="020B0503020204020204" pitchFamily="34" charset="-122"/>
                <a:ea typeface="微软雅黑" panose="020B0503020204020204" pitchFamily="34" charset="-122"/>
                <a:cs typeface="+mj-cs"/>
              </a:defRPr>
            </a:lvl1pPr>
          </a:lstStyle>
          <a:p>
            <a:pPr algn="l"/>
            <a:r>
              <a:rPr lang="zh-CN" altLang="en-US" sz="3200" dirty="0">
                <a:solidFill>
                  <a:srgbClr val="263A5E"/>
                </a:solidFill>
                <a:latin typeface="+mj-lt"/>
                <a:ea typeface="华文中宋" panose="02010600040101010101" pitchFamily="2" charset="-122"/>
              </a:rPr>
              <a:t>目标检测及定位</a:t>
            </a:r>
          </a:p>
        </p:txBody>
      </p:sp>
      <p:sp>
        <p:nvSpPr>
          <p:cNvPr id="1048679" name="等腰三角形 3">
            <a:extLst>
              <a:ext uri="{FF2B5EF4-FFF2-40B4-BE49-F238E27FC236}">
                <a16:creationId xmlns:a16="http://schemas.microsoft.com/office/drawing/2014/main" id="{A845A2C0-E97F-AAD3-7807-1B80EAE5625E}"/>
              </a:ext>
            </a:extLst>
          </p:cNvPr>
          <p:cNvSpPr/>
          <p:nvPr/>
        </p:nvSpPr>
        <p:spPr bwMode="auto">
          <a:xfrm flipV="1">
            <a:off x="459276" y="0"/>
            <a:ext cx="1691355" cy="942392"/>
          </a:xfrm>
          <a:prstGeom prst="triangle">
            <a:avLst>
              <a:gd name="adj" fmla="val 49494"/>
            </a:avLst>
          </a:prstGeom>
          <a:solidFill>
            <a:srgbClr val="203864"/>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640080" indent="-182880" algn="l" rtl="0" fontAlgn="base">
              <a:spcBef>
                <a:spcPct val="0"/>
              </a:spcBef>
              <a:spcAft>
                <a:spcPct val="0"/>
              </a:spcAft>
              <a:defRPr kern="1200">
                <a:solidFill>
                  <a:schemeClr val="lt1"/>
                </a:solidFill>
                <a:latin typeface="+mn-lt"/>
                <a:ea typeface="+mn-ea"/>
                <a:cs typeface="+mn-cs"/>
              </a:defRPr>
            </a:lvl2pPr>
            <a:lvl3pPr marL="1282700" indent="-368300" algn="l" rtl="0" fontAlgn="base">
              <a:spcBef>
                <a:spcPct val="0"/>
              </a:spcBef>
              <a:spcAft>
                <a:spcPct val="0"/>
              </a:spcAft>
              <a:defRPr kern="1200">
                <a:solidFill>
                  <a:schemeClr val="lt1"/>
                </a:solidFill>
                <a:latin typeface="+mn-lt"/>
                <a:ea typeface="+mn-ea"/>
                <a:cs typeface="+mn-cs"/>
              </a:defRPr>
            </a:lvl3pPr>
            <a:lvl4pPr marL="1925955" indent="-554355" algn="l" rtl="0" fontAlgn="base">
              <a:spcBef>
                <a:spcPct val="0"/>
              </a:spcBef>
              <a:spcAft>
                <a:spcPct val="0"/>
              </a:spcAft>
              <a:defRPr kern="1200">
                <a:solidFill>
                  <a:schemeClr val="lt1"/>
                </a:solidFill>
                <a:latin typeface="+mn-lt"/>
                <a:ea typeface="+mn-ea"/>
                <a:cs typeface="+mn-cs"/>
              </a:defRPr>
            </a:lvl4pPr>
            <a:lvl5pPr marL="2568575" indent="-739775"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endParaRPr lang="zh-CN" altLang="en-US" dirty="0">
              <a:solidFill>
                <a:prstClr val="white"/>
              </a:solidFill>
              <a:effectLst/>
              <a:latin typeface="华文中宋" panose="02010600040101010101" pitchFamily="2" charset="-122"/>
              <a:ea typeface="华文中宋" panose="02010600040101010101" pitchFamily="2" charset="-122"/>
            </a:endParaRPr>
          </a:p>
        </p:txBody>
      </p:sp>
      <p:pic>
        <p:nvPicPr>
          <p:cNvPr id="2097166" name="图片 5">
            <a:extLst>
              <a:ext uri="{FF2B5EF4-FFF2-40B4-BE49-F238E27FC236}">
                <a16:creationId xmlns:a16="http://schemas.microsoft.com/office/drawing/2014/main" id="{A3FA8031-A0EB-99F4-6FA0-231EEC083CF9}"/>
              </a:ext>
            </a:extLst>
          </p:cNvPr>
          <p:cNvPicPr>
            <a:picLocks noChangeAspect="1"/>
          </p:cNvPicPr>
          <p:nvPr/>
        </p:nvPicPr>
        <p:blipFill>
          <a:blip r:embed="rId3" cstate="print"/>
          <a:stretch>
            <a:fillRect/>
          </a:stretch>
        </p:blipFill>
        <p:spPr>
          <a:xfrm>
            <a:off x="10635170" y="103917"/>
            <a:ext cx="1219202" cy="786386"/>
          </a:xfrm>
          <a:prstGeom prst="rect">
            <a:avLst/>
          </a:prstGeom>
        </p:spPr>
      </p:pic>
      <p:cxnSp>
        <p:nvCxnSpPr>
          <p:cNvPr id="3145742" name="直接连接符 8">
            <a:extLst>
              <a:ext uri="{FF2B5EF4-FFF2-40B4-BE49-F238E27FC236}">
                <a16:creationId xmlns:a16="http://schemas.microsoft.com/office/drawing/2014/main" id="{44452A15-857D-4857-F529-EBBBDB427988}"/>
              </a:ext>
            </a:extLst>
          </p:cNvPr>
          <p:cNvCxnSpPr/>
          <p:nvPr/>
        </p:nvCxnSpPr>
        <p:spPr>
          <a:xfrm>
            <a:off x="2196000" y="936000"/>
            <a:ext cx="8280000" cy="0"/>
          </a:xfrm>
          <a:prstGeom prst="line">
            <a:avLst/>
          </a:prstGeom>
          <a:ln w="41275">
            <a:solidFill>
              <a:schemeClr val="accent1">
                <a:lumMod val="50000"/>
              </a:schemeClr>
            </a:solidFill>
          </a:ln>
        </p:spPr>
        <p:style>
          <a:lnRef idx="1">
            <a:schemeClr val="dk1"/>
          </a:lnRef>
          <a:fillRef idx="0">
            <a:schemeClr val="dk1"/>
          </a:fillRef>
          <a:effectRef idx="0">
            <a:schemeClr val="dk1"/>
          </a:effectRef>
          <a:fontRef idx="minor">
            <a:schemeClr val="tx1"/>
          </a:fontRef>
        </p:style>
      </p:cxnSp>
      <p:sp>
        <p:nvSpPr>
          <p:cNvPr id="3" name="灯片编号占位符 2">
            <a:extLst>
              <a:ext uri="{FF2B5EF4-FFF2-40B4-BE49-F238E27FC236}">
                <a16:creationId xmlns:a16="http://schemas.microsoft.com/office/drawing/2014/main" id="{51E84F7B-EF6E-D19A-3BC3-7B24DF42B1A4}"/>
              </a:ext>
            </a:extLst>
          </p:cNvPr>
          <p:cNvSpPr>
            <a:spLocks noGrp="1"/>
          </p:cNvSpPr>
          <p:nvPr>
            <p:ph type="sldNum" sz="quarter" idx="12"/>
          </p:nvPr>
        </p:nvSpPr>
        <p:spPr/>
        <p:txBody>
          <a:bodyPr/>
          <a:lstStyle/>
          <a:p>
            <a:fld id="{4C728F51-6063-40BC-906F-D6FBF0AE26BF}" type="slidenum">
              <a:rPr lang="zh-CN" altLang="en-US" smtClean="0"/>
              <a:t>10</a:t>
            </a:fld>
            <a:endParaRPr lang="zh-CN" altLang="en-US"/>
          </a:p>
        </p:txBody>
      </p:sp>
      <p:sp>
        <p:nvSpPr>
          <p:cNvPr id="13" name="文本占位符 2">
            <a:extLst>
              <a:ext uri="{FF2B5EF4-FFF2-40B4-BE49-F238E27FC236}">
                <a16:creationId xmlns:a16="http://schemas.microsoft.com/office/drawing/2014/main" id="{8838AE51-6FC2-CA99-94F3-745104A82BC7}"/>
              </a:ext>
            </a:extLst>
          </p:cNvPr>
          <p:cNvSpPr txBox="1"/>
          <p:nvPr/>
        </p:nvSpPr>
        <p:spPr>
          <a:xfrm>
            <a:off x="924180" y="104570"/>
            <a:ext cx="832757" cy="5630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mn-lt"/>
                <a:ea typeface="华文中宋" panose="02010600040101010101" pitchFamily="2" charset="-122"/>
              </a:rPr>
              <a:t>02</a:t>
            </a:r>
            <a:endParaRPr lang="zh-CN" altLang="en-US" dirty="0">
              <a:latin typeface="+mn-lt"/>
              <a:ea typeface="华文中宋" panose="02010600040101010101" pitchFamily="2" charset="-122"/>
            </a:endParaRPr>
          </a:p>
        </p:txBody>
      </p:sp>
      <p:sp>
        <p:nvSpPr>
          <p:cNvPr id="4" name="文本框 3">
            <a:extLst>
              <a:ext uri="{FF2B5EF4-FFF2-40B4-BE49-F238E27FC236}">
                <a16:creationId xmlns:a16="http://schemas.microsoft.com/office/drawing/2014/main" id="{7C15A660-C413-E885-669E-FCD6DE1D9967}"/>
              </a:ext>
            </a:extLst>
          </p:cNvPr>
          <p:cNvSpPr txBox="1"/>
          <p:nvPr/>
        </p:nvSpPr>
        <p:spPr>
          <a:xfrm>
            <a:off x="1422166" y="3832460"/>
            <a:ext cx="9347668" cy="1712135"/>
          </a:xfrm>
          <a:prstGeom prst="rect">
            <a:avLst/>
          </a:prstGeom>
          <a:noFill/>
          <a:ln cmpd="sng">
            <a:noFill/>
          </a:ln>
        </p:spPr>
        <p:txBody>
          <a:bodyPr wrap="square" rtlCol="0">
            <a:spAutoFit/>
          </a:bodyPr>
          <a:lstStyle/>
          <a:p>
            <a:pPr indent="457200">
              <a:lnSpc>
                <a:spcPct val="150000"/>
              </a:lnSpc>
            </a:pPr>
            <a:r>
              <a:rPr lang="zh-CN" altLang="en-US" dirty="0"/>
              <a:t>对目前已有的</a:t>
            </a:r>
            <a:r>
              <a:rPr lang="en-US" altLang="zh-CN" dirty="0"/>
              <a:t>500</a:t>
            </a:r>
            <a:r>
              <a:rPr lang="zh-CN" altLang="en-US" dirty="0"/>
              <a:t>张拼接图按每十张抽一帧，得到最终的</a:t>
            </a:r>
            <a:r>
              <a:rPr lang="en-US" altLang="zh-CN" dirty="0"/>
              <a:t>50</a:t>
            </a:r>
            <a:r>
              <a:rPr lang="zh-CN" altLang="en-US" dirty="0"/>
              <a:t>张，从实际效果来看机身的正确检测率在</a:t>
            </a:r>
            <a:r>
              <a:rPr lang="en-US" altLang="zh-CN" dirty="0"/>
              <a:t>78%</a:t>
            </a:r>
            <a:r>
              <a:rPr lang="zh-CN" altLang="en-US" dirty="0"/>
              <a:t>左右，机身的主要问题是存在一定的漏检，误检较少，机械臂的正确率在</a:t>
            </a:r>
            <a:r>
              <a:rPr lang="en-US" altLang="zh-CN" dirty="0"/>
              <a:t>91%</a:t>
            </a:r>
            <a:r>
              <a:rPr lang="zh-CN" altLang="en-US" dirty="0"/>
              <a:t>左右，机械臂的漏检也存在少量漏检，误检较少，而挖斗正确率在只有</a:t>
            </a:r>
            <a:r>
              <a:rPr lang="en-US" altLang="zh-CN" dirty="0"/>
              <a:t>45%</a:t>
            </a:r>
            <a:r>
              <a:rPr lang="zh-CN" altLang="en-US" dirty="0"/>
              <a:t>左右，且存在较多的误检和漏检</a:t>
            </a:r>
          </a:p>
        </p:txBody>
      </p:sp>
      <p:graphicFrame>
        <p:nvGraphicFramePr>
          <p:cNvPr id="5" name="表格 4">
            <a:extLst>
              <a:ext uri="{FF2B5EF4-FFF2-40B4-BE49-F238E27FC236}">
                <a16:creationId xmlns:a16="http://schemas.microsoft.com/office/drawing/2014/main" id="{C323A441-0713-F627-1DC5-7A273DE3558D}"/>
              </a:ext>
            </a:extLst>
          </p:cNvPr>
          <p:cNvGraphicFramePr>
            <a:graphicFrameLocks noGrp="1"/>
          </p:cNvGraphicFramePr>
          <p:nvPr>
            <p:extLst>
              <p:ext uri="{D42A27DB-BD31-4B8C-83A1-F6EECF244321}">
                <p14:modId xmlns:p14="http://schemas.microsoft.com/office/powerpoint/2010/main" val="3542917981"/>
              </p:ext>
            </p:extLst>
          </p:nvPr>
        </p:nvGraphicFramePr>
        <p:xfrm>
          <a:off x="1458652" y="1774430"/>
          <a:ext cx="9464721" cy="1495991"/>
        </p:xfrm>
        <a:graphic>
          <a:graphicData uri="http://schemas.openxmlformats.org/drawingml/2006/table">
            <a:tbl>
              <a:tblPr firstRow="1" bandRow="1">
                <a:tableStyleId>{5C22544A-7EE6-4342-B048-85BDC9FD1C3A}</a:tableStyleId>
              </a:tblPr>
              <a:tblGrid>
                <a:gridCol w="3154907">
                  <a:extLst>
                    <a:ext uri="{9D8B030D-6E8A-4147-A177-3AD203B41FA5}">
                      <a16:colId xmlns:a16="http://schemas.microsoft.com/office/drawing/2014/main" val="1938516732"/>
                    </a:ext>
                  </a:extLst>
                </a:gridCol>
                <a:gridCol w="3169829">
                  <a:extLst>
                    <a:ext uri="{9D8B030D-6E8A-4147-A177-3AD203B41FA5}">
                      <a16:colId xmlns:a16="http://schemas.microsoft.com/office/drawing/2014/main" val="764662225"/>
                    </a:ext>
                  </a:extLst>
                </a:gridCol>
                <a:gridCol w="3139985">
                  <a:extLst>
                    <a:ext uri="{9D8B030D-6E8A-4147-A177-3AD203B41FA5}">
                      <a16:colId xmlns:a16="http://schemas.microsoft.com/office/drawing/2014/main" val="3872078625"/>
                    </a:ext>
                  </a:extLst>
                </a:gridCol>
              </a:tblGrid>
              <a:tr h="370142">
                <a:tc>
                  <a:txBody>
                    <a:bodyPr/>
                    <a:lstStyle/>
                    <a:p>
                      <a:pPr algn="ctr"/>
                      <a:r>
                        <a:rPr lang="zh-CN" altLang="en-US" dirty="0">
                          <a:solidFill>
                            <a:schemeClr val="tx1"/>
                          </a:solidFill>
                        </a:rPr>
                        <a:t>种类</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dirty="0">
                          <a:solidFill>
                            <a:schemeClr val="tx1"/>
                          </a:solidFill>
                        </a:rPr>
                        <a:t>实际数量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dirty="0">
                          <a:solidFill>
                            <a:schemeClr val="tx1"/>
                          </a:solidFill>
                        </a:rPr>
                        <a:t>正确检测数量</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6447424"/>
                  </a:ext>
                </a:extLst>
              </a:tr>
              <a:tr h="375283">
                <a:tc>
                  <a:txBody>
                    <a:bodyPr/>
                    <a:lstStyle/>
                    <a:p>
                      <a:pPr algn="ctr"/>
                      <a:r>
                        <a:rPr lang="zh-CN" altLang="en-US" dirty="0">
                          <a:solidFill>
                            <a:schemeClr val="tx1"/>
                          </a:solidFill>
                        </a:rPr>
                        <a:t>机身</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96</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75</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4451908"/>
                  </a:ext>
                </a:extLst>
              </a:tr>
              <a:tr h="375283">
                <a:tc>
                  <a:txBody>
                    <a:bodyPr/>
                    <a:lstStyle/>
                    <a:p>
                      <a:pPr algn="ctr"/>
                      <a:r>
                        <a:rPr lang="zh-CN" altLang="en-US" dirty="0">
                          <a:solidFill>
                            <a:schemeClr val="tx1"/>
                          </a:solidFill>
                        </a:rPr>
                        <a:t>机械臂</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104</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95</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5690582"/>
                  </a:ext>
                </a:extLst>
              </a:tr>
              <a:tr h="375283">
                <a:tc>
                  <a:txBody>
                    <a:bodyPr/>
                    <a:lstStyle/>
                    <a:p>
                      <a:pPr algn="ctr"/>
                      <a:r>
                        <a:rPr lang="zh-CN" altLang="en-US" dirty="0">
                          <a:solidFill>
                            <a:schemeClr val="tx1"/>
                          </a:solidFill>
                        </a:rPr>
                        <a:t>挖斗</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85</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solidFill>
                            <a:schemeClr val="tx1"/>
                          </a:solidFill>
                        </a:rPr>
                        <a:t>39</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5866641"/>
                  </a:ext>
                </a:extLst>
              </a:tr>
            </a:tbl>
          </a:graphicData>
        </a:graphic>
      </p:graphicFrame>
    </p:spTree>
    <p:extLst>
      <p:ext uri="{BB962C8B-B14F-4D97-AF65-F5344CB8AC3E}">
        <p14:creationId xmlns:p14="http://schemas.microsoft.com/office/powerpoint/2010/main" val="66158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44D5E-A57A-F5E2-8AC5-36E063DD50EE}"/>
            </a:ext>
          </a:extLst>
        </p:cNvPr>
        <p:cNvGrpSpPr/>
        <p:nvPr/>
      </p:nvGrpSpPr>
      <p:grpSpPr>
        <a:xfrm>
          <a:off x="0" y="0"/>
          <a:ext cx="0" cy="0"/>
          <a:chOff x="0" y="0"/>
          <a:chExt cx="0" cy="0"/>
        </a:xfrm>
      </p:grpSpPr>
      <p:sp>
        <p:nvSpPr>
          <p:cNvPr id="1048678" name="标题 1">
            <a:extLst>
              <a:ext uri="{FF2B5EF4-FFF2-40B4-BE49-F238E27FC236}">
                <a16:creationId xmlns:a16="http://schemas.microsoft.com/office/drawing/2014/main" id="{FD86BA35-B65A-80BD-832B-DB8C0EE12AD6}"/>
              </a:ext>
            </a:extLst>
          </p:cNvPr>
          <p:cNvSpPr txBox="1"/>
          <p:nvPr/>
        </p:nvSpPr>
        <p:spPr>
          <a:xfrm>
            <a:off x="2150630" y="296863"/>
            <a:ext cx="3801595" cy="645529"/>
          </a:xfrm>
          <a:prstGeom prst="rect">
            <a:avLst/>
          </a:prstGeom>
        </p:spPr>
        <p:txBody>
          <a:bodyPr/>
          <a:lstStyle>
            <a:lvl1pPr algn="ctr" defTabSz="914400" rtl="0" eaLnBrk="1" latinLnBrk="0" hangingPunct="1">
              <a:lnSpc>
                <a:spcPct val="90000"/>
              </a:lnSpc>
              <a:spcBef>
                <a:spcPct val="0"/>
              </a:spcBef>
              <a:buNone/>
              <a:defRPr sz="4400" b="1" kern="1200">
                <a:solidFill>
                  <a:schemeClr val="tx1">
                    <a:lumMod val="75000"/>
                    <a:lumOff val="25000"/>
                  </a:schemeClr>
                </a:solidFill>
                <a:latin typeface="微软雅黑" panose="020B0503020204020204" pitchFamily="34" charset="-122"/>
                <a:ea typeface="微软雅黑" panose="020B0503020204020204" pitchFamily="34" charset="-122"/>
                <a:cs typeface="+mj-cs"/>
              </a:defRPr>
            </a:lvl1pPr>
          </a:lstStyle>
          <a:p>
            <a:pPr algn="l"/>
            <a:r>
              <a:rPr lang="zh-CN" altLang="en-US" sz="3200" dirty="0">
                <a:solidFill>
                  <a:srgbClr val="203864"/>
                </a:solidFill>
                <a:latin typeface="宋体" panose="02010600030101010101" pitchFamily="2" charset="-122"/>
                <a:ea typeface="宋体" panose="02010600030101010101" pitchFamily="2" charset="-122"/>
              </a:rPr>
              <a:t>总结及后续计划</a:t>
            </a:r>
            <a:endParaRPr lang="zh-CN" altLang="en-US" sz="3200" dirty="0">
              <a:solidFill>
                <a:srgbClr val="263A5E"/>
              </a:solidFill>
              <a:latin typeface="+mj-lt"/>
              <a:ea typeface="华文中宋" panose="02010600040101010101" pitchFamily="2" charset="-122"/>
            </a:endParaRPr>
          </a:p>
        </p:txBody>
      </p:sp>
      <p:sp>
        <p:nvSpPr>
          <p:cNvPr id="1048679" name="等腰三角形 3">
            <a:extLst>
              <a:ext uri="{FF2B5EF4-FFF2-40B4-BE49-F238E27FC236}">
                <a16:creationId xmlns:a16="http://schemas.microsoft.com/office/drawing/2014/main" id="{9EECD8E0-34AC-7C0B-DE8E-F11EA08CF2CC}"/>
              </a:ext>
            </a:extLst>
          </p:cNvPr>
          <p:cNvSpPr/>
          <p:nvPr/>
        </p:nvSpPr>
        <p:spPr bwMode="auto">
          <a:xfrm flipV="1">
            <a:off x="459276" y="0"/>
            <a:ext cx="1691355" cy="942392"/>
          </a:xfrm>
          <a:prstGeom prst="triangle">
            <a:avLst>
              <a:gd name="adj" fmla="val 49494"/>
            </a:avLst>
          </a:prstGeom>
          <a:solidFill>
            <a:srgbClr val="203864"/>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640080" indent="-182880" algn="l" rtl="0" fontAlgn="base">
              <a:spcBef>
                <a:spcPct val="0"/>
              </a:spcBef>
              <a:spcAft>
                <a:spcPct val="0"/>
              </a:spcAft>
              <a:defRPr kern="1200">
                <a:solidFill>
                  <a:schemeClr val="lt1"/>
                </a:solidFill>
                <a:latin typeface="+mn-lt"/>
                <a:ea typeface="+mn-ea"/>
                <a:cs typeface="+mn-cs"/>
              </a:defRPr>
            </a:lvl2pPr>
            <a:lvl3pPr marL="1282700" indent="-368300" algn="l" rtl="0" fontAlgn="base">
              <a:spcBef>
                <a:spcPct val="0"/>
              </a:spcBef>
              <a:spcAft>
                <a:spcPct val="0"/>
              </a:spcAft>
              <a:defRPr kern="1200">
                <a:solidFill>
                  <a:schemeClr val="lt1"/>
                </a:solidFill>
                <a:latin typeface="+mn-lt"/>
                <a:ea typeface="+mn-ea"/>
                <a:cs typeface="+mn-cs"/>
              </a:defRPr>
            </a:lvl3pPr>
            <a:lvl4pPr marL="1925955" indent="-554355" algn="l" rtl="0" fontAlgn="base">
              <a:spcBef>
                <a:spcPct val="0"/>
              </a:spcBef>
              <a:spcAft>
                <a:spcPct val="0"/>
              </a:spcAft>
              <a:defRPr kern="1200">
                <a:solidFill>
                  <a:schemeClr val="lt1"/>
                </a:solidFill>
                <a:latin typeface="+mn-lt"/>
                <a:ea typeface="+mn-ea"/>
                <a:cs typeface="+mn-cs"/>
              </a:defRPr>
            </a:lvl4pPr>
            <a:lvl5pPr marL="2568575" indent="-739775"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endParaRPr lang="zh-CN" altLang="en-US" dirty="0">
              <a:solidFill>
                <a:prstClr val="white"/>
              </a:solidFill>
              <a:effectLst/>
              <a:latin typeface="华文中宋" panose="02010600040101010101" pitchFamily="2" charset="-122"/>
              <a:ea typeface="华文中宋" panose="02010600040101010101" pitchFamily="2" charset="-122"/>
            </a:endParaRPr>
          </a:p>
        </p:txBody>
      </p:sp>
      <p:pic>
        <p:nvPicPr>
          <p:cNvPr id="2097166" name="图片 5">
            <a:extLst>
              <a:ext uri="{FF2B5EF4-FFF2-40B4-BE49-F238E27FC236}">
                <a16:creationId xmlns:a16="http://schemas.microsoft.com/office/drawing/2014/main" id="{98DECAEE-26BE-8FA6-9984-91F1793486AD}"/>
              </a:ext>
            </a:extLst>
          </p:cNvPr>
          <p:cNvPicPr>
            <a:picLocks noChangeAspect="1"/>
          </p:cNvPicPr>
          <p:nvPr/>
        </p:nvPicPr>
        <p:blipFill>
          <a:blip r:embed="rId3" cstate="print"/>
          <a:stretch>
            <a:fillRect/>
          </a:stretch>
        </p:blipFill>
        <p:spPr>
          <a:xfrm>
            <a:off x="10635170" y="103917"/>
            <a:ext cx="1219202" cy="786386"/>
          </a:xfrm>
          <a:prstGeom prst="rect">
            <a:avLst/>
          </a:prstGeom>
        </p:spPr>
      </p:pic>
      <p:cxnSp>
        <p:nvCxnSpPr>
          <p:cNvPr id="3145742" name="直接连接符 8">
            <a:extLst>
              <a:ext uri="{FF2B5EF4-FFF2-40B4-BE49-F238E27FC236}">
                <a16:creationId xmlns:a16="http://schemas.microsoft.com/office/drawing/2014/main" id="{FB6B8B04-F7A9-87AC-C2B3-890601E4C974}"/>
              </a:ext>
            </a:extLst>
          </p:cNvPr>
          <p:cNvCxnSpPr/>
          <p:nvPr/>
        </p:nvCxnSpPr>
        <p:spPr>
          <a:xfrm>
            <a:off x="2196000" y="936000"/>
            <a:ext cx="8280000" cy="0"/>
          </a:xfrm>
          <a:prstGeom prst="line">
            <a:avLst/>
          </a:prstGeom>
          <a:ln w="41275">
            <a:solidFill>
              <a:schemeClr val="accent1">
                <a:lumMod val="50000"/>
              </a:schemeClr>
            </a:solidFill>
          </a:ln>
        </p:spPr>
        <p:style>
          <a:lnRef idx="1">
            <a:schemeClr val="dk1"/>
          </a:lnRef>
          <a:fillRef idx="0">
            <a:schemeClr val="dk1"/>
          </a:fillRef>
          <a:effectRef idx="0">
            <a:schemeClr val="dk1"/>
          </a:effectRef>
          <a:fontRef idx="minor">
            <a:schemeClr val="tx1"/>
          </a:fontRef>
        </p:style>
      </p:cxnSp>
      <p:sp>
        <p:nvSpPr>
          <p:cNvPr id="3" name="灯片编号占位符 2">
            <a:extLst>
              <a:ext uri="{FF2B5EF4-FFF2-40B4-BE49-F238E27FC236}">
                <a16:creationId xmlns:a16="http://schemas.microsoft.com/office/drawing/2014/main" id="{D238DCD4-AA94-E58F-6B2F-2FF679BAF911}"/>
              </a:ext>
            </a:extLst>
          </p:cNvPr>
          <p:cNvSpPr>
            <a:spLocks noGrp="1"/>
          </p:cNvSpPr>
          <p:nvPr>
            <p:ph type="sldNum" sz="quarter" idx="12"/>
          </p:nvPr>
        </p:nvSpPr>
        <p:spPr/>
        <p:txBody>
          <a:bodyPr/>
          <a:lstStyle/>
          <a:p>
            <a:fld id="{4C728F51-6063-40BC-906F-D6FBF0AE26BF}" type="slidenum">
              <a:rPr lang="zh-CN" altLang="en-US" smtClean="0"/>
              <a:t>11</a:t>
            </a:fld>
            <a:endParaRPr lang="zh-CN" altLang="en-US"/>
          </a:p>
        </p:txBody>
      </p:sp>
      <p:sp>
        <p:nvSpPr>
          <p:cNvPr id="13" name="文本占位符 2">
            <a:extLst>
              <a:ext uri="{FF2B5EF4-FFF2-40B4-BE49-F238E27FC236}">
                <a16:creationId xmlns:a16="http://schemas.microsoft.com/office/drawing/2014/main" id="{20A85339-883A-F1AB-7F93-D8289443D399}"/>
              </a:ext>
            </a:extLst>
          </p:cNvPr>
          <p:cNvSpPr txBox="1"/>
          <p:nvPr/>
        </p:nvSpPr>
        <p:spPr>
          <a:xfrm>
            <a:off x="924180" y="104570"/>
            <a:ext cx="832757" cy="5630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b="1" kern="1200">
                <a:solidFill>
                  <a:schemeClr val="bg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latin typeface="+mn-lt"/>
                <a:ea typeface="华文中宋" panose="02010600040101010101" pitchFamily="2" charset="-122"/>
              </a:rPr>
              <a:t>02</a:t>
            </a:r>
            <a:endParaRPr lang="zh-CN" altLang="en-US" dirty="0">
              <a:latin typeface="+mn-lt"/>
              <a:ea typeface="华文中宋" panose="02010600040101010101" pitchFamily="2" charset="-122"/>
            </a:endParaRPr>
          </a:p>
        </p:txBody>
      </p:sp>
      <p:sp>
        <p:nvSpPr>
          <p:cNvPr id="2" name="文本框 1">
            <a:extLst>
              <a:ext uri="{FF2B5EF4-FFF2-40B4-BE49-F238E27FC236}">
                <a16:creationId xmlns:a16="http://schemas.microsoft.com/office/drawing/2014/main" id="{7C38CA88-8B34-E887-34AB-5CBB3D0049E0}"/>
              </a:ext>
            </a:extLst>
          </p:cNvPr>
          <p:cNvSpPr txBox="1"/>
          <p:nvPr/>
        </p:nvSpPr>
        <p:spPr>
          <a:xfrm>
            <a:off x="1428750" y="1239255"/>
            <a:ext cx="9206420" cy="5036122"/>
          </a:xfrm>
          <a:prstGeom prst="rect">
            <a:avLst/>
          </a:prstGeom>
          <a:noFill/>
          <a:ln cmpd="sng">
            <a:noFill/>
          </a:ln>
        </p:spPr>
        <p:txBody>
          <a:bodyPr wrap="square" rtlCol="0">
            <a:spAutoFit/>
          </a:bodyPr>
          <a:lstStyle/>
          <a:p>
            <a:pPr indent="457200" algn="l">
              <a:lnSpc>
                <a:spcPct val="150000"/>
              </a:lnSpc>
            </a:pPr>
            <a:r>
              <a:rPr lang="zh-CN" altLang="en-US" dirty="0"/>
              <a:t>总结：</a:t>
            </a:r>
            <a:endParaRPr lang="en-US" altLang="zh-CN" dirty="0"/>
          </a:p>
          <a:p>
            <a:pPr indent="457200" algn="l">
              <a:lnSpc>
                <a:spcPct val="150000"/>
              </a:lnSpc>
            </a:pPr>
            <a:r>
              <a:rPr lang="zh-CN" altLang="en-US" dirty="0"/>
              <a:t>首先，目前的技术路线分为拼接</a:t>
            </a:r>
            <a:r>
              <a:rPr lang="en-US" altLang="zh-CN" dirty="0"/>
              <a:t>-</a:t>
            </a:r>
            <a:r>
              <a:rPr lang="zh-CN" altLang="en-US" dirty="0"/>
              <a:t>检测</a:t>
            </a:r>
            <a:r>
              <a:rPr lang="en-US" altLang="zh-CN" dirty="0"/>
              <a:t>-</a:t>
            </a:r>
            <a:r>
              <a:rPr lang="zh-CN" altLang="en-US" dirty="0"/>
              <a:t>定位三部分，其中拼接是其中最为重要的部分，因为拼接的效果会影响到后续两部分</a:t>
            </a:r>
            <a:endParaRPr lang="en-US" altLang="zh-CN" dirty="0"/>
          </a:p>
          <a:p>
            <a:pPr indent="457200" algn="l">
              <a:lnSpc>
                <a:spcPct val="150000"/>
              </a:lnSpc>
            </a:pPr>
            <a:r>
              <a:rPr lang="zh-CN" altLang="en-US" dirty="0"/>
              <a:t>而目前拼接存在的问题，主要包括以下三部分：</a:t>
            </a:r>
            <a:r>
              <a:rPr lang="en-US" altLang="zh-CN" dirty="0"/>
              <a:t>1.</a:t>
            </a:r>
            <a:r>
              <a:rPr lang="zh-CN" altLang="en-US" dirty="0"/>
              <a:t>少量拼接没有对齐导致出现错位，</a:t>
            </a:r>
            <a:r>
              <a:rPr lang="en-US" altLang="zh-CN" dirty="0"/>
              <a:t>2.</a:t>
            </a:r>
            <a:r>
              <a:rPr lang="zh-CN" altLang="en-US" dirty="0"/>
              <a:t>一部分拼接存在明显的形变导致目标检测漏检 </a:t>
            </a:r>
            <a:r>
              <a:rPr lang="en-US" altLang="zh-CN" dirty="0"/>
              <a:t>3.</a:t>
            </a:r>
            <a:r>
              <a:rPr lang="zh-CN" altLang="en-US" dirty="0"/>
              <a:t>目前的拼接效率有待加强</a:t>
            </a:r>
            <a:endParaRPr lang="en-US" altLang="zh-CN" dirty="0"/>
          </a:p>
          <a:p>
            <a:pPr indent="457200" algn="l">
              <a:lnSpc>
                <a:spcPct val="150000"/>
              </a:lnSpc>
            </a:pPr>
            <a:r>
              <a:rPr lang="zh-CN" altLang="en-US" dirty="0"/>
              <a:t>前两点的原因可能是目前的网格优化存在一定的问题，如能量函数权重分配不均，目前的拼接效率提升的瓶颈主要在于基于图割的最佳缝融合</a:t>
            </a:r>
            <a:endParaRPr lang="en-US" altLang="zh-CN" dirty="0"/>
          </a:p>
          <a:p>
            <a:pPr indent="457200" algn="l">
              <a:lnSpc>
                <a:spcPct val="150000"/>
              </a:lnSpc>
            </a:pPr>
            <a:r>
              <a:rPr lang="zh-CN" altLang="en-US" dirty="0"/>
              <a:t>因此，后续主要想通过提升网格优化算法，如动态分配权重，使其能更适应多样的场景，其次是引入分层图割的概念，先对重叠区域降采样，快速计算低分辨率下的初始缝合线，再映射回原分辨率进行微调，提升计算效率</a:t>
            </a:r>
            <a:endParaRPr lang="en-US" altLang="zh-CN" dirty="0"/>
          </a:p>
          <a:p>
            <a:pPr indent="457200">
              <a:lnSpc>
                <a:spcPct val="150000"/>
              </a:lnSpc>
            </a:pPr>
            <a:r>
              <a:rPr lang="zh-CN" altLang="en-US" dirty="0"/>
              <a:t>其次还需要考虑基于</a:t>
            </a:r>
            <a:r>
              <a:rPr lang="en-US" altLang="zh-CN" dirty="0"/>
              <a:t>SPTP</a:t>
            </a:r>
            <a:r>
              <a:rPr lang="zh-CN" altLang="en-US" dirty="0"/>
              <a:t>将点云在原图到拼接图的投影模块，因为这会影响到目标定位的效果，当前投影效果仍然存在着一定的偏移，后续还需要完善</a:t>
            </a:r>
          </a:p>
        </p:txBody>
      </p:sp>
    </p:spTree>
    <p:extLst>
      <p:ext uri="{BB962C8B-B14F-4D97-AF65-F5344CB8AC3E}">
        <p14:creationId xmlns:p14="http://schemas.microsoft.com/office/powerpoint/2010/main" val="4056197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03864"/>
        </a:solidFill>
        <a:effectLst/>
      </p:bgPr>
    </p:bg>
    <p:spTree>
      <p:nvGrpSpPr>
        <p:cNvPr id="1" name=""/>
        <p:cNvGrpSpPr/>
        <p:nvPr/>
      </p:nvGrpSpPr>
      <p:grpSpPr>
        <a:xfrm>
          <a:off x="0" y="0"/>
          <a:ext cx="0" cy="0"/>
          <a:chOff x="0" y="0"/>
          <a:chExt cx="0" cy="0"/>
        </a:xfrm>
      </p:grpSpPr>
      <p:cxnSp>
        <p:nvCxnSpPr>
          <p:cNvPr id="3145731" name="直接连接符 4"/>
          <p:cNvCxnSpPr>
            <a:cxnSpLocks/>
          </p:cNvCxnSpPr>
          <p:nvPr/>
        </p:nvCxnSpPr>
        <p:spPr>
          <a:xfrm>
            <a:off x="4636777" y="623405"/>
            <a:ext cx="8544" cy="223045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097158" name="图片 2"/>
          <p:cNvPicPr>
            <a:picLocks noChangeAspect="1"/>
          </p:cNvPicPr>
          <p:nvPr/>
        </p:nvPicPr>
        <p:blipFill>
          <a:blip r:embed="rId3" cstate="print"/>
          <a:stretch>
            <a:fillRect/>
          </a:stretch>
        </p:blipFill>
        <p:spPr>
          <a:xfrm>
            <a:off x="2935404" y="903985"/>
            <a:ext cx="1240694" cy="1240694"/>
          </a:xfrm>
          <a:prstGeom prst="rect">
            <a:avLst/>
          </a:prstGeom>
        </p:spPr>
      </p:pic>
      <p:sp>
        <p:nvSpPr>
          <p:cNvPr id="1048620" name="TextBox 1"/>
          <p:cNvSpPr txBox="1"/>
          <p:nvPr/>
        </p:nvSpPr>
        <p:spPr>
          <a:xfrm>
            <a:off x="3931920" y="6178104"/>
            <a:ext cx="5685906" cy="307777"/>
          </a:xfrm>
          <a:prstGeom prst="rect">
            <a:avLst/>
          </a:prstGeom>
          <a:noFill/>
        </p:spPr>
        <p:txBody>
          <a:bodyPr wrap="square" rtlCol="0">
            <a:spAutoFit/>
          </a:bodyPr>
          <a:lstStyle/>
          <a:p>
            <a:r>
              <a:rPr lang="en-AU" sz="1400" dirty="0">
                <a:solidFill>
                  <a:schemeClr val="bg1">
                    <a:lumMod val="75000"/>
                  </a:schemeClr>
                </a:solidFill>
                <a:latin typeface="微软雅黑 Light" panose="020B0502040204020203" pitchFamily="34" charset="-122"/>
                <a:ea typeface="微软雅黑 Light" panose="020B0502040204020203" pitchFamily="34" charset="-122"/>
              </a:rPr>
              <a:t>High-</a:t>
            </a:r>
            <a:r>
              <a:rPr lang="en-AU" sz="1400" dirty="0" err="1">
                <a:solidFill>
                  <a:schemeClr val="bg1">
                    <a:lumMod val="75000"/>
                  </a:schemeClr>
                </a:solidFill>
                <a:latin typeface="微软雅黑 Light" panose="020B0502040204020203" pitchFamily="34" charset="-122"/>
                <a:ea typeface="微软雅黑 Light" panose="020B0502040204020203" pitchFamily="34" charset="-122"/>
              </a:rPr>
              <a:t>performanceSpatialComputationalIntelligenceLab</a:t>
            </a:r>
            <a:r>
              <a:rPr lang="en-US" altLang="zh-CN" sz="1400" dirty="0">
                <a:solidFill>
                  <a:schemeClr val="bg1">
                    <a:lumMod val="75000"/>
                  </a:schemeClr>
                </a:solidFill>
                <a:latin typeface="微软雅黑 Light" panose="020B0502040204020203" pitchFamily="34" charset="-122"/>
                <a:ea typeface="微软雅黑 Light" panose="020B0502040204020203" pitchFamily="34" charset="-122"/>
              </a:rPr>
              <a:t>@CUG</a:t>
            </a:r>
            <a:endParaRPr lang="en-AU" sz="1400" dirty="0">
              <a:solidFill>
                <a:schemeClr val="bg1">
                  <a:lumMod val="75000"/>
                </a:schemeClr>
              </a:solidFill>
              <a:latin typeface="微软雅黑 Light" panose="020B0502040204020203" pitchFamily="34" charset="-122"/>
              <a:ea typeface="微软雅黑 Light" panose="020B0502040204020203" pitchFamily="34" charset="-122"/>
            </a:endParaRPr>
          </a:p>
        </p:txBody>
      </p:sp>
      <p:pic>
        <p:nvPicPr>
          <p:cNvPr id="2097159" name="图片 4"/>
          <p:cNvPicPr>
            <a:picLocks noChangeAspect="1"/>
          </p:cNvPicPr>
          <p:nvPr/>
        </p:nvPicPr>
        <p:blipFill>
          <a:blip r:embed="rId4" cstate="print"/>
          <a:stretch>
            <a:fillRect/>
          </a:stretch>
        </p:blipFill>
        <p:spPr>
          <a:xfrm>
            <a:off x="2873829" y="5858179"/>
            <a:ext cx="1134836" cy="744182"/>
          </a:xfrm>
          <a:prstGeom prst="rect">
            <a:avLst/>
          </a:prstGeom>
        </p:spPr>
      </p:pic>
      <p:sp>
        <p:nvSpPr>
          <p:cNvPr id="1048623" name="标题占位符 1"/>
          <p:cNvSpPr txBox="1"/>
          <p:nvPr/>
        </p:nvSpPr>
        <p:spPr>
          <a:xfrm>
            <a:off x="1728108" y="3533275"/>
            <a:ext cx="838774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5400" kern="1200">
                <a:solidFill>
                  <a:schemeClr val="bg1"/>
                </a:solidFill>
                <a:latin typeface="Arial" panose="020B0604020202020204" pitchFamily="34" charset="0"/>
                <a:ea typeface="+mj-ea"/>
                <a:cs typeface="Arial" panose="020B0604020202020204" pitchFamily="34" charset="0"/>
              </a:defRPr>
            </a:lvl1pPr>
          </a:lstStyle>
          <a:p>
            <a:r>
              <a:rPr lang="zh-CN" altLang="en-US" sz="4800" b="1" dirty="0">
                <a:latin typeface="Microsoft YaHei" panose="020B0503020204020204" pitchFamily="34" charset="-122"/>
                <a:ea typeface="Microsoft YaHei" panose="020B0503020204020204" pitchFamily="34" charset="-122"/>
              </a:rPr>
              <a:t>感谢您的聆听！</a:t>
            </a:r>
          </a:p>
        </p:txBody>
      </p:sp>
      <p:sp>
        <p:nvSpPr>
          <p:cNvPr id="9" name="内容占位符 2"/>
          <p:cNvSpPr txBox="1"/>
          <p:nvPr/>
        </p:nvSpPr>
        <p:spPr>
          <a:xfrm>
            <a:off x="4863484" y="533454"/>
            <a:ext cx="5428181" cy="815635"/>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chemeClr val="bg1"/>
                </a:solidFill>
                <a:latin typeface="Meiryo UI" panose="020B0604030504040204" pitchFamily="34" charset="-128"/>
                <a:ea typeface="Meiryo UI" panose="020B0604030504040204" pitchFamily="34" charset="-128"/>
                <a:cs typeface="Meiryo UI" panose="020B0604030504040204" pitchFamily="34" charset="-128"/>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bg1"/>
                </a:solidFill>
                <a:latin typeface="黑体" panose="02010609060101010101" pitchFamily="49" charset="-122"/>
                <a:ea typeface="黑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dobe 黑体 Std R" panose="020B0400000000000000" pitchFamily="34" charset="-122"/>
                <a:ea typeface="Adobe 黑体 Std R" panose="020B04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黑体" panose="02010609060101010101" pitchFamily="49" charset="-122"/>
                <a:ea typeface="黑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华文细黑" panose="02010600040101010101" pitchFamily="2" charset="-122"/>
                <a:ea typeface="华文细黑"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600" dirty="0">
                <a:solidFill>
                  <a:schemeClr val="bg1"/>
                </a:solidFill>
                <a:latin typeface="微软雅黑" panose="020B0503020204020204" pitchFamily="34" charset="-122"/>
                <a:ea typeface="微软雅黑" panose="020B0503020204020204" pitchFamily="34" charset="-122"/>
              </a:rPr>
              <a:t>组会汇报</a:t>
            </a:r>
            <a:endParaRPr lang="en-US" altLang="zh-CN" sz="1600" dirty="0">
              <a:solidFill>
                <a:schemeClr val="bg1"/>
              </a:solidFill>
              <a:latin typeface="微软雅黑" panose="020B0503020204020204" pitchFamily="34" charset="-122"/>
              <a:ea typeface="微软雅黑" panose="020B0503020204020204" pitchFamily="34" charset="-122"/>
            </a:endParaRPr>
          </a:p>
          <a:p>
            <a:pPr marL="0" indent="0">
              <a:buNone/>
            </a:pPr>
            <a:r>
              <a:rPr lang="en-US" altLang="zh-CN" sz="1600" dirty="0">
                <a:solidFill>
                  <a:schemeClr val="bg1"/>
                </a:solidFill>
                <a:latin typeface="微软雅黑" panose="020B0503020204020204" pitchFamily="34" charset="-122"/>
                <a:ea typeface="微软雅黑" panose="020B0503020204020204" pitchFamily="34" charset="-122"/>
              </a:rPr>
              <a:t>202</a:t>
            </a:r>
            <a:r>
              <a:rPr lang="en-US" altLang="zh-CN" sz="1600" dirty="0">
                <a:latin typeface="微软雅黑" panose="020B0503020204020204" pitchFamily="34" charset="-122"/>
                <a:ea typeface="微软雅黑" panose="020B0503020204020204" pitchFamily="34" charset="-122"/>
              </a:rPr>
              <a:t>5</a:t>
            </a:r>
            <a:r>
              <a:rPr lang="en-US" altLang="zh-CN" sz="1600" dirty="0">
                <a:solidFill>
                  <a:schemeClr val="bg1"/>
                </a:solidFill>
                <a:latin typeface="微软雅黑" panose="020B0503020204020204" pitchFamily="34" charset="-122"/>
                <a:ea typeface="微软雅黑" panose="020B0503020204020204" pitchFamily="34" charset="-122"/>
              </a:rPr>
              <a:t>/9/23</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0" name="内容占位符 2"/>
          <p:cNvSpPr txBox="1"/>
          <p:nvPr/>
        </p:nvSpPr>
        <p:spPr>
          <a:xfrm>
            <a:off x="4863484" y="1435783"/>
            <a:ext cx="6016719" cy="1456650"/>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1800" b="0" kern="1200">
                <a:solidFill>
                  <a:schemeClr val="bg1"/>
                </a:solidFill>
                <a:latin typeface="Meiryo UI" panose="020B0604030504040204" pitchFamily="34" charset="-128"/>
                <a:ea typeface="Meiryo UI" panose="020B0604030504040204" pitchFamily="34" charset="-128"/>
                <a:cs typeface="Meiryo UI" panose="020B0604030504040204" pitchFamily="34" charset="-128"/>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bg1"/>
                </a:solidFill>
                <a:latin typeface="黑体" panose="02010609060101010101" pitchFamily="49" charset="-122"/>
                <a:ea typeface="黑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dobe 黑体 Std R" panose="020B0400000000000000" pitchFamily="34" charset="-122"/>
                <a:ea typeface="Adobe 黑体 Std R" panose="020B04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黑体" panose="02010609060101010101" pitchFamily="49" charset="-122"/>
                <a:ea typeface="黑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华文细黑" panose="02010600040101010101" pitchFamily="2" charset="-122"/>
                <a:ea typeface="华文细黑"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lvl="0">
              <a:lnSpc>
                <a:spcPct val="150000"/>
              </a:lnSpc>
              <a:spcBef>
                <a:spcPts val="0"/>
              </a:spcBef>
            </a:pPr>
            <a:r>
              <a:rPr lang="zh-CN" altLang="en-US" sz="1400" b="1" dirty="0">
                <a:solidFill>
                  <a:prstClr val="white"/>
                </a:solidFill>
                <a:latin typeface="Microsoft YaHei" panose="020B0503020204020204" pitchFamily="34" charset="-122"/>
                <a:ea typeface="Microsoft YaHei" panose="020B0503020204020204" pitchFamily="34" charset="-122"/>
                <a:cs typeface="+mn-cs"/>
              </a:rPr>
              <a:t>刘高峰</a:t>
            </a:r>
            <a:endParaRPr lang="en-US" altLang="zh-CN" sz="1400" b="1" dirty="0">
              <a:solidFill>
                <a:prstClr val="white"/>
              </a:solidFill>
              <a:latin typeface="Microsoft YaHei" panose="020B0503020204020204" pitchFamily="34" charset="-122"/>
              <a:ea typeface="Microsoft YaHei" panose="020B0503020204020204" pitchFamily="34" charset="-122"/>
              <a:cs typeface="+mn-cs"/>
            </a:endParaRPr>
          </a:p>
          <a:p>
            <a:pPr lvl="0">
              <a:lnSpc>
                <a:spcPct val="150000"/>
              </a:lnSpc>
              <a:spcBef>
                <a:spcPts val="0"/>
              </a:spcBef>
            </a:pPr>
            <a:r>
              <a:rPr lang="zh-CN" altLang="en-US" sz="1400" b="1" dirty="0">
                <a:solidFill>
                  <a:prstClr val="white"/>
                </a:solidFill>
                <a:latin typeface="Microsoft YaHei" panose="020B0503020204020204" pitchFamily="34" charset="-122"/>
                <a:ea typeface="Microsoft YaHei" panose="020B0503020204020204" pitchFamily="34" charset="-122"/>
                <a:cs typeface="+mn-cs"/>
              </a:rPr>
              <a:t>导师：曾文</a:t>
            </a:r>
            <a:endParaRPr lang="en-US" altLang="zh-CN" sz="1400" b="1" dirty="0">
              <a:solidFill>
                <a:prstClr val="white"/>
              </a:solidFill>
              <a:latin typeface="Microsoft YaHei" panose="020B0503020204020204" pitchFamily="34" charset="-122"/>
              <a:ea typeface="Microsoft YaHei" panose="020B0503020204020204" pitchFamily="34" charset="-122"/>
              <a:cs typeface="+mn-cs"/>
            </a:endParaRPr>
          </a:p>
          <a:p>
            <a:pPr lvl="0">
              <a:lnSpc>
                <a:spcPct val="150000"/>
              </a:lnSpc>
              <a:spcBef>
                <a:spcPts val="0"/>
              </a:spcBef>
            </a:pPr>
            <a:r>
              <a:rPr lang="en-US" altLang="zh-CN" sz="1400" dirty="0" err="1">
                <a:solidFill>
                  <a:prstClr val="white"/>
                </a:solidFill>
                <a:latin typeface="Microsoft YaHei" panose="020B0503020204020204" pitchFamily="34" charset="-122"/>
                <a:ea typeface="Microsoft YaHei" panose="020B0503020204020204" pitchFamily="34" charset="-122"/>
                <a:cs typeface="+mn-cs"/>
              </a:rPr>
              <a:t>中国地质大学（武汉</a:t>
            </a:r>
            <a:r>
              <a:rPr lang="en-US" altLang="zh-CN" sz="1400" dirty="0">
                <a:solidFill>
                  <a:prstClr val="white"/>
                </a:solidFill>
                <a:latin typeface="Microsoft YaHei" panose="020B0503020204020204" pitchFamily="34" charset="-122"/>
                <a:ea typeface="Microsoft YaHei" panose="020B0503020204020204" pitchFamily="34" charset="-122"/>
                <a:cs typeface="+mn-cs"/>
              </a:rPr>
              <a:t>）</a:t>
            </a:r>
          </a:p>
          <a:p>
            <a:pPr lvl="0">
              <a:lnSpc>
                <a:spcPct val="150000"/>
              </a:lnSpc>
              <a:spcBef>
                <a:spcPts val="0"/>
              </a:spcBef>
            </a:pPr>
            <a:r>
              <a:rPr lang="zh-CN" altLang="en-US" sz="1400" dirty="0">
                <a:solidFill>
                  <a:prstClr val="white"/>
                </a:solidFill>
                <a:latin typeface="Microsoft YaHei" panose="020B0503020204020204" pitchFamily="34" charset="-122"/>
                <a:ea typeface="Microsoft YaHei" panose="020B0503020204020204" pitchFamily="34" charset="-122"/>
                <a:cs typeface="+mn-cs"/>
              </a:rPr>
              <a:t>地理与信息工程学院</a:t>
            </a:r>
            <a:endParaRPr lang="en-US" altLang="zh-CN" sz="1400" dirty="0">
              <a:solidFill>
                <a:prstClr val="white"/>
              </a:solidFill>
              <a:latin typeface="Microsoft YaHei" panose="020B0503020204020204" pitchFamily="34" charset="-122"/>
              <a:ea typeface="Microsoft YaHei" panose="020B0503020204020204" pitchFamily="34" charset="-122"/>
              <a:cs typeface="+mn-cs"/>
            </a:endParaRPr>
          </a:p>
          <a:p>
            <a:pPr lvl="0">
              <a:lnSpc>
                <a:spcPct val="150000"/>
              </a:lnSpc>
              <a:spcBef>
                <a:spcPts val="0"/>
              </a:spcBef>
            </a:pPr>
            <a:r>
              <a:rPr lang="en-US" altLang="zh-CN" sz="1400" dirty="0" err="1">
                <a:solidFill>
                  <a:prstClr val="white"/>
                </a:solidFill>
                <a:latin typeface="Microsoft YaHei" panose="020B0503020204020204" pitchFamily="34" charset="-122"/>
                <a:ea typeface="Microsoft YaHei" panose="020B0503020204020204" pitchFamily="34" charset="-122"/>
                <a:cs typeface="+mn-cs"/>
              </a:rPr>
              <a:t>高性能空间计算智能实验室（HPSCIL</a:t>
            </a:r>
            <a:r>
              <a:rPr lang="en-US" altLang="zh-CN" sz="1400" dirty="0">
                <a:solidFill>
                  <a:prstClr val="white"/>
                </a:solidFill>
                <a:latin typeface="Microsoft YaHei" panose="020B0503020204020204" pitchFamily="34" charset="-122"/>
                <a:ea typeface="Microsoft YaHei" panose="020B0503020204020204" pitchFamily="34" charset="-122"/>
                <a:cs typeface="+mn-cs"/>
              </a:rPr>
              <a:t>）</a:t>
            </a:r>
          </a:p>
        </p:txBody>
      </p:sp>
    </p:spTree>
    <p:extLst>
      <p:ext uri="{BB962C8B-B14F-4D97-AF65-F5344CB8AC3E}">
        <p14:creationId xmlns:p14="http://schemas.microsoft.com/office/powerpoint/2010/main" val="268049801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cmpd="sng">
          <a:solidFill>
            <a:schemeClr val="tx1"/>
          </a:solidFill>
        </a:ln>
      </a:spPr>
      <a:bodyPr wrap="square" rtlCol="0">
        <a:spAutoFit/>
      </a:bodyPr>
      <a:lstStyle>
        <a:defPPr algn="l">
          <a:defRPr dirty="0"/>
        </a:defPPr>
      </a:lstStyle>
    </a:tx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20414</TotalTime>
  <Words>1589</Words>
  <Application>Microsoft Office PowerPoint</Application>
  <PresentationFormat>宽屏</PresentationFormat>
  <Paragraphs>159</Paragraphs>
  <Slides>12</Slides>
  <Notes>12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12</vt:i4>
      </vt:variant>
    </vt:vector>
  </HeadingPairs>
  <TitlesOfParts>
    <vt:vector size="22" baseType="lpstr">
      <vt:lpstr>等线</vt:lpstr>
      <vt:lpstr>等线 Light</vt:lpstr>
      <vt:lpstr>华文中宋</vt:lpstr>
      <vt:lpstr>宋体</vt:lpstr>
      <vt:lpstr>微软雅黑</vt:lpstr>
      <vt:lpstr>微软雅黑</vt:lpstr>
      <vt:lpstr>微软雅黑 Light</vt:lpstr>
      <vt:lpstr>Arial</vt:lpstr>
      <vt:lpstr>Calibri</vt:lpstr>
      <vt:lpstr>Office 主题​​</vt:lpstr>
      <vt:lpstr>基于多视角图像拼接和激光点云的目标检测与定位研究方法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主题一主题一主题一主题一主题一主题一主题一主题一</dc:title>
  <dc:creator>Gao Huan</dc:creator>
  <cp:lastModifiedBy>LGF</cp:lastModifiedBy>
  <cp:revision>1201</cp:revision>
  <dcterms:created xsi:type="dcterms:W3CDTF">2018-11-14T20:24:13Z</dcterms:created>
  <dcterms:modified xsi:type="dcterms:W3CDTF">2025-09-23T07:24:22Z</dcterms:modified>
</cp:coreProperties>
</file>