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8" r:id="rId2"/>
    <p:sldId id="257" r:id="rId3"/>
    <p:sldId id="341" r:id="rId4"/>
    <p:sldId id="491" r:id="rId5"/>
    <p:sldId id="519" r:id="rId6"/>
    <p:sldId id="520" r:id="rId7"/>
    <p:sldId id="522" r:id="rId8"/>
    <p:sldId id="521" r:id="rId9"/>
    <p:sldId id="523" r:id="rId10"/>
    <p:sldId id="346" r:id="rId11"/>
    <p:sldId id="30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434E"/>
    <a:srgbClr val="3A5925"/>
    <a:srgbClr val="43672B"/>
    <a:srgbClr val="945358"/>
    <a:srgbClr val="5A5A5A"/>
    <a:srgbClr val="203864"/>
    <a:srgbClr val="324C20"/>
    <a:srgbClr val="355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86776" autoAdjust="0"/>
  </p:normalViewPr>
  <p:slideViewPr>
    <p:cSldViewPr snapToGrid="0">
      <p:cViewPr varScale="1">
        <p:scale>
          <a:sx n="108" d="100"/>
          <a:sy n="108" d="100"/>
        </p:scale>
        <p:origin x="63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2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92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93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3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93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64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汇报从以下几个部分展开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01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50612-31BB-3FAF-1CD9-40156286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7A56C2-4C5F-8FC5-8874-E4F0D91D7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D5A951-D0B7-4B2A-4E54-8B1F8E8DA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图像拼接最关键的两个步骤是配准和融合。</a:t>
            </a:r>
            <a:r>
              <a:rPr lang="zh-CN" altLang="en-US" b="1" dirty="0"/>
              <a:t>配准</a:t>
            </a:r>
            <a:r>
              <a:rPr lang="zh-CN" altLang="en-US" dirty="0"/>
              <a:t>的目标是将多幅图像按照几何关系对齐，使它们在同一个坐标系统中具有一致的空间布局。而</a:t>
            </a:r>
            <a:r>
              <a:rPr lang="zh-CN" altLang="en-US" b="1" dirty="0"/>
              <a:t>融合</a:t>
            </a:r>
            <a:r>
              <a:rPr lang="zh-CN" altLang="en-US" dirty="0"/>
              <a:t>是在图像配准完成后的基础上，将多个图像的重叠区域进行平滑过渡，从而形成无明显接缝的最终图像。</a:t>
            </a:r>
            <a:endParaRPr lang="en-US" altLang="zh-CN" dirty="0"/>
          </a:p>
          <a:p>
            <a:r>
              <a:rPr lang="zh-CN" altLang="en-US" dirty="0"/>
              <a:t>常见的配准方法包括</a:t>
            </a:r>
            <a:r>
              <a:rPr lang="en-US" altLang="zh-CN" dirty="0"/>
              <a:t>1.</a:t>
            </a:r>
            <a:r>
              <a:rPr lang="zh-CN" altLang="en-US" dirty="0"/>
              <a:t>基于特征点的配准（如 </a:t>
            </a:r>
            <a:r>
              <a:rPr lang="en-US" altLang="zh-CN" dirty="0"/>
              <a:t>SIFT</a:t>
            </a:r>
            <a:r>
              <a:rPr lang="zh-CN" altLang="en-US" dirty="0"/>
              <a:t>、</a:t>
            </a:r>
            <a:r>
              <a:rPr lang="en-US" altLang="zh-CN" dirty="0"/>
              <a:t>SURF</a:t>
            </a:r>
            <a:r>
              <a:rPr lang="zh-CN" altLang="en-US" dirty="0"/>
              <a:t>、</a:t>
            </a:r>
            <a:r>
              <a:rPr lang="en-US" altLang="zh-CN" dirty="0"/>
              <a:t>ORB</a:t>
            </a:r>
            <a:r>
              <a:rPr lang="zh-CN" altLang="en-US" dirty="0"/>
              <a:t>）、这种方法的优点是通用性较强</a:t>
            </a:r>
            <a:r>
              <a:rPr lang="en-US" altLang="zh-CN" dirty="0"/>
              <a:t>,</a:t>
            </a:r>
            <a:r>
              <a:rPr lang="zh-CN" altLang="en-US" dirty="0"/>
              <a:t>可以处理不同类型的图  像 </a:t>
            </a:r>
            <a:r>
              <a:rPr lang="en-US" altLang="zh-CN" dirty="0"/>
              <a:t>;</a:t>
            </a:r>
            <a:r>
              <a:rPr lang="zh-CN" altLang="en-US" dirty="0"/>
              <a:t>缺点是计算量较大</a:t>
            </a:r>
            <a:r>
              <a:rPr lang="en-US" altLang="zh-CN" dirty="0"/>
              <a:t>,</a:t>
            </a:r>
            <a:r>
              <a:rPr lang="zh-CN" altLang="en-US" dirty="0"/>
              <a:t>容易受到噪声、光照、遮挡等。</a:t>
            </a:r>
            <a:r>
              <a:rPr lang="en-US" altLang="zh-CN" dirty="0"/>
              <a:t>2</a:t>
            </a:r>
            <a:r>
              <a:rPr lang="zh-CN" altLang="en-US" dirty="0"/>
              <a:t>是基于相机标定参数的拼接方法</a:t>
            </a:r>
            <a:r>
              <a:rPr lang="en-US" altLang="zh-CN" dirty="0"/>
              <a:t>,</a:t>
            </a:r>
            <a:r>
              <a:rPr lang="zh-CN" altLang="en-US" dirty="0"/>
              <a:t>即通过获取  相机的内外参数</a:t>
            </a:r>
            <a:r>
              <a:rPr lang="en-US" altLang="zh-CN" dirty="0"/>
              <a:t>,</a:t>
            </a:r>
            <a:r>
              <a:rPr lang="zh-CN" altLang="en-US" dirty="0"/>
              <a:t>计算图像的几何关系</a:t>
            </a:r>
            <a:r>
              <a:rPr lang="en-US" altLang="zh-CN" dirty="0"/>
              <a:t>,</a:t>
            </a:r>
            <a:r>
              <a:rPr lang="zh-CN" altLang="en-US" dirty="0"/>
              <a:t>从而实现对齐。这种方法的优点是计算量小</a:t>
            </a:r>
            <a:r>
              <a:rPr lang="en-US" altLang="zh-CN" dirty="0"/>
              <a:t>,</a:t>
            </a:r>
            <a:r>
              <a:rPr lang="zh-CN" altLang="en-US" dirty="0"/>
              <a:t>可以实现实时拼 接 </a:t>
            </a:r>
            <a:r>
              <a:rPr lang="en-US" altLang="zh-CN" dirty="0"/>
              <a:t>;</a:t>
            </a:r>
            <a:r>
              <a:rPr lang="zh-CN" altLang="en-US" dirty="0"/>
              <a:t>缺点是需要预先标定相机</a:t>
            </a:r>
            <a:r>
              <a:rPr lang="en-US" altLang="zh-CN" dirty="0"/>
              <a:t>,</a:t>
            </a:r>
            <a:r>
              <a:rPr lang="zh-CN" altLang="en-US" dirty="0"/>
              <a:t>且使用过程中不能发生 相对移动</a:t>
            </a:r>
            <a:r>
              <a:rPr lang="en-US" altLang="zh-CN" dirty="0"/>
              <a:t>,</a:t>
            </a:r>
            <a:r>
              <a:rPr lang="zh-CN" altLang="en-US" dirty="0"/>
              <a:t>否则可能会出现拼接缝或失真等问题。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F2396-95CF-00E7-275A-44292AD33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812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6AC6-14E0-FD67-33BC-30B8277D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C9D6A3-35D0-9344-FB48-DC8D234774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7DB88-D35E-62D4-F4A3-6458B1233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033964-B8FC-4BB5-14AE-CA905B5AA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986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9B41-1B93-D713-B1DE-41308F17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989910-E797-C91F-3C99-88C38B0A4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B253A6-E391-0F54-4EC2-A9F1F326D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4EFE1-4B20-330B-EE67-2FC6680B1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213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AA01-DD51-041C-55D1-78B1849A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645F5D-92D5-1F17-FFE4-C36151D10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A48FE6E-4A94-20C1-A1BF-5A8B49DBF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42E4FC-00CA-4748-B706-5F640D867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8417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FB07-CE4D-A16C-2112-559AE6FFA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4A17A0-B9B0-A61F-329B-16645C583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8FDB36-F929-940D-C077-DA4892178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D0D47D-B01D-954F-C63A-EB8180642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04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CE687-59A0-B0FC-61D8-A27DD7C7E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862E6C-07CF-7778-3455-F6E42C73E6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7958AB-36A0-2519-508C-6AE643190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4C3F5-FA9F-DBE0-2A85-9F10746A3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B6E48-10D0-446F-A6C8-527914C4620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761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重点想跟老师们讨论关于街景下为什么要先做拼接</a:t>
                </a:r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dirty="0"/>
                  <a:t>受到这种方法的启发，有学者提出了一种面向</a:t>
                </a:r>
                <a:r>
                  <a:rPr lang="en-US" altLang="zh-CN" dirty="0"/>
                  <a:t>WDN</a:t>
                </a:r>
                <a:r>
                  <a:rPr lang="zh-CN" altLang="en-US" dirty="0"/>
                  <a:t>的模块化方法，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所提出的方法考虑了供水系统的水力特性，以定义面向供水网络的模块化。尽管是为供水网络量身定制的，但面向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WDN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的模块化有其固有的局限性，所提出的模块化指数可能无法检测出小社区，如果社区的总边数小于</a:t>
                </a:r>
                <a:r>
                  <a:rPr lang="en-US" altLang="zh-CN" sz="1200" i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√2 𝑚</a:t>
                </a:r>
                <a:r>
                  <a:rPr lang="zh-CN" altLang="en-US" sz="1200" i="0" dirty="0">
                    <a:latin typeface="Cambria Math" panose="020405030504060302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12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是网络中边的总数，则该社区无法被检测</a:t>
                </a: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r>
                  <a:rPr lang="en-US" altLang="zh-CN" sz="1200" i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(|𝐴_𝑝𝑛^𝑇 | 𝑢_𝑝 )_𝑖</a:t>
                </a:r>
                <a:r>
                  <a:rPr lang="zh-CN" altLang="en-US" dirty="0"/>
                  <a:t>是每个节点中发生事件的管道数量  </a:t>
                </a:r>
                <a:r>
                  <a:rPr lang="en-US" altLang="zh-CN" sz="1200" i="0">
                    <a:latin typeface="Cambria Math" panose="02040503050406030204" pitchFamily="18" charset="0"/>
                    <a:ea typeface="微软雅黑" panose="020B0503020204020204" pitchFamily="34" charset="-122"/>
                  </a:rPr>
                  <a:t>𝑀_𝑚</a:t>
                </a:r>
                <a:r>
                  <a:rPr lang="zh-CN" altLang="en-US" dirty="0"/>
                  <a:t>表示管道所在的模块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21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以上就是本周的汇报内容，恳请各位老师、师兄师姐和同门批评指正。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1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5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0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0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90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0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08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09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0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911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12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1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15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17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1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91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8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88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8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60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0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92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92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92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92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2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893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48894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89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9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8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9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90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9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6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8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8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88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8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BE89-CD5A-4DF5-92E2-05840E334FAA}" type="datetimeFigureOut">
              <a:rPr lang="zh-CN" altLang="en-US" smtClean="0"/>
              <a:t>2025/7/15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6C6D9-0EAC-4A43-A0E6-1F06783EE0A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标题 1"/>
          <p:cNvSpPr>
            <a:spLocks noGrp="1"/>
          </p:cNvSpPr>
          <p:nvPr>
            <p:ph type="ctrTitle"/>
          </p:nvPr>
        </p:nvSpPr>
        <p:spPr>
          <a:xfrm>
            <a:off x="1755627" y="1734739"/>
            <a:ext cx="8680739" cy="1647322"/>
          </a:xfrm>
        </p:spPr>
        <p:txBody>
          <a:bodyPr>
            <a:normAutofit/>
          </a:bodyPr>
          <a:lstStyle/>
          <a:p>
            <a:r>
              <a:rPr lang="zh-CN" altLang="en-US" sz="4000" noProof="1">
                <a:solidFill>
                  <a:schemeClr val="bg1"/>
                </a:solidFill>
              </a:rPr>
              <a:t>基于多视角图像拼接和激光点云的目标检测与定位研究方法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36" name="内容占位符 2"/>
          <p:cNvSpPr txBox="1"/>
          <p:nvPr/>
        </p:nvSpPr>
        <p:spPr>
          <a:xfrm>
            <a:off x="1755627" y="486294"/>
            <a:ext cx="6620793" cy="57841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2025/7/15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938" name="内容占位符 3"/>
          <p:cNvSpPr txBox="1"/>
          <p:nvPr/>
        </p:nvSpPr>
        <p:spPr>
          <a:xfrm>
            <a:off x="3510967" y="3847467"/>
            <a:ext cx="5170067" cy="17635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b="1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</a:t>
            </a:r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：刘高峰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1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导师：曾文</a:t>
            </a:r>
            <a:endParaRPr lang="en-US" altLang="zh-CN" sz="1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中国地质大学（武汉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r>
              <a:rPr lang="zh-CN" altLang="en-US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地理与信息工程学院</a:t>
            </a:r>
            <a:endParaRPr lang="en-US" altLang="zh-CN" sz="1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1400" dirty="0" err="1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高性能空间计算智能实验室（HPSCIL</a:t>
            </a:r>
            <a:r>
              <a:rPr lang="en-US" altLang="zh-CN" sz="1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cxnSp>
        <p:nvCxnSpPr>
          <p:cNvPr id="3145768" name="直接连接符 6"/>
          <p:cNvCxnSpPr>
            <a:cxnSpLocks/>
          </p:cNvCxnSpPr>
          <p:nvPr/>
        </p:nvCxnSpPr>
        <p:spPr>
          <a:xfrm>
            <a:off x="823527" y="3710152"/>
            <a:ext cx="1062000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组合 11"/>
          <p:cNvGrpSpPr/>
          <p:nvPr/>
        </p:nvGrpSpPr>
        <p:grpSpPr>
          <a:xfrm>
            <a:off x="623964" y="217522"/>
            <a:ext cx="11445869" cy="6422955"/>
            <a:chOff x="364884" y="179406"/>
            <a:chExt cx="11445869" cy="6422955"/>
          </a:xfrm>
        </p:grpSpPr>
        <p:pic>
          <p:nvPicPr>
            <p:cNvPr id="2097208" name="图片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884" y="179406"/>
              <a:ext cx="1192193" cy="1192193"/>
            </a:xfrm>
            <a:prstGeom prst="rect">
              <a:avLst/>
            </a:prstGeom>
          </p:spPr>
        </p:pic>
        <p:sp>
          <p:nvSpPr>
            <p:cNvPr id="1048940" name="TextBox 1"/>
            <p:cNvSpPr txBox="1"/>
            <p:nvPr/>
          </p:nvSpPr>
          <p:spPr>
            <a:xfrm>
              <a:off x="3253043" y="6259766"/>
              <a:ext cx="56859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High-</a:t>
              </a:r>
              <a:r>
                <a:rPr lang="en-AU" sz="1400" dirty="0" err="1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performanceSpatialComputationalIntelligenceLab</a:t>
              </a:r>
              <a:r>
                <a:rPr lang="en-US" altLang="zh-CN" sz="1400" dirty="0">
                  <a:solidFill>
                    <a:schemeClr val="bg1">
                      <a:lumMod val="75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@CUG</a:t>
              </a:r>
              <a:endPara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pic>
          <p:nvPicPr>
            <p:cNvPr id="2097210" name="图片 10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75917" y="5858179"/>
              <a:ext cx="1134836" cy="74418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Freeform 6"/>
          <p:cNvSpPr/>
          <p:nvPr/>
        </p:nvSpPr>
        <p:spPr bwMode="auto">
          <a:xfrm>
            <a:off x="335" y="5555848"/>
            <a:ext cx="12191331" cy="1301962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596" name="Freeform 7"/>
          <p:cNvSpPr/>
          <p:nvPr/>
        </p:nvSpPr>
        <p:spPr bwMode="auto">
          <a:xfrm>
            <a:off x="0" y="5308161"/>
            <a:ext cx="12191331" cy="49537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59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en-US" altLang="zh-CN"/>
              <a:t>1</a:t>
            </a:r>
            <a:endParaRPr lang="zh-CN" altLang="en-US" dirty="0"/>
          </a:p>
        </p:txBody>
      </p:sp>
      <p:sp>
        <p:nvSpPr>
          <p:cNvPr id="1048598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097154" name="图片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599" name="Freeform 6"/>
          <p:cNvSpPr/>
          <p:nvPr/>
        </p:nvSpPr>
        <p:spPr bwMode="auto">
          <a:xfrm>
            <a:off x="335" y="5555848"/>
            <a:ext cx="12191331" cy="1301962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600" name="Freeform 7"/>
          <p:cNvSpPr/>
          <p:nvPr/>
        </p:nvSpPr>
        <p:spPr bwMode="auto">
          <a:xfrm>
            <a:off x="0" y="5308161"/>
            <a:ext cx="12191331" cy="49537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rgbClr val="20386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707"/>
          </a:p>
        </p:txBody>
      </p:sp>
      <p:sp>
        <p:nvSpPr>
          <p:cNvPr id="1048601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97155" name="图片 2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602" name="文本框 24"/>
          <p:cNvSpPr txBox="1"/>
          <p:nvPr/>
        </p:nvSpPr>
        <p:spPr>
          <a:xfrm>
            <a:off x="1510018" y="2359727"/>
            <a:ext cx="30974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rPr>
              <a:t>目录</a:t>
            </a:r>
          </a:p>
        </p:txBody>
      </p:sp>
      <p:sp>
        <p:nvSpPr>
          <p:cNvPr id="1048603" name="矩形 27"/>
          <p:cNvSpPr/>
          <p:nvPr/>
        </p:nvSpPr>
        <p:spPr>
          <a:xfrm>
            <a:off x="5257800" y="1250180"/>
            <a:ext cx="6477000" cy="2472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研究背景</a:t>
            </a:r>
            <a:endParaRPr lang="en-US" altLang="zh-CN" sz="3200" dirty="0">
              <a:solidFill>
                <a:srgbClr val="20386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02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图像拼接方法</a:t>
            </a:r>
            <a:endParaRPr lang="en-US" altLang="zh-CN" sz="3200" dirty="0">
              <a:solidFill>
                <a:srgbClr val="20386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indent="-2286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03</a:t>
            </a:r>
            <a:r>
              <a:rPr lang="zh-CN" altLang="en-US" sz="3200" dirty="0">
                <a:solidFill>
                  <a:srgbClr val="20386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总结及后续计划</a:t>
            </a:r>
            <a:r>
              <a:rPr lang="en-US" altLang="zh-CN" sz="32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32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 txBox="1"/>
          <p:nvPr/>
        </p:nvSpPr>
        <p:spPr>
          <a:xfrm>
            <a:off x="2150630" y="296863"/>
            <a:ext cx="3801595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+mj-lt"/>
                <a:ea typeface="华文中宋" panose="02010600040101010101" pitchFamily="2" charset="-122"/>
              </a:rPr>
              <a:t>研究背景</a:t>
            </a:r>
          </a:p>
        </p:txBody>
      </p:sp>
      <p:sp>
        <p:nvSpPr>
          <p:cNvPr id="1048679" name="等腰三角形 3"/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209716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/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28F51-6063-40BC-906F-D6FBF0AE26B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13" name="文本占位符 2"/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01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852E36-D523-A6AC-34F5-2AE6977A9BF2}"/>
              </a:ext>
            </a:extLst>
          </p:cNvPr>
          <p:cNvSpPr txBox="1"/>
          <p:nvPr/>
        </p:nvSpPr>
        <p:spPr>
          <a:xfrm>
            <a:off x="459276" y="1259841"/>
            <a:ext cx="60024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1F1646-E9C8-3C01-C805-072DB0FFDC05}"/>
              </a:ext>
            </a:extLst>
          </p:cNvPr>
          <p:cNvSpPr txBox="1"/>
          <p:nvPr/>
        </p:nvSpPr>
        <p:spPr>
          <a:xfrm>
            <a:off x="315310" y="1387366"/>
            <a:ext cx="73152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>
              <a:lnSpc>
                <a:spcPct val="150000"/>
              </a:lnSpc>
            </a:pPr>
            <a:r>
              <a:rPr lang="en-US" altLang="zh-CN" sz="1200" baseline="30000" dirty="0">
                <a:solidFill>
                  <a:srgbClr val="FF0000"/>
                </a:solidFill>
              </a:rPr>
              <a:t>[1]</a:t>
            </a:r>
            <a:r>
              <a:rPr lang="zh-CN" altLang="zh-CN" dirty="0">
                <a:solidFill>
                  <a:srgbClr val="FF0000"/>
                </a:solidFill>
              </a:rPr>
              <a:t>随着城市基础设施的不断发展，地下管线已广泛分布于城市各区域，形成庞大而复杂的</a:t>
            </a:r>
            <a:r>
              <a:rPr lang="en-US" altLang="zh-CN" dirty="0">
                <a:solidFill>
                  <a:srgbClr val="FF0000"/>
                </a:solidFill>
              </a:rPr>
              <a:t>“</a:t>
            </a:r>
            <a:r>
              <a:rPr lang="zh-CN" altLang="zh-CN" dirty="0">
                <a:solidFill>
                  <a:srgbClr val="FF0000"/>
                </a:solidFill>
              </a:rPr>
              <a:t>城市生命线系统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zh-CN" dirty="0">
                <a:solidFill>
                  <a:srgbClr val="FF0000"/>
                </a:solidFill>
              </a:rPr>
              <a:t>。然而</a:t>
            </a:r>
            <a:r>
              <a:rPr lang="zh-CN" altLang="zh-CN" dirty="0"/>
              <a:t>，由于地下管线隐蔽性强，</a:t>
            </a:r>
            <a:r>
              <a:rPr lang="zh-CN" altLang="zh-CN" dirty="0">
                <a:solidFill>
                  <a:srgbClr val="FF0000"/>
                </a:solidFill>
              </a:rPr>
              <a:t>近年来误挖、误碰地下管网的事件频发</a:t>
            </a:r>
            <a:r>
              <a:rPr lang="zh-CN" altLang="zh-CN" dirty="0"/>
              <a:t>。</a:t>
            </a:r>
            <a:endParaRPr lang="en-US" altLang="zh-CN" dirty="0"/>
          </a:p>
          <a:p>
            <a:pPr indent="720000">
              <a:lnSpc>
                <a:spcPct val="150000"/>
              </a:lnSpc>
            </a:pPr>
            <a:r>
              <a:rPr lang="zh-CN" altLang="zh-CN" dirty="0"/>
              <a:t>传统的地下管线保护方式依然主要依赖人工巡检、图纸查询和被动响应</a:t>
            </a:r>
            <a:r>
              <a:rPr lang="zh-CN" altLang="en-US" dirty="0"/>
              <a:t>等方式</a:t>
            </a:r>
            <a:r>
              <a:rPr lang="zh-CN" altLang="zh-CN" dirty="0"/>
              <a:t>，</a:t>
            </a:r>
            <a:r>
              <a:rPr lang="en-US" altLang="zh-CN" sz="1200" baseline="30000" dirty="0"/>
              <a:t>[2]</a:t>
            </a:r>
            <a:r>
              <a:rPr lang="zh-CN" altLang="en-US" dirty="0">
                <a:solidFill>
                  <a:srgbClr val="FF0000"/>
                </a:solidFill>
              </a:rPr>
              <a:t>由于</a:t>
            </a:r>
            <a:r>
              <a:rPr lang="zh-CN" altLang="zh-CN" dirty="0">
                <a:solidFill>
                  <a:srgbClr val="FF0000"/>
                </a:solidFill>
              </a:rPr>
              <a:t>施工单位</a:t>
            </a:r>
            <a:r>
              <a:rPr lang="zh-CN" altLang="en-US" dirty="0">
                <a:solidFill>
                  <a:srgbClr val="FF0000"/>
                </a:solidFill>
              </a:rPr>
              <a:t>存在侥幸心理</a:t>
            </a:r>
            <a:r>
              <a:rPr lang="zh-CN" altLang="zh-CN" dirty="0">
                <a:solidFill>
                  <a:srgbClr val="FF0000"/>
                </a:solidFill>
              </a:rPr>
              <a:t>或监管资源有限</a:t>
            </a:r>
            <a:r>
              <a:rPr lang="zh-CN" altLang="zh-CN" dirty="0"/>
              <a:t>，现有手段在作业发现、响应效率和精度上存在明显短板，</a:t>
            </a:r>
            <a:r>
              <a:rPr lang="zh-CN" altLang="zh-CN" dirty="0">
                <a:solidFill>
                  <a:srgbClr val="FF0000"/>
                </a:solidFill>
              </a:rPr>
              <a:t>难以满足现代城市建设中对实时感知与风险预警的需求。</a:t>
            </a:r>
            <a:endParaRPr lang="en-US" altLang="zh-CN" dirty="0">
              <a:solidFill>
                <a:srgbClr val="FF0000"/>
              </a:solidFill>
            </a:endParaRPr>
          </a:p>
          <a:p>
            <a:pPr indent="720000">
              <a:lnSpc>
                <a:spcPct val="150000"/>
              </a:lnSpc>
            </a:pPr>
            <a:r>
              <a:rPr lang="en-US" altLang="zh-CN" sz="1200" baseline="30000" dirty="0"/>
              <a:t>[3]</a:t>
            </a:r>
            <a:r>
              <a:rPr lang="zh-CN" altLang="zh-CN" dirty="0">
                <a:solidFill>
                  <a:srgbClr val="FF0000"/>
                </a:solidFill>
              </a:rPr>
              <a:t>在此背景下</a:t>
            </a:r>
            <a:r>
              <a:rPr lang="zh-CN" altLang="zh-CN" dirty="0"/>
              <a:t>，本研究面向泛化场景下的管线保护需求，提出一种基于多视角拼接</a:t>
            </a:r>
            <a:r>
              <a:rPr lang="en-US" altLang="zh-CN" dirty="0"/>
              <a:t>,</a:t>
            </a:r>
            <a:r>
              <a:rPr lang="zh-CN" altLang="zh-CN" dirty="0"/>
              <a:t>目标检测</a:t>
            </a:r>
            <a:r>
              <a:rPr lang="en-US" altLang="zh-CN" dirty="0"/>
              <a:t>,</a:t>
            </a:r>
            <a:r>
              <a:rPr lang="zh-CN" altLang="zh-CN" dirty="0"/>
              <a:t>空间定位的综合方法，用于自动监测挖掘设备是否靠近地下管线保护区，并实现实时风险预警。提升了地下管线巡检与保护的自动化与智能化水平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CFD3C7-3412-4E8F-7C00-063FF2080A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792" y="2657454"/>
            <a:ext cx="3638550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E1EB-78C9-A573-7BDC-30883D8A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04DE3D7F-4C02-1FC6-443C-E1662296E742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7427DE9E-5DD1-A9E0-C67B-7933051D35D8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C338B8F9-BB8E-913E-36F2-9E7269F833D8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D0BCFFE7-C328-3D0B-3B8A-0AC4B082DED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ED3FA39D-6926-625C-34FE-53EB362CB48C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DD00FFC-2CC0-41B9-C3E9-7264E0D4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5" y="6388958"/>
            <a:ext cx="2743200" cy="365125"/>
          </a:xfrm>
        </p:spPr>
        <p:txBody>
          <a:bodyPr/>
          <a:lstStyle/>
          <a:p>
            <a:fld id="{4C728F51-6063-40BC-906F-D6FBF0AE26BF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4A9E14-D080-3C0B-B409-4354A5AD8B9F}"/>
              </a:ext>
            </a:extLst>
          </p:cNvPr>
          <p:cNvSpPr txBox="1"/>
          <p:nvPr/>
        </p:nvSpPr>
        <p:spPr>
          <a:xfrm>
            <a:off x="609600" y="1356361"/>
            <a:ext cx="10469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/>
              <a:t>图像拼接最关键的两个步骤是配准和融合。</a:t>
            </a:r>
            <a:r>
              <a:rPr lang="zh-CN" altLang="en-US" b="1" dirty="0"/>
              <a:t>配准</a:t>
            </a:r>
            <a:r>
              <a:rPr lang="zh-CN" altLang="en-US" dirty="0"/>
              <a:t>的目标是将多幅图像按照几何关系对齐，使它们在同一个坐标系统中具有一致的空间布局。而</a:t>
            </a:r>
            <a:r>
              <a:rPr lang="zh-CN" altLang="en-US" b="1" dirty="0"/>
              <a:t>融合</a:t>
            </a:r>
            <a:r>
              <a:rPr lang="zh-CN" altLang="en-US" dirty="0"/>
              <a:t>是在图像配准完成后的基础上，将多个图像的重叠区域进行平滑过渡，从而形成无明显接缝的最终图像</a:t>
            </a:r>
            <a:endParaRPr lang="en-US" altLang="zh-CN" dirty="0"/>
          </a:p>
          <a:p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7FCE4F-8BED-BEA7-352D-FDFAEF5D6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15766"/>
              </p:ext>
            </p:extLst>
          </p:nvPr>
        </p:nvGraphicFramePr>
        <p:xfrm>
          <a:off x="716281" y="2556690"/>
          <a:ext cx="5887719" cy="3704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73">
                  <a:extLst>
                    <a:ext uri="{9D8B030D-6E8A-4147-A177-3AD203B41FA5}">
                      <a16:colId xmlns:a16="http://schemas.microsoft.com/office/drawing/2014/main" val="2541008176"/>
                    </a:ext>
                  </a:extLst>
                </a:gridCol>
                <a:gridCol w="1962573">
                  <a:extLst>
                    <a:ext uri="{9D8B030D-6E8A-4147-A177-3AD203B41FA5}">
                      <a16:colId xmlns:a16="http://schemas.microsoft.com/office/drawing/2014/main" val="4206811078"/>
                    </a:ext>
                  </a:extLst>
                </a:gridCol>
                <a:gridCol w="1962573">
                  <a:extLst>
                    <a:ext uri="{9D8B030D-6E8A-4147-A177-3AD203B41FA5}">
                      <a16:colId xmlns:a16="http://schemas.microsoft.com/office/drawing/2014/main" val="2948304235"/>
                    </a:ext>
                  </a:extLst>
                </a:gridCol>
              </a:tblGrid>
              <a:tr h="54928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配准方法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优点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缺点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808479"/>
                  </a:ext>
                </a:extLst>
              </a:tr>
              <a:tr h="1216976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基于特征的配准方法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通用性较强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可以处理不同类型的图像 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计算量较大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容易受到噪声、光照、遮挡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155217"/>
                  </a:ext>
                </a:extLst>
              </a:tr>
              <a:tr h="1938149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基于标定参数的配准方法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计算量小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可以实现实时拼接 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1.</a:t>
                      </a:r>
                      <a:r>
                        <a:rPr lang="zh-CN" altLang="en-US" sz="1600" dirty="0"/>
                        <a:t>需要预先标定相机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且使用过程中不能发生 相对移动</a:t>
                      </a:r>
                      <a:r>
                        <a:rPr lang="en-US" altLang="zh-CN" sz="1600" dirty="0"/>
                        <a:t>,</a:t>
                      </a:r>
                      <a:r>
                        <a:rPr lang="zh-CN" altLang="en-US" sz="1600" dirty="0"/>
                        <a:t>否则可能会出现拼接缝或失真等问题</a:t>
                      </a:r>
                      <a:br>
                        <a:rPr lang="en-US" altLang="zh-CN" sz="1600" dirty="0"/>
                      </a:br>
                      <a:r>
                        <a:rPr lang="en-US" altLang="zh-CN" sz="1600" dirty="0"/>
                        <a:t>2.</a:t>
                      </a:r>
                      <a:r>
                        <a:rPr lang="zh-CN" altLang="en-US" sz="1600" dirty="0"/>
                        <a:t>在多平面场景下效果不好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556657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9FB4E85C-CD00-C4F9-42EF-35599BECD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378" y="2641712"/>
            <a:ext cx="5041994" cy="15745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CC932D-7273-4D39-002C-8081F6CFA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6000" y="3767951"/>
            <a:ext cx="1447619" cy="32381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2DE3184-67B4-2C8C-4F6D-FCE48457FB79}"/>
              </a:ext>
            </a:extLst>
          </p:cNvPr>
          <p:cNvSpPr txBox="1"/>
          <p:nvPr/>
        </p:nvSpPr>
        <p:spPr>
          <a:xfrm>
            <a:off x="7189615" y="4298473"/>
            <a:ext cx="4287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基于特征的配准方法流程图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E9DEBB-8C2A-8D91-2DDA-4676D96ACA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7147" y="3991761"/>
            <a:ext cx="1057143" cy="20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7A1838C-31B2-8056-17A9-321293356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0681" y="4879727"/>
            <a:ext cx="5288590" cy="9947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413A0A8-3872-7181-F39F-2B4592246389}"/>
              </a:ext>
            </a:extLst>
          </p:cNvPr>
          <p:cNvSpPr txBox="1"/>
          <p:nvPr/>
        </p:nvSpPr>
        <p:spPr>
          <a:xfrm>
            <a:off x="6799377" y="5967697"/>
            <a:ext cx="50549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基于标定参数的配准方法</a:t>
            </a:r>
          </a:p>
        </p:txBody>
      </p:sp>
    </p:spTree>
    <p:extLst>
      <p:ext uri="{BB962C8B-B14F-4D97-AF65-F5344CB8AC3E}">
        <p14:creationId xmlns:p14="http://schemas.microsoft.com/office/powerpoint/2010/main" val="3680020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DAD8-2196-0B5A-1C17-377197447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A3FEEC96-DD75-238A-950C-CFBA57F6A9B9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9E4B9EED-5015-66DC-58C2-AD3CF16D7D61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A609E853-C9A5-41AE-0220-336CD5590A06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B37C096B-488C-2857-A712-5E858476A4C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D620C064-2185-D934-5BB7-6A44A76BD117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074CF6D-C025-F6C0-FCE2-A76042E0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5" y="6388958"/>
            <a:ext cx="2743200" cy="365125"/>
          </a:xfrm>
        </p:spPr>
        <p:txBody>
          <a:bodyPr/>
          <a:lstStyle/>
          <a:p>
            <a:fld id="{4C728F51-6063-40BC-906F-D6FBF0AE26BF}" type="slidenum">
              <a:rPr lang="zh-CN" altLang="en-US" smtClean="0"/>
              <a:t>5</a:t>
            </a:fld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DCFF02-3695-4876-69BD-A247D09AD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561206"/>
              </p:ext>
            </p:extLst>
          </p:nvPr>
        </p:nvGraphicFramePr>
        <p:xfrm>
          <a:off x="1104901" y="2001126"/>
          <a:ext cx="9530269" cy="45600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334">
                  <a:extLst>
                    <a:ext uri="{9D8B030D-6E8A-4147-A177-3AD203B41FA5}">
                      <a16:colId xmlns:a16="http://schemas.microsoft.com/office/drawing/2014/main" val="861625983"/>
                    </a:ext>
                  </a:extLst>
                </a:gridCol>
                <a:gridCol w="2354713">
                  <a:extLst>
                    <a:ext uri="{9D8B030D-6E8A-4147-A177-3AD203B41FA5}">
                      <a16:colId xmlns:a16="http://schemas.microsoft.com/office/drawing/2014/main" val="1345215955"/>
                    </a:ext>
                  </a:extLst>
                </a:gridCol>
                <a:gridCol w="2525611">
                  <a:extLst>
                    <a:ext uri="{9D8B030D-6E8A-4147-A177-3AD203B41FA5}">
                      <a16:colId xmlns:a16="http://schemas.microsoft.com/office/drawing/2014/main" val="2049641626"/>
                    </a:ext>
                  </a:extLst>
                </a:gridCol>
                <a:gridCol w="2525611">
                  <a:extLst>
                    <a:ext uri="{9D8B030D-6E8A-4147-A177-3AD203B41FA5}">
                      <a16:colId xmlns:a16="http://schemas.microsoft.com/office/drawing/2014/main" val="3642180955"/>
                    </a:ext>
                  </a:extLst>
                </a:gridCol>
              </a:tblGrid>
              <a:tr h="36170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融合方法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核心内容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优点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缺点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267394"/>
                  </a:ext>
                </a:extLst>
              </a:tr>
              <a:tr h="166438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线性融合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其核心思想是在重叠区域中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,  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对两幅完成配准后图像的同一位置取像素点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通过计算该像素点到重叠区域边界的距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简单且运算速度极快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需要较高的配准精度，否则会产生十分严重 的模糊和鬼影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175468"/>
                  </a:ext>
                </a:extLst>
              </a:tr>
              <a:tr h="12649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拉普拉斯金字塔融合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经过多次的上下采样得到多分辨率的图像，从而利用图像中的多尺度信息进行融合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融合图像会较为清晰且重影较少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计算量和内存需求大，不适合实时拼接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264897"/>
                  </a:ext>
                </a:extLst>
              </a:tr>
              <a:tr h="12649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最佳缝合线融合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solidFill>
                            <a:schemeClr val="tx1"/>
                          </a:solidFill>
                        </a:rPr>
                        <a:t>在考虑图像的结构信息的情况下，利用动态规划法或图割法寻找代价最小的缝合线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减少缝合痕迹，提高融合自然性，对强遮挡或结构错位有一定鲁棒性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计算复杂度较高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23337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66886C24-D216-D36E-E31B-B688AD23655D}"/>
              </a:ext>
            </a:extLst>
          </p:cNvPr>
          <p:cNvSpPr txBox="1"/>
          <p:nvPr/>
        </p:nvSpPr>
        <p:spPr>
          <a:xfrm>
            <a:off x="787400" y="1155700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dirty="0"/>
              <a:t>图像融合是对图像对齐后的重叠区域进行处理和运算</a:t>
            </a:r>
            <a:r>
              <a:rPr lang="en-US" altLang="zh-CN" dirty="0"/>
              <a:t>,</a:t>
            </a:r>
            <a:r>
              <a:rPr lang="zh-CN" altLang="en-US" dirty="0"/>
              <a:t>能够减少鬼影和拼接痕迹</a:t>
            </a:r>
            <a:r>
              <a:rPr lang="en-US" altLang="zh-CN" dirty="0"/>
              <a:t>,  </a:t>
            </a:r>
            <a:r>
              <a:rPr lang="zh-CN" altLang="en-US" dirty="0"/>
              <a:t>使得拼接图像过渡更自然。</a:t>
            </a:r>
          </a:p>
        </p:txBody>
      </p:sp>
    </p:spTree>
    <p:extLst>
      <p:ext uri="{BB962C8B-B14F-4D97-AF65-F5344CB8AC3E}">
        <p14:creationId xmlns:p14="http://schemas.microsoft.com/office/powerpoint/2010/main" val="1656408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6B89-80F0-9BDE-44B8-E4910A119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80B7F6B8-D737-3B2E-17EC-002E4C9A5A6A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AAAB1881-B012-170B-49C2-0FAC6636BB70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FED73170-40E2-4E10-89C1-A085C0BBD1E8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0EA2DBDA-1F0C-E1D0-503B-BBCF526957D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A10D982E-D436-6A36-01B9-185CFC0E9817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752274D-8873-7AB3-6726-73DF7572C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5" y="6388958"/>
            <a:ext cx="2743200" cy="365125"/>
          </a:xfrm>
        </p:spPr>
        <p:txBody>
          <a:bodyPr/>
          <a:lstStyle/>
          <a:p>
            <a:fld id="{4C728F51-6063-40BC-906F-D6FBF0AE26BF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9A28B6-3C85-0535-5939-48934A04CC0A}"/>
              </a:ext>
            </a:extLst>
          </p:cNvPr>
          <p:cNvSpPr txBox="1"/>
          <p:nvPr/>
        </p:nvSpPr>
        <p:spPr>
          <a:xfrm>
            <a:off x="924180" y="4637350"/>
            <a:ext cx="37394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基于</a:t>
            </a:r>
            <a:r>
              <a:rPr lang="en-US" altLang="zh-CN" sz="1400" dirty="0" err="1"/>
              <a:t>lpc</a:t>
            </a:r>
            <a:r>
              <a:rPr lang="zh-CN" altLang="en-US" sz="1400" dirty="0"/>
              <a:t>的多图像拼接技术路线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D1899A2-1604-365D-E945-4CAF2131F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94" y="1495623"/>
            <a:ext cx="4834950" cy="282784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12D9660-EA19-9F9E-5B59-5A9DFB21FE8C}"/>
              </a:ext>
            </a:extLst>
          </p:cNvPr>
          <p:cNvSpPr txBox="1"/>
          <p:nvPr/>
        </p:nvSpPr>
        <p:spPr>
          <a:xfrm>
            <a:off x="5859262" y="1358283"/>
            <a:ext cx="5317724" cy="4117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600" dirty="0">
                <a:effectLst/>
              </a:rPr>
              <a:t>首先，系统会对输入图像进行特征提取与匹配</a:t>
            </a:r>
            <a:endParaRPr lang="en-US" altLang="zh-CN" sz="1600" dirty="0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effectLst/>
              </a:rPr>
              <a:t>接下来，会根据匹配到的特征点对，以中间图像为基准，分别估计处理中间图像与左图，右图间的单应性矩阵</a:t>
            </a:r>
            <a:r>
              <a:rPr lang="en-US" altLang="zh-CN" sz="1600" dirty="0">
                <a:effectLst/>
              </a:rPr>
              <a:t>,</a:t>
            </a:r>
            <a:r>
              <a:rPr lang="zh-CN" altLang="en-US" sz="1600" dirty="0">
                <a:effectLst/>
              </a:rPr>
              <a:t>为后续图像对齐和变形提供基础</a:t>
            </a:r>
            <a:endParaRPr lang="en-US" altLang="zh-CN" sz="1600" dirty="0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effectLst/>
              </a:rPr>
              <a:t>随后，通过构建能量函数，并</a:t>
            </a:r>
            <a:r>
              <a:rPr lang="zh-CN" altLang="en-US" sz="1600" b="1" dirty="0">
                <a:effectLst/>
              </a:rPr>
              <a:t>使用网格优化变形</a:t>
            </a:r>
            <a:r>
              <a:rPr lang="zh-CN" altLang="en-US" sz="1600" dirty="0">
                <a:effectLst/>
              </a:rPr>
              <a:t>方法对图像</a:t>
            </a:r>
            <a:r>
              <a:rPr lang="zh-CN" altLang="en-US" sz="1600" b="1" dirty="0">
                <a:effectLst/>
              </a:rPr>
              <a:t>进行局部调整</a:t>
            </a:r>
            <a:r>
              <a:rPr lang="zh-CN" altLang="en-US" sz="1600" dirty="0">
                <a:effectLst/>
              </a:rPr>
              <a:t>，以减少拼接缝隙和畸变。然后，根据画布尺寸计算和图像映射关系，将各图像投影到最终的拼接画布上。为了提升拼接质量，引入基于</a:t>
            </a:r>
            <a:r>
              <a:rPr lang="en-US" altLang="zh-CN" sz="1600" dirty="0">
                <a:effectLst/>
              </a:rPr>
              <a:t>MBS</a:t>
            </a:r>
            <a:r>
              <a:rPr lang="zh-CN" altLang="en-US" sz="1600" dirty="0">
                <a:effectLst/>
              </a:rPr>
              <a:t>的显著性图生成与检测，用于指导后续的缝合线优化</a:t>
            </a:r>
            <a:endParaRPr lang="en-US" altLang="zh-CN" sz="1600" dirty="0">
              <a:effectLst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600" dirty="0">
                <a:effectLst/>
              </a:rPr>
              <a:t>最终，通过显著性引导的最佳缝合线融合算法，将多幅图像无缝拼接为一幅完整的全景图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68700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DFE5-BE5B-FFA5-C3E9-51CF185F2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40E649EA-3970-1DE2-7AD9-5BA5C13E8E69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35B02A32-0136-5017-9451-E816197B4E72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C77D0B69-3A72-88B4-AABD-51148B289CA8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BC847CEC-8F4E-FCE1-1DFC-EB0AFEA80F9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9B48635D-C620-5024-18B2-2685D18A17A9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25F64179-4F06-485C-E634-F4D3466014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16957" y="3918132"/>
            <a:ext cx="4199219" cy="2069564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A1E608A-494B-E364-992D-502A35247B8E}"/>
              </a:ext>
            </a:extLst>
          </p:cNvPr>
          <p:cNvSpPr txBox="1"/>
          <p:nvPr/>
        </p:nvSpPr>
        <p:spPr>
          <a:xfrm>
            <a:off x="1209257" y="3275111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</a:t>
            </a:r>
            <a:r>
              <a:rPr lang="zh-CN" altLang="en-US" sz="1400" dirty="0"/>
              <a:t>相机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CC8B6A7-572B-CCC4-5CF6-3B40F4F8C1FA}"/>
              </a:ext>
            </a:extLst>
          </p:cNvPr>
          <p:cNvSpPr txBox="1"/>
          <p:nvPr/>
        </p:nvSpPr>
        <p:spPr>
          <a:xfrm>
            <a:off x="4790604" y="3298827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FN</a:t>
            </a:r>
            <a:r>
              <a:rPr lang="zh-CN" altLang="en-US" sz="1400" dirty="0"/>
              <a:t>相机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3D2671F-DB3B-06B9-9D35-A81306975A56}"/>
              </a:ext>
            </a:extLst>
          </p:cNvPr>
          <p:cNvSpPr txBox="1"/>
          <p:nvPr/>
        </p:nvSpPr>
        <p:spPr>
          <a:xfrm>
            <a:off x="9022235" y="3339443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RR</a:t>
            </a:r>
            <a:r>
              <a:rPr lang="zh-CN" altLang="en-US" sz="1400" dirty="0"/>
              <a:t>相机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ED8D6F-DD4C-32B4-CBBC-C23E6CB4E638}"/>
              </a:ext>
            </a:extLst>
          </p:cNvPr>
          <p:cNvSpPr txBox="1"/>
          <p:nvPr/>
        </p:nvSpPr>
        <p:spPr>
          <a:xfrm>
            <a:off x="3733800" y="6197600"/>
            <a:ext cx="341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APAP</a:t>
            </a:r>
            <a:r>
              <a:rPr lang="zh-CN" altLang="en-US" dirty="0"/>
              <a:t>三视图拼接结果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DB3126-75E8-18CE-815F-996CED53095B}"/>
              </a:ext>
            </a:extLst>
          </p:cNvPr>
          <p:cNvSpPr txBox="1"/>
          <p:nvPr/>
        </p:nvSpPr>
        <p:spPr>
          <a:xfrm>
            <a:off x="9423400" y="4318000"/>
            <a:ext cx="2430972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R:  </a:t>
            </a:r>
            <a:r>
              <a:rPr lang="zh-CN" altLang="en-US" dirty="0"/>
              <a:t>左视角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FN:</a:t>
            </a:r>
            <a:r>
              <a:rPr lang="zh-CN" altLang="en-US" dirty="0"/>
              <a:t>中间视角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RR:</a:t>
            </a:r>
            <a:r>
              <a:rPr lang="zh-CN" altLang="en-US" dirty="0"/>
              <a:t> 右视角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07D927-6C93-2DC3-4317-75CA6C87B9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822" y="1479489"/>
            <a:ext cx="3035280" cy="17073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2ABD11-2F68-BEC0-ED6A-C8E6443A71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204" y="1458984"/>
            <a:ext cx="3114306" cy="17517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68E3CF-9B0B-218D-8A26-D5D6A82A15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18" y="1470561"/>
            <a:ext cx="3035280" cy="170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8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023B-1727-29A1-9829-5F5551D3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5CCFE8B7-2FC6-F459-0FBB-7D14E49A3145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441E043D-107A-2B8F-F03F-31D4DC67C741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F1E041E5-83D6-DA68-6006-D22AFC05F041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E26491D9-773A-6681-5015-6A0C63AE115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E726DF1D-C21F-E47D-B009-359E36F9AF21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76F9D67D-4C35-2E6A-98EC-C5F423AF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5" y="6388958"/>
            <a:ext cx="2743200" cy="365125"/>
          </a:xfrm>
        </p:spPr>
        <p:txBody>
          <a:bodyPr/>
          <a:lstStyle/>
          <a:p>
            <a:fld id="{4C728F51-6063-40BC-906F-D6FBF0AE26BF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2158AB4-F5A4-C90E-6D22-101BD924C2BA}"/>
              </a:ext>
            </a:extLst>
          </p:cNvPr>
          <p:cNvSpPr txBox="1"/>
          <p:nvPr/>
        </p:nvSpPr>
        <p:spPr>
          <a:xfrm>
            <a:off x="815563" y="3452716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</a:t>
            </a:r>
            <a:r>
              <a:rPr lang="zh-CN" altLang="en-US" sz="1400" dirty="0"/>
              <a:t>相机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5CE174-8160-D9B7-E151-3B5CB0AFA22D}"/>
              </a:ext>
            </a:extLst>
          </p:cNvPr>
          <p:cNvSpPr txBox="1"/>
          <p:nvPr/>
        </p:nvSpPr>
        <p:spPr>
          <a:xfrm>
            <a:off x="5243527" y="3365501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FN</a:t>
            </a:r>
            <a:r>
              <a:rPr lang="zh-CN" altLang="en-US" sz="1400" dirty="0"/>
              <a:t>相机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6015A0-D3D4-592A-9A52-F0A9992E6551}"/>
              </a:ext>
            </a:extLst>
          </p:cNvPr>
          <p:cNvSpPr txBox="1"/>
          <p:nvPr/>
        </p:nvSpPr>
        <p:spPr>
          <a:xfrm>
            <a:off x="9205925" y="3333314"/>
            <a:ext cx="18827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RR</a:t>
            </a:r>
            <a:r>
              <a:rPr lang="zh-CN" altLang="en-US" sz="1400" dirty="0"/>
              <a:t>相机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F42781-9F5A-8A45-A707-175723B3F23B}"/>
              </a:ext>
            </a:extLst>
          </p:cNvPr>
          <p:cNvSpPr txBox="1"/>
          <p:nvPr/>
        </p:nvSpPr>
        <p:spPr>
          <a:xfrm>
            <a:off x="3733800" y="6197600"/>
            <a:ext cx="341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LPC</a:t>
            </a:r>
            <a:r>
              <a:rPr lang="zh-CN" altLang="en-US" dirty="0"/>
              <a:t>三视图拼接结果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72CED3C-100D-20AE-F12E-807E177348A3}"/>
              </a:ext>
            </a:extLst>
          </p:cNvPr>
          <p:cNvSpPr txBox="1"/>
          <p:nvPr/>
        </p:nvSpPr>
        <p:spPr>
          <a:xfrm>
            <a:off x="10357389" y="4704755"/>
            <a:ext cx="2430972" cy="167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R:  </a:t>
            </a:r>
            <a:r>
              <a:rPr lang="zh-CN" altLang="en-US" dirty="0"/>
              <a:t>左视角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FN:</a:t>
            </a:r>
            <a:r>
              <a:rPr lang="zh-CN" altLang="en-US" dirty="0"/>
              <a:t>中间视角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RR:</a:t>
            </a:r>
            <a:r>
              <a:rPr lang="zh-CN" altLang="en-US" dirty="0"/>
              <a:t> 右视角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73D01BB-65BD-117B-AF11-583B2A5D65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8411" y="3989555"/>
            <a:ext cx="6118896" cy="207872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1114BC9-E066-8536-9692-958CCC82BD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18" y="1470561"/>
            <a:ext cx="3035280" cy="170734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B7A30EA5-584E-F82F-3FDE-7493C31F2B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822" y="1479489"/>
            <a:ext cx="3035280" cy="170734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F1E5A01-DEDE-0972-538B-00B3471B381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4204" y="1458984"/>
            <a:ext cx="3114306" cy="175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5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5679-3465-DA04-5613-4E76CD48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>
            <a:extLst>
              <a:ext uri="{FF2B5EF4-FFF2-40B4-BE49-F238E27FC236}">
                <a16:creationId xmlns:a16="http://schemas.microsoft.com/office/drawing/2014/main" id="{7E64A6D3-CEBA-4C70-CE84-908692915CCC}"/>
              </a:ext>
            </a:extLst>
          </p:cNvPr>
          <p:cNvSpPr txBox="1"/>
          <p:nvPr/>
        </p:nvSpPr>
        <p:spPr>
          <a:xfrm>
            <a:off x="2150631" y="296863"/>
            <a:ext cx="5662409" cy="64552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/>
            <a:r>
              <a:rPr lang="zh-CN" altLang="en-US" sz="3200" dirty="0">
                <a:solidFill>
                  <a:srgbClr val="263A5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图像拼接方法</a:t>
            </a:r>
          </a:p>
        </p:txBody>
      </p:sp>
      <p:sp>
        <p:nvSpPr>
          <p:cNvPr id="1048679" name="等腰三角形 3">
            <a:extLst>
              <a:ext uri="{FF2B5EF4-FFF2-40B4-BE49-F238E27FC236}">
                <a16:creationId xmlns:a16="http://schemas.microsoft.com/office/drawing/2014/main" id="{C5AFA198-1FCB-B913-A494-C334D6749626}"/>
              </a:ext>
            </a:extLst>
          </p:cNvPr>
          <p:cNvSpPr/>
          <p:nvPr/>
        </p:nvSpPr>
        <p:spPr bwMode="auto">
          <a:xfrm flipV="1">
            <a:off x="459276" y="0"/>
            <a:ext cx="1691355" cy="942392"/>
          </a:xfrm>
          <a:prstGeom prst="triangle">
            <a:avLst>
              <a:gd name="adj" fmla="val 49494"/>
            </a:avLst>
          </a:prstGeom>
          <a:solidFill>
            <a:srgbClr val="203864"/>
          </a:solidFill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40080" indent="-18288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82700" indent="-3683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925955" indent="-55435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568575" indent="-73977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endParaRPr lang="zh-CN" altLang="en-US" dirty="0">
              <a:solidFill>
                <a:prstClr val="white"/>
              </a:solidFill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48680" name="文本占位符 2">
            <a:extLst>
              <a:ext uri="{FF2B5EF4-FFF2-40B4-BE49-F238E27FC236}">
                <a16:creationId xmlns:a16="http://schemas.microsoft.com/office/drawing/2014/main" id="{0034209C-8951-DDFF-256B-2064A999FB21}"/>
              </a:ext>
            </a:extLst>
          </p:cNvPr>
          <p:cNvSpPr txBox="1"/>
          <p:nvPr/>
        </p:nvSpPr>
        <p:spPr>
          <a:xfrm>
            <a:off x="924180" y="104570"/>
            <a:ext cx="832757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+mn-lt"/>
                <a:ea typeface="华文中宋" panose="02010600040101010101" pitchFamily="2" charset="-122"/>
              </a:rPr>
              <a:t>02</a:t>
            </a:r>
            <a:endParaRPr lang="zh-CN" altLang="en-US" dirty="0">
              <a:latin typeface="+mn-lt"/>
              <a:ea typeface="华文中宋" panose="02010600040101010101" pitchFamily="2" charset="-122"/>
            </a:endParaRPr>
          </a:p>
        </p:txBody>
      </p:sp>
      <p:pic>
        <p:nvPicPr>
          <p:cNvPr id="2097166" name="图片 5">
            <a:extLst>
              <a:ext uri="{FF2B5EF4-FFF2-40B4-BE49-F238E27FC236}">
                <a16:creationId xmlns:a16="http://schemas.microsoft.com/office/drawing/2014/main" id="{3B9F7143-630D-811E-2406-C5F301F01D4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35170" y="103917"/>
            <a:ext cx="1219202" cy="786386"/>
          </a:xfrm>
          <a:prstGeom prst="rect">
            <a:avLst/>
          </a:prstGeom>
        </p:spPr>
      </p:pic>
      <p:cxnSp>
        <p:nvCxnSpPr>
          <p:cNvPr id="3145742" name="直接连接符 8">
            <a:extLst>
              <a:ext uri="{FF2B5EF4-FFF2-40B4-BE49-F238E27FC236}">
                <a16:creationId xmlns:a16="http://schemas.microsoft.com/office/drawing/2014/main" id="{5C55934B-C033-21A9-F4B0-5C057A33ECEF}"/>
              </a:ext>
            </a:extLst>
          </p:cNvPr>
          <p:cNvCxnSpPr/>
          <p:nvPr/>
        </p:nvCxnSpPr>
        <p:spPr>
          <a:xfrm>
            <a:off x="2196000" y="936000"/>
            <a:ext cx="8280000" cy="0"/>
          </a:xfrm>
          <a:prstGeom prst="line">
            <a:avLst/>
          </a:prstGeom>
          <a:ln w="41275">
            <a:solidFill>
              <a:srgbClr val="20386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EE4AEC0-8B97-7D36-BEE3-51B66FEB1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9675" y="6388958"/>
            <a:ext cx="2743200" cy="365125"/>
          </a:xfrm>
        </p:spPr>
        <p:txBody>
          <a:bodyPr/>
          <a:lstStyle/>
          <a:p>
            <a:fld id="{4C728F51-6063-40BC-906F-D6FBF0AE26BF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06A38-DC11-A65C-4042-592968771770}"/>
              </a:ext>
            </a:extLst>
          </p:cNvPr>
          <p:cNvSpPr txBox="1"/>
          <p:nvPr/>
        </p:nvSpPr>
        <p:spPr>
          <a:xfrm>
            <a:off x="609601" y="1239255"/>
            <a:ext cx="11244772" cy="5036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/>
              <a:t>LPC</a:t>
            </a:r>
            <a:r>
              <a:rPr lang="zh-CN" altLang="en-US" dirty="0"/>
              <a:t>三视图方案可以保持整体图像结构良好，图像边缘连接平滑自然，挖掘机轮廓完整，地面车辙纹理连续，拼接区域无明显重影和断裂现象。但是该方案时间消耗较大，主要原因有以下两点</a:t>
            </a:r>
            <a:endParaRPr lang="en-US" altLang="zh-CN" dirty="0"/>
          </a:p>
          <a:p>
            <a:pPr indent="457200">
              <a:lnSpc>
                <a:spcPct val="150000"/>
              </a:lnSpc>
            </a:pPr>
            <a:r>
              <a:rPr lang="zh-CN" altLang="en-US" dirty="0"/>
              <a:t>一方面是由于在图像整体做点线特征提取和匹配，该过程中不仅需要提取大量 </a:t>
            </a:r>
            <a:r>
              <a:rPr lang="en-US" altLang="zh-CN" dirty="0"/>
              <a:t>SURF</a:t>
            </a:r>
            <a:r>
              <a:rPr lang="zh-CN" altLang="en-US" dirty="0"/>
              <a:t>点特征，还需使用 </a:t>
            </a:r>
            <a:r>
              <a:rPr lang="en-US" altLang="zh-CN" dirty="0"/>
              <a:t>LSD </a:t>
            </a:r>
            <a:r>
              <a:rPr lang="zh-CN" altLang="en-US" dirty="0"/>
              <a:t>算法对全图进行线段检测，并建立点与线之间的几何关联关系。这种</a:t>
            </a:r>
            <a:r>
              <a:rPr lang="zh-CN" altLang="en-US" b="1" dirty="0"/>
              <a:t>全图范围的特征提取与匹配</a:t>
            </a:r>
            <a:r>
              <a:rPr lang="zh-CN" altLang="en-US" dirty="0"/>
              <a:t>虽然提升了拼接的准确性，但也显著增加了算法在特征构建阶段的计算负担，尤其在图像分辨率较高或视角差异较大时，线段数量与匹配对数成倍增长，导致整体耗时上升</a:t>
            </a:r>
            <a:endParaRPr lang="en-US" altLang="zh-CN" dirty="0"/>
          </a:p>
          <a:p>
            <a:pPr indent="457200">
              <a:lnSpc>
                <a:spcPct val="150000"/>
              </a:lnSpc>
            </a:pPr>
            <a:r>
              <a:rPr lang="zh-CN" altLang="en-US" dirty="0"/>
              <a:t>另一方面是由于基于显著性引导的最佳缝合线是一个</a:t>
            </a:r>
            <a:r>
              <a:rPr lang="zh-CN" altLang="en-US" b="1" dirty="0"/>
              <a:t>全局最优路径搜索过程</a:t>
            </a:r>
            <a:r>
              <a:rPr lang="zh-CN" altLang="en-US" dirty="0"/>
              <a:t>，通常需结合图像的显著性图、梯度图以及颜色差异图，通过图割（</a:t>
            </a:r>
            <a:r>
              <a:rPr lang="en-US" altLang="zh-CN" dirty="0"/>
              <a:t>Graph Cut</a:t>
            </a:r>
            <a:r>
              <a:rPr lang="zh-CN" altLang="en-US" dirty="0"/>
              <a:t>）在重叠区域内寻找感知上最自然的缝合路径。这一过程虽然能有效避免穿越显著目标（如挖掘机轮廓或建筑边缘），保证视觉连续性，但也显著增加了计算复杂度，特别是在高分辨率图像和大范围重叠区域中，耗时表现尤为明显</a:t>
            </a:r>
            <a:endParaRPr lang="en-US" altLang="zh-CN" dirty="0"/>
          </a:p>
          <a:p>
            <a:pPr indent="457200">
              <a:lnSpc>
                <a:spcPct val="150000"/>
              </a:lnSpc>
            </a:pPr>
            <a:r>
              <a:rPr lang="zh-CN" altLang="en-US" dirty="0"/>
              <a:t>而相对于</a:t>
            </a:r>
            <a:r>
              <a:rPr lang="en-US" altLang="zh-CN" dirty="0"/>
              <a:t>LPC</a:t>
            </a:r>
            <a:r>
              <a:rPr lang="zh-CN" altLang="en-US" dirty="0"/>
              <a:t>三视图方案，</a:t>
            </a:r>
            <a:r>
              <a:rPr lang="en-US" altLang="zh-CN" dirty="0" err="1"/>
              <a:t>Apap</a:t>
            </a:r>
            <a:r>
              <a:rPr lang="zh-CN" altLang="en-US" dirty="0"/>
              <a:t>三视图方案在配准时没有考虑线特征，在融合时采用线性融合，因此其拼接存在着明显的重影，但其耗时相对更短。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88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"/>
          <p:cNvGrpSpPr/>
          <p:nvPr/>
        </p:nvGrpSpPr>
        <p:grpSpPr>
          <a:xfrm>
            <a:off x="0" y="0"/>
            <a:ext cx="12192000" cy="1034473"/>
            <a:chOff x="0" y="0"/>
            <a:chExt cx="12192000" cy="1034473"/>
          </a:xfrm>
        </p:grpSpPr>
        <p:sp>
          <p:nvSpPr>
            <p:cNvPr id="1048616" name="矩形 4"/>
            <p:cNvSpPr/>
            <p:nvPr/>
          </p:nvSpPr>
          <p:spPr>
            <a:xfrm flipV="1">
              <a:off x="0" y="0"/>
              <a:ext cx="12192000" cy="1034473"/>
            </a:xfrm>
            <a:prstGeom prst="rect">
              <a:avLst/>
            </a:prstGeom>
            <a:solidFill>
              <a:srgbClr val="20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cxnSp>
          <p:nvCxnSpPr>
            <p:cNvPr id="3145730" name="直接连接符 5"/>
            <p:cNvCxnSpPr>
              <a:cxnSpLocks/>
            </p:cNvCxnSpPr>
            <p:nvPr/>
          </p:nvCxnSpPr>
          <p:spPr>
            <a:xfrm>
              <a:off x="1184530" y="132043"/>
              <a:ext cx="0" cy="770385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8617" name="标题 1"/>
          <p:cNvSpPr txBox="1"/>
          <p:nvPr/>
        </p:nvSpPr>
        <p:spPr>
          <a:xfrm>
            <a:off x="1516716" y="188273"/>
            <a:ext cx="5292012" cy="75162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zh-CN" altLang="en-US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总结及后续计划</a:t>
            </a:r>
          </a:p>
        </p:txBody>
      </p:sp>
      <p:sp>
        <p:nvSpPr>
          <p:cNvPr id="1048618" name="内容占位符 2"/>
          <p:cNvSpPr txBox="1"/>
          <p:nvPr/>
        </p:nvSpPr>
        <p:spPr>
          <a:xfrm>
            <a:off x="221658" y="185490"/>
            <a:ext cx="836392" cy="5630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10">
            <a:extLst>
              <a:ext uri="{FF2B5EF4-FFF2-40B4-BE49-F238E27FC236}">
                <a16:creationId xmlns:a16="http://schemas.microsoft.com/office/drawing/2014/main" id="{87BE1292-BE8B-F846-9598-38B71EE135E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77921" y="173331"/>
            <a:ext cx="1134836" cy="74418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0228925-9B48-E5EE-2AB2-A9806324BA25}"/>
              </a:ext>
            </a:extLst>
          </p:cNvPr>
          <p:cNvSpPr txBox="1"/>
          <p:nvPr/>
        </p:nvSpPr>
        <p:spPr>
          <a:xfrm>
            <a:off x="962025" y="1257300"/>
            <a:ext cx="9753600" cy="212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总结：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/>
              <a:t>LPC</a:t>
            </a:r>
            <a:r>
              <a:rPr lang="zh-CN" altLang="en-US" dirty="0"/>
              <a:t>三视图方案虽然拼接效果较好</a:t>
            </a:r>
            <a:r>
              <a:rPr lang="en-US" altLang="zh-CN" dirty="0"/>
              <a:t>(</a:t>
            </a:r>
            <a:r>
              <a:rPr lang="zh-CN" altLang="en-US" dirty="0"/>
              <a:t>两分钟</a:t>
            </a:r>
            <a:r>
              <a:rPr lang="en-US" altLang="zh-CN" dirty="0"/>
              <a:t>)</a:t>
            </a:r>
            <a:r>
              <a:rPr lang="zh-CN" altLang="en-US" dirty="0"/>
              <a:t>，但耗时更长，后续可以考虑在这方面进行一定的优化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 err="1"/>
              <a:t>Apap</a:t>
            </a:r>
            <a:r>
              <a:rPr lang="zh-CN" altLang="en-US" dirty="0"/>
              <a:t>三视图方案耗时相对较短（半分钟），但其有着更明显的重影，后续考虑引入最佳缝合线方法来优化拼接效果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9838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31" name="直接连接符 4"/>
          <p:cNvCxnSpPr>
            <a:cxnSpLocks/>
          </p:cNvCxnSpPr>
          <p:nvPr/>
        </p:nvCxnSpPr>
        <p:spPr>
          <a:xfrm>
            <a:off x="4636777" y="623405"/>
            <a:ext cx="8544" cy="223045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58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35404" y="903985"/>
            <a:ext cx="1240694" cy="1240694"/>
          </a:xfrm>
          <a:prstGeom prst="rect">
            <a:avLst/>
          </a:prstGeom>
        </p:spPr>
      </p:pic>
      <p:sp>
        <p:nvSpPr>
          <p:cNvPr id="1048620" name="TextBox 1"/>
          <p:cNvSpPr txBox="1"/>
          <p:nvPr/>
        </p:nvSpPr>
        <p:spPr>
          <a:xfrm>
            <a:off x="3931920" y="6178104"/>
            <a:ext cx="5685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High-</a:t>
            </a:r>
            <a:r>
              <a:rPr lang="en-AU" sz="1400" dirty="0" err="1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performanceSpatialComputationalIntelligenceLab</a:t>
            </a:r>
            <a:r>
              <a:rPr lang="en-US" altLang="zh-CN" sz="1400" dirty="0">
                <a:solidFill>
                  <a:schemeClr val="bg1">
                    <a:lumMod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@CUG</a:t>
            </a:r>
            <a:endParaRPr lang="en-AU" sz="1400" dirty="0">
              <a:solidFill>
                <a:schemeClr val="bg1">
                  <a:lumMod val="7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2097159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873829" y="5858179"/>
            <a:ext cx="1134836" cy="744182"/>
          </a:xfrm>
          <a:prstGeom prst="rect">
            <a:avLst/>
          </a:prstGeom>
        </p:spPr>
      </p:pic>
      <p:sp>
        <p:nvSpPr>
          <p:cNvPr id="1048623" name="标题占位符 1"/>
          <p:cNvSpPr txBox="1"/>
          <p:nvPr/>
        </p:nvSpPr>
        <p:spPr>
          <a:xfrm>
            <a:off x="1728108" y="3533275"/>
            <a:ext cx="83877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感谢您的聆听！</a:t>
            </a:r>
          </a:p>
        </p:txBody>
      </p:sp>
      <p:sp>
        <p:nvSpPr>
          <p:cNvPr id="9" name="内容占位符 2"/>
          <p:cNvSpPr txBox="1"/>
          <p:nvPr/>
        </p:nvSpPr>
        <p:spPr>
          <a:xfrm>
            <a:off x="4863484" y="533454"/>
            <a:ext cx="5428181" cy="815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/7/15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/>
          <p:cNvSpPr txBox="1"/>
          <p:nvPr/>
        </p:nvSpPr>
        <p:spPr>
          <a:xfrm>
            <a:off x="4863484" y="1435783"/>
            <a:ext cx="6016719" cy="1456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dobe 黑体 Std R" panose="020B0400000000000000" pitchFamily="34" charset="-122"/>
                <a:ea typeface="Adobe 黑体 Std R" panose="020B0400000000000000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刘高峰</a:t>
            </a:r>
            <a:endParaRPr lang="en-US" altLang="zh-CN" sz="14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b="1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导师：曾文</a:t>
            </a:r>
            <a:endParaRPr lang="en-US" altLang="zh-CN" sz="1400" b="1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40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中国地质大学（武汉</a:t>
            </a:r>
            <a:r>
              <a:rPr lang="en-US" altLang="zh-CN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地理与信息工程学院</a:t>
            </a:r>
            <a:endParaRPr lang="en-US" altLang="zh-CN" sz="1400" dirty="0">
              <a:solidFill>
                <a:prstClr val="white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 altLang="zh-CN" sz="1400" dirty="0" err="1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高性能空间计算智能实验室（HPSCIL</a:t>
            </a:r>
            <a:r>
              <a:rPr lang="en-US" altLang="zh-CN" sz="1400" dirty="0">
                <a:solidFill>
                  <a:prstClr val="white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80498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16551</TotalTime>
  <Words>1444</Words>
  <Application>Microsoft Office PowerPoint</Application>
  <PresentationFormat>宽屏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等线</vt:lpstr>
      <vt:lpstr>等线 Light</vt:lpstr>
      <vt:lpstr>华文中宋</vt:lpstr>
      <vt:lpstr>宋体</vt:lpstr>
      <vt:lpstr>Microsoft YaHei</vt:lpstr>
      <vt:lpstr>Microsoft YaHei</vt:lpstr>
      <vt:lpstr>微软雅黑 Light</vt:lpstr>
      <vt:lpstr>Arial</vt:lpstr>
      <vt:lpstr>Calibri</vt:lpstr>
      <vt:lpstr>Wingdings</vt:lpstr>
      <vt:lpstr>Office 主题​​</vt:lpstr>
      <vt:lpstr>基于多视角图像拼接和激光点云的目标检测与定位研究方法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主题一主题一主题一主题一主题一主题一主题一主题一</dc:title>
  <dc:creator>Gao Huan</dc:creator>
  <cp:lastModifiedBy>LGF</cp:lastModifiedBy>
  <cp:revision>1099</cp:revision>
  <dcterms:created xsi:type="dcterms:W3CDTF">2018-11-14T20:24:13Z</dcterms:created>
  <dcterms:modified xsi:type="dcterms:W3CDTF">2025-07-15T11:00:33Z</dcterms:modified>
</cp:coreProperties>
</file>