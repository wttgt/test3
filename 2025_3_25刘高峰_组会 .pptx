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98" r:id="rId2"/>
    <p:sldId id="257" r:id="rId3"/>
    <p:sldId id="341" r:id="rId4"/>
    <p:sldId id="491" r:id="rId5"/>
    <p:sldId id="509" r:id="rId6"/>
    <p:sldId id="514" r:id="rId7"/>
    <p:sldId id="511" r:id="rId8"/>
    <p:sldId id="510" r:id="rId9"/>
    <p:sldId id="515" r:id="rId10"/>
    <p:sldId id="516" r:id="rId11"/>
    <p:sldId id="512" r:id="rId12"/>
    <p:sldId id="513" r:id="rId13"/>
    <p:sldId id="518" r:id="rId14"/>
    <p:sldId id="517" r:id="rId15"/>
    <p:sldId id="346" r:id="rId16"/>
    <p:sldId id="309"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C434E"/>
    <a:srgbClr val="3A5925"/>
    <a:srgbClr val="43672B"/>
    <a:srgbClr val="945358"/>
    <a:srgbClr val="5A5A5A"/>
    <a:srgbClr val="203864"/>
    <a:srgbClr val="324C20"/>
    <a:srgbClr val="3552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58" autoAdjust="0"/>
    <p:restoredTop sz="89417" autoAdjust="0"/>
  </p:normalViewPr>
  <p:slideViewPr>
    <p:cSldViewPr snapToGrid="0">
      <p:cViewPr varScale="1">
        <p:scale>
          <a:sx n="91" d="100"/>
          <a:sy n="91" d="100"/>
        </p:scale>
        <p:origin x="984" y="10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927"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928"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929"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930"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31"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932"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A0EA98-5831-4853-B862-C702E6EB345C}" type="slidenum">
              <a:rPr lang="en-US" smtClean="0"/>
              <a:t>1</a:t>
            </a:fld>
            <a:endParaRPr lang="en-US"/>
          </a:p>
        </p:txBody>
      </p:sp>
    </p:spTree>
    <p:extLst>
      <p:ext uri="{BB962C8B-B14F-4D97-AF65-F5344CB8AC3E}">
        <p14:creationId xmlns:p14="http://schemas.microsoft.com/office/powerpoint/2010/main" val="4071264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r>
              <a:rPr lang="zh-CN" altLang="en-US" dirty="0"/>
              <a:t>汇报从以下几个部分展开</a:t>
            </a:r>
          </a:p>
        </p:txBody>
      </p:sp>
      <p:sp>
        <p:nvSpPr>
          <p:cNvPr id="4" name="灯片编号占位符 3"/>
          <p:cNvSpPr>
            <a:spLocks noGrp="1"/>
          </p:cNvSpPr>
          <p:nvPr>
            <p:ph type="sldNum" sz="quarter" idx="5"/>
          </p:nvPr>
        </p:nvSpPr>
        <p:spPr/>
        <p:txBody>
          <a:bodyPr/>
          <a:lstStyle/>
          <a:p>
            <a:fld id="{A9A0EA98-5831-4853-B862-C702E6EB345C}" type="slidenum">
              <a:rPr lang="en-US" smtClean="0"/>
              <a:t>2</a:t>
            </a:fld>
            <a:endParaRPr lang="en-US"/>
          </a:p>
        </p:txBody>
      </p:sp>
    </p:spTree>
    <p:extLst>
      <p:ext uri="{BB962C8B-B14F-4D97-AF65-F5344CB8AC3E}">
        <p14:creationId xmlns:p14="http://schemas.microsoft.com/office/powerpoint/2010/main" val="826401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algn="l"/>
            <a:r>
              <a:rPr lang="en-US" altLang="zh-CN" dirty="0"/>
              <a:t>Review on image‑stitching techniques</a:t>
            </a:r>
            <a:endParaRPr lang="zh-CN" altLang="en-US" b="1" dirty="0">
              <a:solidFill>
                <a:srgbClr val="FF0000"/>
              </a:solidFill>
              <a:latin typeface="+mj-lt"/>
            </a:endParaRPr>
          </a:p>
        </p:txBody>
      </p:sp>
      <p:sp>
        <p:nvSpPr>
          <p:cNvPr id="4" name="灯片编号占位符 3"/>
          <p:cNvSpPr>
            <a:spLocks noGrp="1"/>
          </p:cNvSpPr>
          <p:nvPr>
            <p:ph type="sldNum" sz="quarter" idx="5"/>
          </p:nvPr>
        </p:nvSpPr>
        <p:spPr/>
        <p:txBody>
          <a:bodyPr/>
          <a:lstStyle/>
          <a:p>
            <a:fld id="{B2CB6E48-10D0-446F-A6C8-527914C46209}"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50612-31BB-3FAF-1CD9-4015628641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7A56C2-4C5F-8FC5-8874-E4F0D91D7165}"/>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8AD5A951-D0B7-4B2A-4E54-8B1F8E8DA45B}"/>
              </a:ext>
            </a:extLst>
          </p:cNvPr>
          <p:cNvSpPr>
            <a:spLocks noGrp="1"/>
          </p:cNvSpPr>
          <p:nvPr>
            <p:ph type="body" idx="1"/>
          </p:nvPr>
        </p:nvSpPr>
        <p:spPr/>
        <p:txBody>
          <a:bodyPr/>
          <a:lstStyle/>
          <a:p>
            <a:endParaRPr lang="en-US" altLang="zh-CN" b="1" dirty="0"/>
          </a:p>
        </p:txBody>
      </p:sp>
      <p:sp>
        <p:nvSpPr>
          <p:cNvPr id="4" name="灯片编号占位符 3">
            <a:extLst>
              <a:ext uri="{FF2B5EF4-FFF2-40B4-BE49-F238E27FC236}">
                <a16:creationId xmlns:a16="http://schemas.microsoft.com/office/drawing/2014/main" id="{843F2396-95CF-00E7-275A-44292AD33CF5}"/>
              </a:ext>
            </a:extLst>
          </p:cNvPr>
          <p:cNvSpPr>
            <a:spLocks noGrp="1"/>
          </p:cNvSpPr>
          <p:nvPr>
            <p:ph type="sldNum" sz="quarter" idx="5"/>
          </p:nvPr>
        </p:nvSpPr>
        <p:spPr/>
        <p:txBody>
          <a:bodyPr/>
          <a:lstStyle/>
          <a:p>
            <a:fld id="{B2CB6E48-10D0-446F-A6C8-527914C46209}" type="slidenum">
              <a:rPr lang="zh-CN" altLang="en-US" smtClean="0"/>
              <a:t>4</a:t>
            </a:fld>
            <a:endParaRPr lang="zh-CN" altLang="en-US"/>
          </a:p>
        </p:txBody>
      </p:sp>
    </p:spTree>
    <p:extLst>
      <p:ext uri="{BB962C8B-B14F-4D97-AF65-F5344CB8AC3E}">
        <p14:creationId xmlns:p14="http://schemas.microsoft.com/office/powerpoint/2010/main" val="30578129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6A9A6-C5AC-77E7-1426-714475160AE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113F189-A5A9-A0C2-E6D5-DFBD93DEAF6F}"/>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261ABD70-7507-2B94-B3D8-3C7CF8C4D97B}"/>
              </a:ext>
            </a:extLst>
          </p:cNvPr>
          <p:cNvSpPr>
            <a:spLocks noGrp="1"/>
          </p:cNvSpPr>
          <p:nvPr>
            <p:ph type="body" idx="1"/>
          </p:nvPr>
        </p:nvSpPr>
        <p:spPr/>
        <p:txBody>
          <a:bodyPr/>
          <a:lstStyle/>
          <a:p>
            <a:pPr algn="l">
              <a:buNone/>
            </a:pPr>
            <a:r>
              <a:rPr lang="zh-CN" altLang="en-US" b="0" i="0" dirty="0">
                <a:effectLst/>
                <a:latin typeface="Inter"/>
              </a:rPr>
              <a:t>在 </a:t>
            </a:r>
            <a:r>
              <a:rPr lang="en-US" altLang="zh-CN" b="0" i="0" dirty="0">
                <a:effectLst/>
                <a:latin typeface="Inter"/>
              </a:rPr>
              <a:t>YOLOv5 </a:t>
            </a:r>
            <a:r>
              <a:rPr lang="zh-CN" altLang="en-US" b="0" i="0" dirty="0">
                <a:effectLst/>
                <a:latin typeface="Inter"/>
              </a:rPr>
              <a:t>中，</a:t>
            </a:r>
            <a:r>
              <a:rPr lang="en-US" altLang="zh-CN" b="0" i="0" dirty="0">
                <a:effectLst/>
                <a:latin typeface="Inter"/>
              </a:rPr>
              <a:t>FPN</a:t>
            </a:r>
            <a:r>
              <a:rPr lang="zh-CN" altLang="en-US" b="0" i="0" dirty="0">
                <a:effectLst/>
                <a:latin typeface="Inter"/>
              </a:rPr>
              <a:t>（</a:t>
            </a:r>
            <a:r>
              <a:rPr lang="en-US" altLang="zh-CN" b="0" i="0" dirty="0">
                <a:effectLst/>
                <a:latin typeface="Inter"/>
              </a:rPr>
              <a:t>Feature Pyramid Network</a:t>
            </a:r>
            <a:r>
              <a:rPr lang="zh-CN" altLang="en-US" b="0" i="0" dirty="0">
                <a:effectLst/>
                <a:latin typeface="Inter"/>
              </a:rPr>
              <a:t>，特征金字塔网络）和 </a:t>
            </a:r>
            <a:r>
              <a:rPr lang="en-US" altLang="zh-CN" b="0" i="0" dirty="0">
                <a:effectLst/>
                <a:latin typeface="Inter"/>
              </a:rPr>
              <a:t>PANet</a:t>
            </a:r>
            <a:r>
              <a:rPr lang="zh-CN" altLang="en-US" b="0" i="0" dirty="0">
                <a:effectLst/>
                <a:latin typeface="Inter"/>
              </a:rPr>
              <a:t>（</a:t>
            </a:r>
            <a:r>
              <a:rPr lang="en-US" altLang="zh-CN" b="0" i="0" dirty="0">
                <a:effectLst/>
                <a:latin typeface="Inter"/>
              </a:rPr>
              <a:t>Path Aggregation Network</a:t>
            </a:r>
            <a:r>
              <a:rPr lang="zh-CN" altLang="en-US" b="0" i="0" dirty="0">
                <a:effectLst/>
                <a:latin typeface="Inter"/>
              </a:rPr>
              <a:t>，路径聚合网络）共同构成了 </a:t>
            </a:r>
            <a:r>
              <a:rPr lang="en-US" altLang="zh-CN" b="0" i="0" dirty="0">
                <a:effectLst/>
                <a:latin typeface="Inter"/>
              </a:rPr>
              <a:t>YOLOv5 </a:t>
            </a:r>
            <a:r>
              <a:rPr lang="zh-CN" altLang="en-US" b="0" i="0" dirty="0">
                <a:effectLst/>
                <a:latin typeface="Inter"/>
              </a:rPr>
              <a:t>的颈部结构</a:t>
            </a:r>
            <a:r>
              <a:rPr lang="en-US" altLang="zh-CN" b="0" i="0" dirty="0">
                <a:effectLst/>
                <a:latin typeface="Inter"/>
              </a:rPr>
              <a:t>1</a:t>
            </a:r>
            <a:r>
              <a:rPr lang="zh-CN" altLang="en-US" b="0" i="0" dirty="0">
                <a:effectLst/>
                <a:latin typeface="Inter"/>
              </a:rPr>
              <a:t>。</a:t>
            </a:r>
            <a:br>
              <a:rPr lang="zh-CN" altLang="en-US" dirty="0"/>
            </a:br>
            <a:r>
              <a:rPr lang="en-US" altLang="zh-CN" b="1" i="0" dirty="0">
                <a:solidFill>
                  <a:srgbClr val="222222"/>
                </a:solidFill>
                <a:effectLst/>
                <a:latin typeface="Inter"/>
              </a:rPr>
              <a:t>FPN </a:t>
            </a:r>
            <a:r>
              <a:rPr lang="zh-CN" altLang="en-US" b="1" i="0" dirty="0">
                <a:solidFill>
                  <a:srgbClr val="222222"/>
                </a:solidFill>
                <a:effectLst/>
                <a:latin typeface="Inter"/>
              </a:rPr>
              <a:t>结构与作用</a:t>
            </a:r>
            <a:r>
              <a:rPr lang="zh-CN" altLang="en-US" b="0" i="0" dirty="0">
                <a:solidFill>
                  <a:srgbClr val="222222"/>
                </a:solidFill>
                <a:effectLst/>
                <a:latin typeface="Inter"/>
              </a:rPr>
              <a:t>：主要由自底向上（</a:t>
            </a:r>
            <a:r>
              <a:rPr lang="en-US" altLang="zh-CN" b="0" i="0" dirty="0">
                <a:solidFill>
                  <a:srgbClr val="222222"/>
                </a:solidFill>
                <a:effectLst/>
                <a:latin typeface="Inter"/>
              </a:rPr>
              <a:t>Bottom - Up</a:t>
            </a:r>
            <a:r>
              <a:rPr lang="zh-CN" altLang="en-US" b="0" i="0" dirty="0">
                <a:solidFill>
                  <a:srgbClr val="222222"/>
                </a:solidFill>
                <a:effectLst/>
                <a:latin typeface="Inter"/>
              </a:rPr>
              <a:t>）和自顶向下（</a:t>
            </a:r>
            <a:r>
              <a:rPr lang="en-US" altLang="zh-CN" b="0" i="0" dirty="0">
                <a:solidFill>
                  <a:srgbClr val="222222"/>
                </a:solidFill>
                <a:effectLst/>
                <a:latin typeface="Inter"/>
              </a:rPr>
              <a:t>Top - Down</a:t>
            </a:r>
            <a:r>
              <a:rPr lang="zh-CN" altLang="en-US" b="0" i="0" dirty="0">
                <a:solidFill>
                  <a:srgbClr val="222222"/>
                </a:solidFill>
                <a:effectLst/>
                <a:latin typeface="Inter"/>
              </a:rPr>
              <a:t>）两条路径组成。自底向上路径与 </a:t>
            </a:r>
            <a:r>
              <a:rPr lang="en-US" altLang="zh-CN" b="0" i="0" dirty="0">
                <a:solidFill>
                  <a:srgbClr val="222222"/>
                </a:solidFill>
                <a:effectLst/>
                <a:latin typeface="Inter"/>
              </a:rPr>
              <a:t>YOLOv5 </a:t>
            </a:r>
            <a:r>
              <a:rPr lang="zh-CN" altLang="en-US" b="0" i="0" dirty="0">
                <a:solidFill>
                  <a:srgbClr val="222222"/>
                </a:solidFill>
                <a:effectLst/>
                <a:latin typeface="Inter"/>
              </a:rPr>
              <a:t>的骨干网络相连，通过逐渐减小特征图尺寸来增加语义信息；自顶向下路径则以自底向上路径生成的最小特征图为输入，利用上采样操作逐渐增大特征图尺寸，以此增加低级特征的语义信息。最终，将两条路径中尺寸相同的特征图进行横向连接，从而增强多尺度上的语义表示，使其具备检测不同尺度目标的能力，尤其对小目标检测有重要作用。</a:t>
            </a:r>
          </a:p>
          <a:p>
            <a:pPr algn="l">
              <a:buFont typeface="Arial" panose="020B0604020202020204" pitchFamily="34" charset="0"/>
              <a:buChar char="•"/>
            </a:pPr>
            <a:r>
              <a:rPr lang="en-US" altLang="zh-CN" b="1" i="0" dirty="0">
                <a:solidFill>
                  <a:srgbClr val="222222"/>
                </a:solidFill>
                <a:effectLst/>
                <a:latin typeface="Inter"/>
              </a:rPr>
              <a:t>PANet </a:t>
            </a:r>
            <a:r>
              <a:rPr lang="zh-CN" altLang="en-US" b="1" i="0" dirty="0">
                <a:solidFill>
                  <a:srgbClr val="222222"/>
                </a:solidFill>
                <a:effectLst/>
                <a:latin typeface="Inter"/>
              </a:rPr>
              <a:t>结构与作用</a:t>
            </a:r>
            <a:r>
              <a:rPr lang="zh-CN" altLang="en-US" b="0" i="0" dirty="0">
                <a:solidFill>
                  <a:srgbClr val="222222"/>
                </a:solidFill>
                <a:effectLst/>
                <a:latin typeface="Inter"/>
              </a:rPr>
              <a:t>：在 </a:t>
            </a:r>
            <a:r>
              <a:rPr lang="en-US" altLang="zh-CN" b="0" i="0" dirty="0">
                <a:solidFill>
                  <a:srgbClr val="222222"/>
                </a:solidFill>
                <a:effectLst/>
                <a:latin typeface="Inter"/>
              </a:rPr>
              <a:t>FPN </a:t>
            </a:r>
            <a:r>
              <a:rPr lang="zh-CN" altLang="en-US" b="0" i="0" dirty="0">
                <a:solidFill>
                  <a:srgbClr val="222222"/>
                </a:solidFill>
                <a:effectLst/>
                <a:latin typeface="Inter"/>
              </a:rPr>
              <a:t>的基础上添加了一条自底向上的路径，使得底层的位置信息能够传递到深层，进一步增强了网络在多尺度上的定位能力 ，与 </a:t>
            </a:r>
            <a:r>
              <a:rPr lang="en-US" altLang="zh-CN" b="0" i="0" dirty="0">
                <a:solidFill>
                  <a:srgbClr val="222222"/>
                </a:solidFill>
                <a:effectLst/>
                <a:latin typeface="Inter"/>
              </a:rPr>
              <a:t>FPN </a:t>
            </a:r>
            <a:r>
              <a:rPr lang="zh-CN" altLang="en-US" b="0" i="0" dirty="0">
                <a:solidFill>
                  <a:srgbClr val="222222"/>
                </a:solidFill>
                <a:effectLst/>
                <a:latin typeface="Inter"/>
              </a:rPr>
              <a:t>相互配合，提升了 </a:t>
            </a:r>
            <a:r>
              <a:rPr lang="en-US" altLang="zh-CN" b="0" i="0" dirty="0">
                <a:solidFill>
                  <a:srgbClr val="222222"/>
                </a:solidFill>
                <a:effectLst/>
                <a:latin typeface="Inter"/>
              </a:rPr>
              <a:t>YOLOv5 </a:t>
            </a:r>
            <a:r>
              <a:rPr lang="zh-CN" altLang="en-US" b="0" i="0" dirty="0">
                <a:solidFill>
                  <a:srgbClr val="222222"/>
                </a:solidFill>
                <a:effectLst/>
                <a:latin typeface="Inter"/>
              </a:rPr>
              <a:t>对不同尺度目标的检测性能。</a:t>
            </a:r>
          </a:p>
          <a:p>
            <a:endParaRPr lang="en-US" altLang="zh-CN" b="1" dirty="0"/>
          </a:p>
        </p:txBody>
      </p:sp>
      <p:sp>
        <p:nvSpPr>
          <p:cNvPr id="4" name="灯片编号占位符 3">
            <a:extLst>
              <a:ext uri="{FF2B5EF4-FFF2-40B4-BE49-F238E27FC236}">
                <a16:creationId xmlns:a16="http://schemas.microsoft.com/office/drawing/2014/main" id="{8E49E934-50D2-0490-6153-5433BDFC3CF8}"/>
              </a:ext>
            </a:extLst>
          </p:cNvPr>
          <p:cNvSpPr>
            <a:spLocks noGrp="1"/>
          </p:cNvSpPr>
          <p:nvPr>
            <p:ph type="sldNum" sz="quarter" idx="5"/>
          </p:nvPr>
        </p:nvSpPr>
        <p:spPr/>
        <p:txBody>
          <a:bodyPr/>
          <a:lstStyle/>
          <a:p>
            <a:fld id="{B2CB6E48-10D0-446F-A6C8-527914C46209}" type="slidenum">
              <a:rPr lang="zh-CN" altLang="en-US" smtClean="0"/>
              <a:t>5</a:t>
            </a:fld>
            <a:endParaRPr lang="zh-CN" altLang="en-US"/>
          </a:p>
        </p:txBody>
      </p:sp>
    </p:spTree>
    <p:extLst>
      <p:ext uri="{BB962C8B-B14F-4D97-AF65-F5344CB8AC3E}">
        <p14:creationId xmlns:p14="http://schemas.microsoft.com/office/powerpoint/2010/main" val="19638844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4010B-4A54-C890-1424-9150883EB7B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013B940-DC50-06B3-BC63-5F07ED245EC6}"/>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867FB887-7050-65ED-72E6-6A775C2DC8BB}"/>
              </a:ext>
            </a:extLst>
          </p:cNvPr>
          <p:cNvSpPr>
            <a:spLocks noGrp="1"/>
          </p:cNvSpPr>
          <p:nvPr>
            <p:ph type="body" idx="1"/>
          </p:nvPr>
        </p:nvSpPr>
        <p:spPr/>
        <p:txBody>
          <a:bodyPr/>
          <a:lstStyle/>
          <a:p>
            <a:r>
              <a:rPr lang="en-US" altLang="zh-CN" b="1" dirty="0"/>
              <a:t>Sigmoid</a:t>
            </a:r>
            <a:r>
              <a:rPr lang="zh-CN" altLang="en-US" b="1" dirty="0"/>
              <a:t>函数的输出范围在</a:t>
            </a:r>
            <a:r>
              <a:rPr lang="en-US" altLang="zh-CN" b="1" dirty="0"/>
              <a:t>0</a:t>
            </a:r>
            <a:r>
              <a:rPr lang="zh-CN" altLang="en-US" b="1" dirty="0"/>
              <a:t>到</a:t>
            </a:r>
            <a:r>
              <a:rPr lang="en-US" altLang="zh-CN" b="1" dirty="0"/>
              <a:t>1</a:t>
            </a:r>
            <a:r>
              <a:rPr lang="zh-CN" altLang="en-US" b="1" dirty="0"/>
              <a:t>之间，非常适合作为模型的输出函数。用于输出一个</a:t>
            </a:r>
            <a:r>
              <a:rPr lang="en-US" altLang="zh-CN" b="1" dirty="0"/>
              <a:t>0</a:t>
            </a:r>
            <a:r>
              <a:rPr lang="zh-CN" altLang="en-US" b="1" dirty="0"/>
              <a:t>到</a:t>
            </a:r>
            <a:r>
              <a:rPr lang="en-US" altLang="zh-CN" b="1" dirty="0"/>
              <a:t>1</a:t>
            </a:r>
            <a:r>
              <a:rPr lang="zh-CN" altLang="en-US" b="1" dirty="0"/>
              <a:t>范围内的概率值，比如用于表示二分类的类别或者用于表示置信度。</a:t>
            </a:r>
            <a:endParaRPr lang="en-US" altLang="zh-CN" b="1" dirty="0"/>
          </a:p>
        </p:txBody>
      </p:sp>
      <p:sp>
        <p:nvSpPr>
          <p:cNvPr id="4" name="灯片编号占位符 3">
            <a:extLst>
              <a:ext uri="{FF2B5EF4-FFF2-40B4-BE49-F238E27FC236}">
                <a16:creationId xmlns:a16="http://schemas.microsoft.com/office/drawing/2014/main" id="{28807E6A-E5DD-49A5-9AEB-BF0CBF3F8F2F}"/>
              </a:ext>
            </a:extLst>
          </p:cNvPr>
          <p:cNvSpPr>
            <a:spLocks noGrp="1"/>
          </p:cNvSpPr>
          <p:nvPr>
            <p:ph type="sldNum" sz="quarter" idx="5"/>
          </p:nvPr>
        </p:nvSpPr>
        <p:spPr/>
        <p:txBody>
          <a:bodyPr/>
          <a:lstStyle/>
          <a:p>
            <a:fld id="{B2CB6E48-10D0-446F-A6C8-527914C46209}" type="slidenum">
              <a:rPr lang="zh-CN" altLang="en-US" smtClean="0"/>
              <a:t>6</a:t>
            </a:fld>
            <a:endParaRPr lang="zh-CN" altLang="en-US"/>
          </a:p>
        </p:txBody>
      </p:sp>
    </p:spTree>
    <p:extLst>
      <p:ext uri="{BB962C8B-B14F-4D97-AF65-F5344CB8AC3E}">
        <p14:creationId xmlns:p14="http://schemas.microsoft.com/office/powerpoint/2010/main" val="2029727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613D5-4E33-730A-3F9C-757EBEAA25B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826B6AF-AF9C-2CF2-A69B-F43C77252CD7}"/>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58D79F37-0567-7478-46B6-A18F754E8EC0}"/>
              </a:ext>
            </a:extLst>
          </p:cNvPr>
          <p:cNvSpPr>
            <a:spLocks noGrp="1"/>
          </p:cNvSpPr>
          <p:nvPr>
            <p:ph type="body" idx="1"/>
          </p:nvPr>
        </p:nvSpPr>
        <p:spPr/>
        <p:txBody>
          <a:bodyPr/>
          <a:lstStyle/>
          <a:p>
            <a:endParaRPr lang="en-US" altLang="zh-CN" b="1" dirty="0"/>
          </a:p>
        </p:txBody>
      </p:sp>
      <p:sp>
        <p:nvSpPr>
          <p:cNvPr id="4" name="灯片编号占位符 3">
            <a:extLst>
              <a:ext uri="{FF2B5EF4-FFF2-40B4-BE49-F238E27FC236}">
                <a16:creationId xmlns:a16="http://schemas.microsoft.com/office/drawing/2014/main" id="{D5947A33-DF12-37DF-1C8B-7EF0A2238984}"/>
              </a:ext>
            </a:extLst>
          </p:cNvPr>
          <p:cNvSpPr>
            <a:spLocks noGrp="1"/>
          </p:cNvSpPr>
          <p:nvPr>
            <p:ph type="sldNum" sz="quarter" idx="5"/>
          </p:nvPr>
        </p:nvSpPr>
        <p:spPr/>
        <p:txBody>
          <a:bodyPr/>
          <a:lstStyle/>
          <a:p>
            <a:fld id="{B2CB6E48-10D0-446F-A6C8-527914C46209}" type="slidenum">
              <a:rPr lang="zh-CN" altLang="en-US" smtClean="0"/>
              <a:t>7</a:t>
            </a:fld>
            <a:endParaRPr lang="zh-CN" altLang="en-US"/>
          </a:p>
        </p:txBody>
      </p:sp>
    </p:spTree>
    <p:extLst>
      <p:ext uri="{BB962C8B-B14F-4D97-AF65-F5344CB8AC3E}">
        <p14:creationId xmlns:p14="http://schemas.microsoft.com/office/powerpoint/2010/main" val="12336580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F1DD2-DA1B-18C6-E885-71333104422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5E71FBA-CBB6-57CC-A8E5-2CB4B38867FF}"/>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5BAA1D79-5A93-F513-44FB-D02C38BD1E8B}"/>
              </a:ext>
            </a:extLst>
          </p:cNvPr>
          <p:cNvSpPr>
            <a:spLocks noGrp="1"/>
          </p:cNvSpPr>
          <p:nvPr>
            <p:ph type="body" idx="1"/>
          </p:nvPr>
        </p:nvSpPr>
        <p:spPr/>
        <p:txBody>
          <a:bodyPr/>
          <a:lstStyle/>
          <a:p>
            <a:r>
              <a:rPr lang="en-US" altLang="zh-CN" b="1" dirty="0"/>
              <a:t>Sigmoid</a:t>
            </a:r>
            <a:r>
              <a:rPr lang="zh-CN" altLang="en-US" b="1" dirty="0"/>
              <a:t>函数的输出范围在</a:t>
            </a:r>
            <a:r>
              <a:rPr lang="en-US" altLang="zh-CN" b="1" dirty="0"/>
              <a:t>0</a:t>
            </a:r>
            <a:r>
              <a:rPr lang="zh-CN" altLang="en-US" b="1" dirty="0"/>
              <a:t>到</a:t>
            </a:r>
            <a:r>
              <a:rPr lang="en-US" altLang="zh-CN" b="1" dirty="0"/>
              <a:t>1</a:t>
            </a:r>
            <a:r>
              <a:rPr lang="zh-CN" altLang="en-US" b="1" dirty="0"/>
              <a:t>之间，非常适合作为模型的输出函数。用于输出一个</a:t>
            </a:r>
            <a:r>
              <a:rPr lang="en-US" altLang="zh-CN" b="1" dirty="0"/>
              <a:t>0</a:t>
            </a:r>
            <a:r>
              <a:rPr lang="zh-CN" altLang="en-US" b="1" dirty="0"/>
              <a:t>到</a:t>
            </a:r>
            <a:r>
              <a:rPr lang="en-US" altLang="zh-CN" b="1" dirty="0"/>
              <a:t>1</a:t>
            </a:r>
            <a:r>
              <a:rPr lang="zh-CN" altLang="en-US" b="1" dirty="0"/>
              <a:t>范围内的概率值，比如用于表示二分类的类别或者用于表示置信度。</a:t>
            </a:r>
            <a:endParaRPr lang="en-US" altLang="zh-CN" b="1" dirty="0"/>
          </a:p>
        </p:txBody>
      </p:sp>
      <p:sp>
        <p:nvSpPr>
          <p:cNvPr id="4" name="灯片编号占位符 3">
            <a:extLst>
              <a:ext uri="{FF2B5EF4-FFF2-40B4-BE49-F238E27FC236}">
                <a16:creationId xmlns:a16="http://schemas.microsoft.com/office/drawing/2014/main" id="{ED90EB2A-5D52-EED3-F571-FB36DF45BD96}"/>
              </a:ext>
            </a:extLst>
          </p:cNvPr>
          <p:cNvSpPr>
            <a:spLocks noGrp="1"/>
          </p:cNvSpPr>
          <p:nvPr>
            <p:ph type="sldNum" sz="quarter" idx="5"/>
          </p:nvPr>
        </p:nvSpPr>
        <p:spPr/>
        <p:txBody>
          <a:bodyPr/>
          <a:lstStyle/>
          <a:p>
            <a:fld id="{B2CB6E48-10D0-446F-A6C8-527914C46209}" type="slidenum">
              <a:rPr lang="zh-CN" altLang="en-US" smtClean="0"/>
              <a:t>8</a:t>
            </a:fld>
            <a:endParaRPr lang="zh-CN" altLang="en-US"/>
          </a:p>
        </p:txBody>
      </p:sp>
    </p:spTree>
    <p:extLst>
      <p:ext uri="{BB962C8B-B14F-4D97-AF65-F5344CB8AC3E}">
        <p14:creationId xmlns:p14="http://schemas.microsoft.com/office/powerpoint/2010/main" val="12904608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024A0-5E8A-40BF-41CD-FF8E6831C19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2BF629-D7D2-72EE-B7AE-4AF9AEC26753}"/>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C7DF9E3B-6956-8B12-1C31-0622F0CFD4EE}"/>
              </a:ext>
            </a:extLst>
          </p:cNvPr>
          <p:cNvSpPr>
            <a:spLocks noGrp="1"/>
          </p:cNvSpPr>
          <p:nvPr>
            <p:ph type="body" idx="1"/>
          </p:nvPr>
        </p:nvSpPr>
        <p:spPr/>
        <p:txBody>
          <a:bodyPr/>
          <a:lstStyle/>
          <a:p>
            <a:endParaRPr lang="en-US" altLang="zh-CN" b="1" dirty="0"/>
          </a:p>
        </p:txBody>
      </p:sp>
      <p:sp>
        <p:nvSpPr>
          <p:cNvPr id="4" name="灯片编号占位符 3">
            <a:extLst>
              <a:ext uri="{FF2B5EF4-FFF2-40B4-BE49-F238E27FC236}">
                <a16:creationId xmlns:a16="http://schemas.microsoft.com/office/drawing/2014/main" id="{AAB3F226-0EFF-1680-801E-6AC12155B2A1}"/>
              </a:ext>
            </a:extLst>
          </p:cNvPr>
          <p:cNvSpPr>
            <a:spLocks noGrp="1"/>
          </p:cNvSpPr>
          <p:nvPr>
            <p:ph type="sldNum" sz="quarter" idx="5"/>
          </p:nvPr>
        </p:nvSpPr>
        <p:spPr/>
        <p:txBody>
          <a:bodyPr/>
          <a:lstStyle/>
          <a:p>
            <a:fld id="{B2CB6E48-10D0-446F-A6C8-527914C46209}" type="slidenum">
              <a:rPr lang="zh-CN" altLang="en-US" smtClean="0"/>
              <a:t>9</a:t>
            </a:fld>
            <a:endParaRPr lang="zh-CN" altLang="en-US"/>
          </a:p>
        </p:txBody>
      </p:sp>
    </p:spTree>
    <p:extLst>
      <p:ext uri="{BB962C8B-B14F-4D97-AF65-F5344CB8AC3E}">
        <p14:creationId xmlns:p14="http://schemas.microsoft.com/office/powerpoint/2010/main" val="3540370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2EE93-E894-79CA-DB02-79ED3B7817B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7914598-A35C-58E0-F774-FB5C52E9EE1D}"/>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28676C9C-C839-0597-5614-012C95977505}"/>
              </a:ext>
            </a:extLst>
          </p:cNvPr>
          <p:cNvSpPr>
            <a:spLocks noGrp="1"/>
          </p:cNvSpPr>
          <p:nvPr>
            <p:ph type="body" idx="1"/>
          </p:nvPr>
        </p:nvSpPr>
        <p:spPr/>
        <p:txBody>
          <a:bodyPr/>
          <a:lstStyle/>
          <a:p>
            <a:endParaRPr lang="en-US" altLang="zh-CN" b="1" dirty="0"/>
          </a:p>
        </p:txBody>
      </p:sp>
      <p:sp>
        <p:nvSpPr>
          <p:cNvPr id="4" name="灯片编号占位符 3">
            <a:extLst>
              <a:ext uri="{FF2B5EF4-FFF2-40B4-BE49-F238E27FC236}">
                <a16:creationId xmlns:a16="http://schemas.microsoft.com/office/drawing/2014/main" id="{E55D9FBB-C0FC-EAF3-ADA1-5B7A4371BEC3}"/>
              </a:ext>
            </a:extLst>
          </p:cNvPr>
          <p:cNvSpPr>
            <a:spLocks noGrp="1"/>
          </p:cNvSpPr>
          <p:nvPr>
            <p:ph type="sldNum" sz="quarter" idx="5"/>
          </p:nvPr>
        </p:nvSpPr>
        <p:spPr/>
        <p:txBody>
          <a:bodyPr/>
          <a:lstStyle/>
          <a:p>
            <a:fld id="{B2CB6E48-10D0-446F-A6C8-527914C46209}" type="slidenum">
              <a:rPr lang="zh-CN" altLang="en-US" smtClean="0"/>
              <a:t>10</a:t>
            </a:fld>
            <a:endParaRPr lang="zh-CN" altLang="en-US"/>
          </a:p>
        </p:txBody>
      </p:sp>
    </p:spTree>
    <p:extLst>
      <p:ext uri="{BB962C8B-B14F-4D97-AF65-F5344CB8AC3E}">
        <p14:creationId xmlns:p14="http://schemas.microsoft.com/office/powerpoint/2010/main" val="35838940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176F8-9909-B555-5961-DE39C9C139E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898330A-A0AB-B0BA-BABF-462D65A1B260}"/>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5226389A-22FB-0139-8184-C74B4DA586EE}"/>
              </a:ext>
            </a:extLst>
          </p:cNvPr>
          <p:cNvSpPr>
            <a:spLocks noGrp="1"/>
          </p:cNvSpPr>
          <p:nvPr>
            <p:ph type="body" idx="1"/>
          </p:nvPr>
        </p:nvSpPr>
        <p:spPr/>
        <p:txBody>
          <a:bodyPr/>
          <a:lstStyle/>
          <a:p>
            <a:r>
              <a:rPr lang="en-US" altLang="zh-CN" b="1" dirty="0"/>
              <a:t>BaseLine:yolov5,6,0  P</a:t>
            </a:r>
            <a:r>
              <a:rPr lang="zh-CN" altLang="en-US" b="1" dirty="0"/>
              <a:t>（</a:t>
            </a:r>
            <a:r>
              <a:rPr lang="en-US" altLang="zh-CN" b="1" dirty="0"/>
              <a:t>Precision</a:t>
            </a:r>
            <a:r>
              <a:rPr lang="zh-CN" altLang="en-US" b="1" dirty="0"/>
              <a:t>）</a:t>
            </a:r>
            <a:r>
              <a:rPr lang="en-US" altLang="zh-CN" b="1" dirty="0"/>
              <a:t> </a:t>
            </a:r>
            <a:r>
              <a:rPr lang="zh-CN" altLang="en-US" b="1" dirty="0"/>
              <a:t>精确率，</a:t>
            </a:r>
            <a:r>
              <a:rPr lang="en-US" altLang="zh-CN" b="1" dirty="0"/>
              <a:t>r:</a:t>
            </a:r>
            <a:r>
              <a:rPr lang="zh-CN" altLang="en-US" b="1" dirty="0"/>
              <a:t>召回率  </a:t>
            </a:r>
            <a:r>
              <a:rPr lang="en-US" altLang="zh-CN" b="1" dirty="0"/>
              <a:t>Map.5 </a:t>
            </a:r>
          </a:p>
          <a:p>
            <a:r>
              <a:rPr lang="zh-CN" altLang="en-US" b="0" i="0" dirty="0">
                <a:solidFill>
                  <a:srgbClr val="060607"/>
                </a:solidFill>
                <a:effectLst/>
                <a:latin typeface="-apple-system"/>
              </a:rPr>
              <a:t>图四：宽度在</a:t>
            </a:r>
            <a:r>
              <a:rPr lang="en-US" altLang="zh-CN" b="0" i="0" dirty="0">
                <a:solidFill>
                  <a:srgbClr val="060607"/>
                </a:solidFill>
                <a:effectLst/>
                <a:latin typeface="-apple-system"/>
              </a:rPr>
              <a:t>0.2</a:t>
            </a:r>
            <a:r>
              <a:rPr lang="zh-CN" altLang="en-US" b="0" i="0" dirty="0">
                <a:solidFill>
                  <a:srgbClr val="060607"/>
                </a:solidFill>
                <a:effectLst/>
                <a:latin typeface="-apple-system"/>
              </a:rPr>
              <a:t>到</a:t>
            </a:r>
            <a:r>
              <a:rPr lang="en-US" altLang="zh-CN" b="0" i="0" dirty="0">
                <a:solidFill>
                  <a:srgbClr val="060607"/>
                </a:solidFill>
                <a:effectLst/>
                <a:latin typeface="-apple-system"/>
              </a:rPr>
              <a:t>0.4</a:t>
            </a:r>
            <a:r>
              <a:rPr lang="zh-CN" altLang="en-US" b="0" i="0" dirty="0">
                <a:solidFill>
                  <a:srgbClr val="060607"/>
                </a:solidFill>
                <a:effectLst/>
                <a:latin typeface="-apple-system"/>
              </a:rPr>
              <a:t>之间，高度在</a:t>
            </a:r>
            <a:r>
              <a:rPr lang="en-US" altLang="zh-CN" b="0" i="0" dirty="0">
                <a:solidFill>
                  <a:srgbClr val="060607"/>
                </a:solidFill>
                <a:effectLst/>
                <a:latin typeface="-apple-system"/>
              </a:rPr>
              <a:t>0.3</a:t>
            </a:r>
            <a:r>
              <a:rPr lang="zh-CN" altLang="en-US" b="0" i="0" dirty="0">
                <a:solidFill>
                  <a:srgbClr val="060607"/>
                </a:solidFill>
                <a:effectLst/>
                <a:latin typeface="-apple-system"/>
              </a:rPr>
              <a:t>到</a:t>
            </a:r>
            <a:r>
              <a:rPr lang="en-US" altLang="zh-CN" b="0" i="0" dirty="0">
                <a:solidFill>
                  <a:srgbClr val="060607"/>
                </a:solidFill>
                <a:effectLst/>
                <a:latin typeface="-apple-system"/>
              </a:rPr>
              <a:t>0.5</a:t>
            </a:r>
            <a:r>
              <a:rPr lang="zh-CN" altLang="en-US" b="0" i="0" dirty="0">
                <a:solidFill>
                  <a:srgbClr val="060607"/>
                </a:solidFill>
                <a:effectLst/>
                <a:latin typeface="-apple-system"/>
              </a:rPr>
              <a:t>之间的区域数据点较为集中，说明数据集中有较多中等尺寸的目标。相对来说，宽度小于</a:t>
            </a:r>
            <a:r>
              <a:rPr lang="en-US" altLang="zh-CN" b="0" i="0" dirty="0">
                <a:solidFill>
                  <a:srgbClr val="060607"/>
                </a:solidFill>
                <a:effectLst/>
                <a:latin typeface="-apple-system"/>
              </a:rPr>
              <a:t>0.2</a:t>
            </a:r>
            <a:r>
              <a:rPr lang="zh-CN" altLang="en-US" b="0" i="0" dirty="0">
                <a:solidFill>
                  <a:srgbClr val="060607"/>
                </a:solidFill>
                <a:effectLst/>
                <a:latin typeface="-apple-system"/>
              </a:rPr>
              <a:t>或大于</a:t>
            </a:r>
            <a:r>
              <a:rPr lang="en-US" altLang="zh-CN" b="0" i="0" dirty="0">
                <a:solidFill>
                  <a:srgbClr val="060607"/>
                </a:solidFill>
                <a:effectLst/>
                <a:latin typeface="-apple-system"/>
              </a:rPr>
              <a:t>0.6</a:t>
            </a:r>
            <a:r>
              <a:rPr lang="zh-CN" altLang="en-US" b="0" i="0" dirty="0">
                <a:solidFill>
                  <a:srgbClr val="060607"/>
                </a:solidFill>
                <a:effectLst/>
                <a:latin typeface="-apple-system"/>
              </a:rPr>
              <a:t>，高度小于</a:t>
            </a:r>
            <a:r>
              <a:rPr lang="en-US" altLang="zh-CN" b="0" i="0" dirty="0">
                <a:solidFill>
                  <a:srgbClr val="060607"/>
                </a:solidFill>
                <a:effectLst/>
                <a:latin typeface="-apple-system"/>
              </a:rPr>
              <a:t>0.3</a:t>
            </a:r>
            <a:r>
              <a:rPr lang="zh-CN" altLang="en-US" b="0" i="0" dirty="0">
                <a:solidFill>
                  <a:srgbClr val="060607"/>
                </a:solidFill>
                <a:effectLst/>
                <a:latin typeface="-apple-system"/>
              </a:rPr>
              <a:t>或大于</a:t>
            </a:r>
            <a:r>
              <a:rPr lang="en-US" altLang="zh-CN" b="0" i="0" dirty="0">
                <a:solidFill>
                  <a:srgbClr val="060607"/>
                </a:solidFill>
                <a:effectLst/>
                <a:latin typeface="-apple-system"/>
              </a:rPr>
              <a:t>0.6</a:t>
            </a:r>
            <a:r>
              <a:rPr lang="zh-CN" altLang="en-US" b="0" i="0" dirty="0">
                <a:solidFill>
                  <a:srgbClr val="060607"/>
                </a:solidFill>
                <a:effectLst/>
                <a:latin typeface="-apple-system"/>
              </a:rPr>
              <a:t>的区域数据点较为稀疏，表明数据集中较少出现非常小或非常大的目标</a:t>
            </a:r>
            <a:endParaRPr lang="en-US" altLang="zh-CN" b="1" dirty="0"/>
          </a:p>
        </p:txBody>
      </p:sp>
      <p:sp>
        <p:nvSpPr>
          <p:cNvPr id="4" name="灯片编号占位符 3">
            <a:extLst>
              <a:ext uri="{FF2B5EF4-FFF2-40B4-BE49-F238E27FC236}">
                <a16:creationId xmlns:a16="http://schemas.microsoft.com/office/drawing/2014/main" id="{D4100394-6453-833C-2AFF-75F30A5D1660}"/>
              </a:ext>
            </a:extLst>
          </p:cNvPr>
          <p:cNvSpPr>
            <a:spLocks noGrp="1"/>
          </p:cNvSpPr>
          <p:nvPr>
            <p:ph type="sldNum" sz="quarter" idx="5"/>
          </p:nvPr>
        </p:nvSpPr>
        <p:spPr/>
        <p:txBody>
          <a:bodyPr/>
          <a:lstStyle/>
          <a:p>
            <a:fld id="{B2CB6E48-10D0-446F-A6C8-527914C46209}" type="slidenum">
              <a:rPr lang="zh-CN" altLang="en-US" smtClean="0"/>
              <a:t>11</a:t>
            </a:fld>
            <a:endParaRPr lang="zh-CN" altLang="en-US"/>
          </a:p>
        </p:txBody>
      </p:sp>
    </p:spTree>
    <p:extLst>
      <p:ext uri="{BB962C8B-B14F-4D97-AF65-F5344CB8AC3E}">
        <p14:creationId xmlns:p14="http://schemas.microsoft.com/office/powerpoint/2010/main" val="18757169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801AB-2F19-9FFC-D168-87E8804280C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B493D99-62F1-214A-3936-9B749243A62D}"/>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420168C9-D2DD-BCFE-A9DD-83DE5DF538D8}"/>
              </a:ext>
            </a:extLst>
          </p:cNvPr>
          <p:cNvSpPr>
            <a:spLocks noGrp="1"/>
          </p:cNvSpPr>
          <p:nvPr>
            <p:ph type="body" idx="1"/>
          </p:nvPr>
        </p:nvSpPr>
        <p:spPr/>
        <p:txBody>
          <a:bodyPr/>
          <a:lstStyle/>
          <a:p>
            <a:r>
              <a:rPr lang="zh-CN" altLang="en-US" b="1" dirty="0"/>
              <a:t>锚定框修改可以提高检测精度的原因是修改后的锚定框可以提高目标的召回率，从而提高检测精度</a:t>
            </a:r>
            <a:endParaRPr lang="en-US" altLang="zh-CN" b="1" dirty="0"/>
          </a:p>
        </p:txBody>
      </p:sp>
      <p:sp>
        <p:nvSpPr>
          <p:cNvPr id="4" name="灯片编号占位符 3">
            <a:extLst>
              <a:ext uri="{FF2B5EF4-FFF2-40B4-BE49-F238E27FC236}">
                <a16:creationId xmlns:a16="http://schemas.microsoft.com/office/drawing/2014/main" id="{1C3314E5-7036-C53D-8A07-134BD77F22BB}"/>
              </a:ext>
            </a:extLst>
          </p:cNvPr>
          <p:cNvSpPr>
            <a:spLocks noGrp="1"/>
          </p:cNvSpPr>
          <p:nvPr>
            <p:ph type="sldNum" sz="quarter" idx="5"/>
          </p:nvPr>
        </p:nvSpPr>
        <p:spPr/>
        <p:txBody>
          <a:bodyPr/>
          <a:lstStyle/>
          <a:p>
            <a:fld id="{B2CB6E48-10D0-446F-A6C8-527914C46209}" type="slidenum">
              <a:rPr lang="zh-CN" altLang="en-US" smtClean="0"/>
              <a:t>12</a:t>
            </a:fld>
            <a:endParaRPr lang="zh-CN" altLang="en-US"/>
          </a:p>
        </p:txBody>
      </p:sp>
    </p:spTree>
    <p:extLst>
      <p:ext uri="{BB962C8B-B14F-4D97-AF65-F5344CB8AC3E}">
        <p14:creationId xmlns:p14="http://schemas.microsoft.com/office/powerpoint/2010/main" val="32713903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87F85-DF6A-6258-12D5-8CDC9DABD97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0BBE0F-EF7D-AB94-9908-613098CB7313}"/>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16B0B33E-798E-0DE6-CF8B-48CDB224E1DC}"/>
              </a:ext>
            </a:extLst>
          </p:cNvPr>
          <p:cNvSpPr>
            <a:spLocks noGrp="1"/>
          </p:cNvSpPr>
          <p:nvPr>
            <p:ph type="body" idx="1"/>
          </p:nvPr>
        </p:nvSpPr>
        <p:spPr/>
        <p:txBody>
          <a:bodyPr/>
          <a:lstStyle/>
          <a:p>
            <a:endParaRPr lang="en-US" altLang="zh-CN" b="1" dirty="0"/>
          </a:p>
        </p:txBody>
      </p:sp>
      <p:sp>
        <p:nvSpPr>
          <p:cNvPr id="4" name="灯片编号占位符 3">
            <a:extLst>
              <a:ext uri="{FF2B5EF4-FFF2-40B4-BE49-F238E27FC236}">
                <a16:creationId xmlns:a16="http://schemas.microsoft.com/office/drawing/2014/main" id="{149142FE-7AA9-A92F-65A7-5AAEE497E0D9}"/>
              </a:ext>
            </a:extLst>
          </p:cNvPr>
          <p:cNvSpPr>
            <a:spLocks noGrp="1"/>
          </p:cNvSpPr>
          <p:nvPr>
            <p:ph type="sldNum" sz="quarter" idx="5"/>
          </p:nvPr>
        </p:nvSpPr>
        <p:spPr/>
        <p:txBody>
          <a:bodyPr/>
          <a:lstStyle/>
          <a:p>
            <a:fld id="{B2CB6E48-10D0-446F-A6C8-527914C46209}" type="slidenum">
              <a:rPr lang="zh-CN" altLang="en-US" smtClean="0"/>
              <a:t>13</a:t>
            </a:fld>
            <a:endParaRPr lang="zh-CN" altLang="en-US"/>
          </a:p>
        </p:txBody>
      </p:sp>
    </p:spTree>
    <p:extLst>
      <p:ext uri="{BB962C8B-B14F-4D97-AF65-F5344CB8AC3E}">
        <p14:creationId xmlns:p14="http://schemas.microsoft.com/office/powerpoint/2010/main" val="15417616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50E93-5178-C812-C642-4F499C22AA6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CC648C4-280A-FF41-3CDD-173D8858DC6C}"/>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67371933-C43D-2D92-B829-0DEF89E13F30}"/>
              </a:ext>
            </a:extLst>
          </p:cNvPr>
          <p:cNvSpPr>
            <a:spLocks noGrp="1"/>
          </p:cNvSpPr>
          <p:nvPr>
            <p:ph type="body" idx="1"/>
          </p:nvPr>
        </p:nvSpPr>
        <p:spPr/>
        <p:txBody>
          <a:bodyPr/>
          <a:lstStyle/>
          <a:p>
            <a:endParaRPr lang="en-US" altLang="zh-CN" b="1" dirty="0"/>
          </a:p>
        </p:txBody>
      </p:sp>
      <p:sp>
        <p:nvSpPr>
          <p:cNvPr id="4" name="灯片编号占位符 3">
            <a:extLst>
              <a:ext uri="{FF2B5EF4-FFF2-40B4-BE49-F238E27FC236}">
                <a16:creationId xmlns:a16="http://schemas.microsoft.com/office/drawing/2014/main" id="{FB5276F5-75B0-CFF7-3178-1D4103078218}"/>
              </a:ext>
            </a:extLst>
          </p:cNvPr>
          <p:cNvSpPr>
            <a:spLocks noGrp="1"/>
          </p:cNvSpPr>
          <p:nvPr>
            <p:ph type="sldNum" sz="quarter" idx="5"/>
          </p:nvPr>
        </p:nvSpPr>
        <p:spPr/>
        <p:txBody>
          <a:bodyPr/>
          <a:lstStyle/>
          <a:p>
            <a:fld id="{B2CB6E48-10D0-446F-A6C8-527914C46209}" type="slidenum">
              <a:rPr lang="zh-CN" altLang="en-US" smtClean="0"/>
              <a:t>14</a:t>
            </a:fld>
            <a:endParaRPr lang="zh-CN" altLang="en-US"/>
          </a:p>
        </p:txBody>
      </p:sp>
    </p:spTree>
    <p:extLst>
      <p:ext uri="{BB962C8B-B14F-4D97-AF65-F5344CB8AC3E}">
        <p14:creationId xmlns:p14="http://schemas.microsoft.com/office/powerpoint/2010/main" val="37445751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t>和老师们交流一下后续往哪个方向走比较好</a:t>
                </a:r>
              </a:p>
            </p:txBody>
          </p:sp>
        </mc:Choice>
        <mc:Fallback xmlns="">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t>受到这种方法的启发，有学者提出了一种面向</a:t>
                </a:r>
                <a:r>
                  <a:rPr lang="en-US" altLang="zh-CN" dirty="0"/>
                  <a:t>WDN</a:t>
                </a:r>
                <a:r>
                  <a:rPr lang="zh-CN" altLang="en-US" dirty="0"/>
                  <a:t>的模块化方法，</a:t>
                </a:r>
                <a:r>
                  <a:rPr lang="zh-CN" altLang="en-US" sz="1200" dirty="0">
                    <a:latin typeface="微软雅黑" panose="020B0503020204020204" pitchFamily="34" charset="-122"/>
                    <a:ea typeface="微软雅黑" panose="020B0503020204020204" pitchFamily="34" charset="-122"/>
                  </a:rPr>
                  <a:t>所提出的方法考虑了供水系统的水力特性，以定义面向供水网络的模块化。尽管是为供水网络量身定制的，但面向</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WDN</a:t>
                </a:r>
                <a:r>
                  <a:rPr lang="zh-CN" altLang="en-US" sz="1200" dirty="0">
                    <a:latin typeface="微软雅黑" panose="020B0503020204020204" pitchFamily="34" charset="-122"/>
                    <a:ea typeface="微软雅黑" panose="020B0503020204020204" pitchFamily="34" charset="-122"/>
                  </a:rPr>
                  <a:t>的模块化有其固有的局限性，所提出的模块化指数可能无法检测出小社区，如果社区的总边数小于</a:t>
                </a:r>
                <a:r>
                  <a:rPr lang="en-US" altLang="zh-CN" sz="1200" i="0" dirty="0">
                    <a:latin typeface="Cambria Math" panose="02040503050406030204" pitchFamily="18" charset="0"/>
                    <a:ea typeface="微软雅黑" panose="020B0503020204020204" pitchFamily="34" charset="-122"/>
                    <a:cs typeface="Times New Roman" panose="02020603050405020304" pitchFamily="18" charset="0"/>
                  </a:rPr>
                  <a:t>√2 𝑚</a:t>
                </a:r>
                <a:r>
                  <a:rPr lang="zh-CN" altLang="en-US" sz="1200" i="0" dirty="0">
                    <a:latin typeface="Cambria Math" panose="02040503050406030204" pitchFamily="18" charset="0"/>
                    <a:ea typeface="微软雅黑" panose="020B0503020204020204" pitchFamily="34" charset="-122"/>
                    <a:cs typeface="Times New Roman" panose="02020603050405020304" pitchFamily="18" charset="0"/>
                  </a:rPr>
                  <a:t>，</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m</a:t>
                </a:r>
                <a:r>
                  <a:rPr lang="zh-CN" altLang="en-US" sz="1200" dirty="0">
                    <a:latin typeface="微软雅黑" panose="020B0503020204020204" pitchFamily="34" charset="-122"/>
                    <a:ea typeface="微软雅黑" panose="020B0503020204020204" pitchFamily="34" charset="-122"/>
                  </a:rPr>
                  <a:t>是网络中边的总数，则该社区无法被检测</a:t>
                </a:r>
                <a:endParaRPr lang="en-US" altLang="zh-CN" sz="1200" dirty="0">
                  <a:latin typeface="微软雅黑" panose="020B0503020204020204" pitchFamily="34" charset="-122"/>
                  <a:ea typeface="微软雅黑" panose="020B0503020204020204" pitchFamily="34" charset="-122"/>
                </a:endParaRPr>
              </a:p>
              <a:p>
                <a:r>
                  <a:rPr lang="en-US" altLang="zh-CN" sz="1200" i="0">
                    <a:latin typeface="Cambria Math" panose="02040503050406030204" pitchFamily="18" charset="0"/>
                    <a:ea typeface="微软雅黑" panose="020B0503020204020204" pitchFamily="34" charset="-122"/>
                  </a:rPr>
                  <a:t>(|𝐴_𝑝𝑛^𝑇 | 𝑢_𝑝 )_𝑖</a:t>
                </a:r>
                <a:r>
                  <a:rPr lang="zh-CN" altLang="en-US" dirty="0"/>
                  <a:t>是每个节点中发生事件的管道数量  </a:t>
                </a:r>
                <a:r>
                  <a:rPr lang="en-US" altLang="zh-CN" sz="1200" i="0">
                    <a:latin typeface="Cambria Math" panose="02040503050406030204" pitchFamily="18" charset="0"/>
                    <a:ea typeface="微软雅黑" panose="020B0503020204020204" pitchFamily="34" charset="-122"/>
                  </a:rPr>
                  <a:t>𝑀_𝑚</a:t>
                </a:r>
                <a:r>
                  <a:rPr lang="zh-CN" altLang="en-US" dirty="0"/>
                  <a:t>表示管道所在的模块</a:t>
                </a:r>
              </a:p>
            </p:txBody>
          </p:sp>
        </mc:Fallback>
      </mc:AlternateContent>
      <p:sp>
        <p:nvSpPr>
          <p:cNvPr id="4" name="灯片编号占位符 3"/>
          <p:cNvSpPr>
            <a:spLocks noGrp="1"/>
          </p:cNvSpPr>
          <p:nvPr>
            <p:ph type="sldNum" sz="quarter" idx="5"/>
          </p:nvPr>
        </p:nvSpPr>
        <p:spPr/>
        <p:txBody>
          <a:bodyPr/>
          <a:lstStyle/>
          <a:p>
            <a:fld id="{A9A0EA98-5831-4853-B862-C702E6EB345C}" type="slidenum">
              <a:rPr lang="en-US" smtClean="0"/>
              <a:t>15</a:t>
            </a:fld>
            <a:endParaRPr lang="en-US"/>
          </a:p>
        </p:txBody>
      </p:sp>
    </p:spTree>
    <p:extLst>
      <p:ext uri="{BB962C8B-B14F-4D97-AF65-F5344CB8AC3E}">
        <p14:creationId xmlns:p14="http://schemas.microsoft.com/office/powerpoint/2010/main" val="40096215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r>
              <a:rPr lang="zh-CN" altLang="en-US" dirty="0"/>
              <a:t>以上就是本周的汇报内容，恳请各位老师、师兄师姐和同门批评指正。</a:t>
            </a:r>
          </a:p>
        </p:txBody>
      </p:sp>
      <p:sp>
        <p:nvSpPr>
          <p:cNvPr id="4" name="灯片编号占位符 3"/>
          <p:cNvSpPr>
            <a:spLocks noGrp="1"/>
          </p:cNvSpPr>
          <p:nvPr>
            <p:ph type="sldNum" sz="quarter" idx="5"/>
          </p:nvPr>
        </p:nvSpPr>
        <p:spPr/>
        <p:txBody>
          <a:bodyPr/>
          <a:lstStyle/>
          <a:p>
            <a:fld id="{A9A0EA98-5831-4853-B862-C702E6EB345C}" type="slidenum">
              <a:rPr lang="en-US" smtClean="0"/>
              <a:t>16</a:t>
            </a:fld>
            <a:endParaRPr lang="en-US"/>
          </a:p>
        </p:txBody>
      </p:sp>
    </p:spTree>
    <p:extLst>
      <p:ext uri="{BB962C8B-B14F-4D97-AF65-F5344CB8AC3E}">
        <p14:creationId xmlns:p14="http://schemas.microsoft.com/office/powerpoint/2010/main" val="28625174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581"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1048582"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48583" name="日期占位符 3"/>
          <p:cNvSpPr>
            <a:spLocks noGrp="1"/>
          </p:cNvSpPr>
          <p:nvPr>
            <p:ph type="dt" sz="half" idx="10"/>
          </p:nvPr>
        </p:nvSpPr>
        <p:spPr/>
        <p:txBody>
          <a:bodyPr/>
          <a:lstStyle/>
          <a:p>
            <a:fld id="{0B9ABE89-CD5A-4DF5-92E2-05840E334FAA}" type="datetimeFigureOut">
              <a:rPr lang="zh-CN" altLang="en-US" smtClean="0"/>
              <a:t>2025-05-27</a:t>
            </a:fld>
            <a:endParaRPr lang="zh-CN" altLang="en-US"/>
          </a:p>
        </p:txBody>
      </p:sp>
      <p:sp>
        <p:nvSpPr>
          <p:cNvPr id="1048584" name="页脚占位符 4"/>
          <p:cNvSpPr>
            <a:spLocks noGrp="1"/>
          </p:cNvSpPr>
          <p:nvPr>
            <p:ph type="ftr" sz="quarter" idx="11"/>
          </p:nvPr>
        </p:nvSpPr>
        <p:spPr/>
        <p:txBody>
          <a:bodyPr/>
          <a:lstStyle/>
          <a:p>
            <a:endParaRPr lang="zh-CN" altLang="en-US"/>
          </a:p>
        </p:txBody>
      </p:sp>
      <p:sp>
        <p:nvSpPr>
          <p:cNvPr id="1048585" name="灯片编号占位符 5"/>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590" name="标题 1"/>
          <p:cNvSpPr>
            <a:spLocks noGrp="1"/>
          </p:cNvSpPr>
          <p:nvPr>
            <p:ph type="title"/>
          </p:nvPr>
        </p:nvSpPr>
        <p:spPr/>
        <p:txBody>
          <a:bodyPr/>
          <a:lstStyle/>
          <a:p>
            <a:r>
              <a:rPr lang="zh-CN" altLang="en-US"/>
              <a:t>单击此处编辑母版标题样式</a:t>
            </a:r>
          </a:p>
        </p:txBody>
      </p:sp>
      <p:sp>
        <p:nvSpPr>
          <p:cNvPr id="1048591"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592" name="日期占位符 3"/>
          <p:cNvSpPr>
            <a:spLocks noGrp="1"/>
          </p:cNvSpPr>
          <p:nvPr>
            <p:ph type="dt" sz="half" idx="10"/>
          </p:nvPr>
        </p:nvSpPr>
        <p:spPr/>
        <p:txBody>
          <a:bodyPr/>
          <a:lstStyle/>
          <a:p>
            <a:fld id="{0B9ABE89-CD5A-4DF5-92E2-05840E334FAA}" type="datetimeFigureOut">
              <a:rPr lang="zh-CN" altLang="en-US" smtClean="0"/>
              <a:t>2025-05-27</a:t>
            </a:fld>
            <a:endParaRPr lang="zh-CN" altLang="en-US"/>
          </a:p>
        </p:txBody>
      </p:sp>
      <p:sp>
        <p:nvSpPr>
          <p:cNvPr id="1048593" name="页脚占位符 4"/>
          <p:cNvSpPr>
            <a:spLocks noGrp="1"/>
          </p:cNvSpPr>
          <p:nvPr>
            <p:ph type="ftr" sz="quarter" idx="11"/>
          </p:nvPr>
        </p:nvSpPr>
        <p:spPr/>
        <p:txBody>
          <a:bodyPr/>
          <a:lstStyle/>
          <a:p>
            <a:endParaRPr lang="zh-CN" altLang="en-US"/>
          </a:p>
        </p:txBody>
      </p:sp>
      <p:sp>
        <p:nvSpPr>
          <p:cNvPr id="1048594" name="灯片编号占位符 5"/>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90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104890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1048904" name="日期占位符 3"/>
          <p:cNvSpPr>
            <a:spLocks noGrp="1"/>
          </p:cNvSpPr>
          <p:nvPr>
            <p:ph type="dt" sz="half" idx="10"/>
          </p:nvPr>
        </p:nvSpPr>
        <p:spPr/>
        <p:txBody>
          <a:bodyPr/>
          <a:lstStyle/>
          <a:p>
            <a:fld id="{0B9ABE89-CD5A-4DF5-92E2-05840E334FAA}" type="datetimeFigureOut">
              <a:rPr lang="zh-CN" altLang="en-US" smtClean="0"/>
              <a:t>2025-05-27</a:t>
            </a:fld>
            <a:endParaRPr lang="zh-CN" altLang="en-US"/>
          </a:p>
        </p:txBody>
      </p:sp>
      <p:sp>
        <p:nvSpPr>
          <p:cNvPr id="1048905" name="页脚占位符 4"/>
          <p:cNvSpPr>
            <a:spLocks noGrp="1"/>
          </p:cNvSpPr>
          <p:nvPr>
            <p:ph type="ftr" sz="quarter" idx="11"/>
          </p:nvPr>
        </p:nvSpPr>
        <p:spPr/>
        <p:txBody>
          <a:bodyPr/>
          <a:lstStyle/>
          <a:p>
            <a:endParaRPr lang="zh-CN" altLang="en-US"/>
          </a:p>
        </p:txBody>
      </p:sp>
      <p:sp>
        <p:nvSpPr>
          <p:cNvPr id="1048906" name="灯片编号占位符 5"/>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907" name="标题 1"/>
          <p:cNvSpPr>
            <a:spLocks noGrp="1"/>
          </p:cNvSpPr>
          <p:nvPr>
            <p:ph type="title"/>
          </p:nvPr>
        </p:nvSpPr>
        <p:spPr/>
        <p:txBody>
          <a:bodyPr/>
          <a:lstStyle/>
          <a:p>
            <a:r>
              <a:rPr lang="zh-CN" altLang="en-US"/>
              <a:t>单击此处编辑母版标题样式</a:t>
            </a:r>
          </a:p>
        </p:txBody>
      </p:sp>
      <p:sp>
        <p:nvSpPr>
          <p:cNvPr id="1048908"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909"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910" name="日期占位符 4"/>
          <p:cNvSpPr>
            <a:spLocks noGrp="1"/>
          </p:cNvSpPr>
          <p:nvPr>
            <p:ph type="dt" sz="half" idx="10"/>
          </p:nvPr>
        </p:nvSpPr>
        <p:spPr/>
        <p:txBody>
          <a:bodyPr/>
          <a:lstStyle/>
          <a:p>
            <a:fld id="{0B9ABE89-CD5A-4DF5-92E2-05840E334FAA}" type="datetimeFigureOut">
              <a:rPr lang="zh-CN" altLang="en-US" smtClean="0"/>
              <a:t>2025-05-27</a:t>
            </a:fld>
            <a:endParaRPr lang="zh-CN" altLang="en-US"/>
          </a:p>
        </p:txBody>
      </p:sp>
      <p:sp>
        <p:nvSpPr>
          <p:cNvPr id="1048911" name="页脚占位符 5"/>
          <p:cNvSpPr>
            <a:spLocks noGrp="1"/>
          </p:cNvSpPr>
          <p:nvPr>
            <p:ph type="ftr" sz="quarter" idx="11"/>
          </p:nvPr>
        </p:nvSpPr>
        <p:spPr/>
        <p:txBody>
          <a:bodyPr/>
          <a:lstStyle/>
          <a:p>
            <a:endParaRPr lang="zh-CN" altLang="en-US"/>
          </a:p>
        </p:txBody>
      </p:sp>
      <p:sp>
        <p:nvSpPr>
          <p:cNvPr id="1048912" name="灯片编号占位符 6"/>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913"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1048914"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1048915"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916"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1048917"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918" name="日期占位符 6"/>
          <p:cNvSpPr>
            <a:spLocks noGrp="1"/>
          </p:cNvSpPr>
          <p:nvPr>
            <p:ph type="dt" sz="half" idx="10"/>
          </p:nvPr>
        </p:nvSpPr>
        <p:spPr/>
        <p:txBody>
          <a:bodyPr/>
          <a:lstStyle/>
          <a:p>
            <a:fld id="{0B9ABE89-CD5A-4DF5-92E2-05840E334FAA}" type="datetimeFigureOut">
              <a:rPr lang="zh-CN" altLang="en-US" smtClean="0"/>
              <a:t>2025-05-27</a:t>
            </a:fld>
            <a:endParaRPr lang="zh-CN" altLang="en-US"/>
          </a:p>
        </p:txBody>
      </p:sp>
      <p:sp>
        <p:nvSpPr>
          <p:cNvPr id="1048919" name="页脚占位符 7"/>
          <p:cNvSpPr>
            <a:spLocks noGrp="1"/>
          </p:cNvSpPr>
          <p:nvPr>
            <p:ph type="ftr" sz="quarter" idx="11"/>
          </p:nvPr>
        </p:nvSpPr>
        <p:spPr/>
        <p:txBody>
          <a:bodyPr/>
          <a:lstStyle/>
          <a:p>
            <a:endParaRPr lang="zh-CN" altLang="en-US"/>
          </a:p>
        </p:txBody>
      </p:sp>
      <p:sp>
        <p:nvSpPr>
          <p:cNvPr id="1048920" name="灯片编号占位符 8"/>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882" name="标题 1"/>
          <p:cNvSpPr>
            <a:spLocks noGrp="1"/>
          </p:cNvSpPr>
          <p:nvPr>
            <p:ph type="title"/>
          </p:nvPr>
        </p:nvSpPr>
        <p:spPr/>
        <p:txBody>
          <a:bodyPr/>
          <a:lstStyle/>
          <a:p>
            <a:r>
              <a:rPr lang="zh-CN" altLang="en-US"/>
              <a:t>单击此处编辑母版标题样式</a:t>
            </a:r>
          </a:p>
        </p:txBody>
      </p:sp>
      <p:sp>
        <p:nvSpPr>
          <p:cNvPr id="1048883" name="日期占位符 2"/>
          <p:cNvSpPr>
            <a:spLocks noGrp="1"/>
          </p:cNvSpPr>
          <p:nvPr>
            <p:ph type="dt" sz="half" idx="10"/>
          </p:nvPr>
        </p:nvSpPr>
        <p:spPr/>
        <p:txBody>
          <a:bodyPr/>
          <a:lstStyle/>
          <a:p>
            <a:fld id="{0B9ABE89-CD5A-4DF5-92E2-05840E334FAA}" type="datetimeFigureOut">
              <a:rPr lang="zh-CN" altLang="en-US" smtClean="0"/>
              <a:t>2025-05-27</a:t>
            </a:fld>
            <a:endParaRPr lang="zh-CN" altLang="en-US"/>
          </a:p>
        </p:txBody>
      </p:sp>
      <p:sp>
        <p:nvSpPr>
          <p:cNvPr id="1048884" name="页脚占位符 3"/>
          <p:cNvSpPr>
            <a:spLocks noGrp="1"/>
          </p:cNvSpPr>
          <p:nvPr>
            <p:ph type="ftr" sz="quarter" idx="11"/>
          </p:nvPr>
        </p:nvSpPr>
        <p:spPr/>
        <p:txBody>
          <a:bodyPr/>
          <a:lstStyle/>
          <a:p>
            <a:endParaRPr lang="zh-CN" altLang="en-US"/>
          </a:p>
        </p:txBody>
      </p:sp>
      <p:sp>
        <p:nvSpPr>
          <p:cNvPr id="1048885" name="灯片编号占位符 4"/>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604" name="日期占位符 1"/>
          <p:cNvSpPr>
            <a:spLocks noGrp="1"/>
          </p:cNvSpPr>
          <p:nvPr>
            <p:ph type="dt" sz="half" idx="10"/>
          </p:nvPr>
        </p:nvSpPr>
        <p:spPr/>
        <p:txBody>
          <a:bodyPr/>
          <a:lstStyle/>
          <a:p>
            <a:fld id="{0B9ABE89-CD5A-4DF5-92E2-05840E334FAA}" type="datetimeFigureOut">
              <a:rPr lang="zh-CN" altLang="en-US" smtClean="0"/>
              <a:t>2025-05-27</a:t>
            </a:fld>
            <a:endParaRPr lang="zh-CN" altLang="en-US"/>
          </a:p>
        </p:txBody>
      </p:sp>
      <p:sp>
        <p:nvSpPr>
          <p:cNvPr id="1048605" name="页脚占位符 2"/>
          <p:cNvSpPr>
            <a:spLocks noGrp="1"/>
          </p:cNvSpPr>
          <p:nvPr>
            <p:ph type="ftr" sz="quarter" idx="11"/>
          </p:nvPr>
        </p:nvSpPr>
        <p:spPr/>
        <p:txBody>
          <a:bodyPr/>
          <a:lstStyle/>
          <a:p>
            <a:endParaRPr lang="zh-CN" altLang="en-US"/>
          </a:p>
        </p:txBody>
      </p:sp>
      <p:sp>
        <p:nvSpPr>
          <p:cNvPr id="1048606" name="灯片编号占位符 3"/>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48921"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1048922"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923"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48924" name="日期占位符 4"/>
          <p:cNvSpPr>
            <a:spLocks noGrp="1"/>
          </p:cNvSpPr>
          <p:nvPr>
            <p:ph type="dt" sz="half" idx="10"/>
          </p:nvPr>
        </p:nvSpPr>
        <p:spPr/>
        <p:txBody>
          <a:bodyPr/>
          <a:lstStyle/>
          <a:p>
            <a:fld id="{0B9ABE89-CD5A-4DF5-92E2-05840E334FAA}" type="datetimeFigureOut">
              <a:rPr lang="zh-CN" altLang="en-US" smtClean="0"/>
              <a:t>2025-05-27</a:t>
            </a:fld>
            <a:endParaRPr lang="zh-CN" altLang="en-US"/>
          </a:p>
        </p:txBody>
      </p:sp>
      <p:sp>
        <p:nvSpPr>
          <p:cNvPr id="1048925" name="页脚占位符 5"/>
          <p:cNvSpPr>
            <a:spLocks noGrp="1"/>
          </p:cNvSpPr>
          <p:nvPr>
            <p:ph type="ftr" sz="quarter" idx="11"/>
          </p:nvPr>
        </p:nvSpPr>
        <p:spPr/>
        <p:txBody>
          <a:bodyPr/>
          <a:lstStyle/>
          <a:p>
            <a:endParaRPr lang="zh-CN" altLang="en-US"/>
          </a:p>
        </p:txBody>
      </p:sp>
      <p:sp>
        <p:nvSpPr>
          <p:cNvPr id="1048926" name="灯片编号占位符 6"/>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48891"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1048892"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1048893"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48894" name="日期占位符 4"/>
          <p:cNvSpPr>
            <a:spLocks noGrp="1"/>
          </p:cNvSpPr>
          <p:nvPr>
            <p:ph type="dt" sz="half" idx="10"/>
          </p:nvPr>
        </p:nvSpPr>
        <p:spPr/>
        <p:txBody>
          <a:bodyPr/>
          <a:lstStyle/>
          <a:p>
            <a:fld id="{0B9ABE89-CD5A-4DF5-92E2-05840E334FAA}" type="datetimeFigureOut">
              <a:rPr lang="zh-CN" altLang="en-US" smtClean="0"/>
              <a:t>2025-05-27</a:t>
            </a:fld>
            <a:endParaRPr lang="zh-CN" altLang="en-US"/>
          </a:p>
        </p:txBody>
      </p:sp>
      <p:sp>
        <p:nvSpPr>
          <p:cNvPr id="1048895" name="页脚占位符 5"/>
          <p:cNvSpPr>
            <a:spLocks noGrp="1"/>
          </p:cNvSpPr>
          <p:nvPr>
            <p:ph type="ftr" sz="quarter" idx="11"/>
          </p:nvPr>
        </p:nvSpPr>
        <p:spPr/>
        <p:txBody>
          <a:bodyPr/>
          <a:lstStyle/>
          <a:p>
            <a:endParaRPr lang="zh-CN" altLang="en-US"/>
          </a:p>
        </p:txBody>
      </p:sp>
      <p:sp>
        <p:nvSpPr>
          <p:cNvPr id="1048896" name="灯片编号占位符 6"/>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48897" name="标题 1"/>
          <p:cNvSpPr>
            <a:spLocks noGrp="1"/>
          </p:cNvSpPr>
          <p:nvPr>
            <p:ph type="title"/>
          </p:nvPr>
        </p:nvSpPr>
        <p:spPr/>
        <p:txBody>
          <a:bodyPr/>
          <a:lstStyle/>
          <a:p>
            <a:r>
              <a:rPr lang="zh-CN" altLang="en-US"/>
              <a:t>单击此处编辑母版标题样式</a:t>
            </a:r>
          </a:p>
        </p:txBody>
      </p:sp>
      <p:sp>
        <p:nvSpPr>
          <p:cNvPr id="1048898"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99" name="日期占位符 3"/>
          <p:cNvSpPr>
            <a:spLocks noGrp="1"/>
          </p:cNvSpPr>
          <p:nvPr>
            <p:ph type="dt" sz="half" idx="10"/>
          </p:nvPr>
        </p:nvSpPr>
        <p:spPr/>
        <p:txBody>
          <a:bodyPr/>
          <a:lstStyle/>
          <a:p>
            <a:fld id="{0B9ABE89-CD5A-4DF5-92E2-05840E334FAA}" type="datetimeFigureOut">
              <a:rPr lang="zh-CN" altLang="en-US" smtClean="0"/>
              <a:t>2025-05-27</a:t>
            </a:fld>
            <a:endParaRPr lang="zh-CN" altLang="en-US"/>
          </a:p>
        </p:txBody>
      </p:sp>
      <p:sp>
        <p:nvSpPr>
          <p:cNvPr id="1048900" name="页脚占位符 4"/>
          <p:cNvSpPr>
            <a:spLocks noGrp="1"/>
          </p:cNvSpPr>
          <p:nvPr>
            <p:ph type="ftr" sz="quarter" idx="11"/>
          </p:nvPr>
        </p:nvSpPr>
        <p:spPr/>
        <p:txBody>
          <a:bodyPr/>
          <a:lstStyle/>
          <a:p>
            <a:endParaRPr lang="zh-CN" altLang="en-US"/>
          </a:p>
        </p:txBody>
      </p:sp>
      <p:sp>
        <p:nvSpPr>
          <p:cNvPr id="1048901" name="灯片编号占位符 5"/>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48886"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1048887"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88" name="日期占位符 3"/>
          <p:cNvSpPr>
            <a:spLocks noGrp="1"/>
          </p:cNvSpPr>
          <p:nvPr>
            <p:ph type="dt" sz="half" idx="10"/>
          </p:nvPr>
        </p:nvSpPr>
        <p:spPr/>
        <p:txBody>
          <a:bodyPr/>
          <a:lstStyle/>
          <a:p>
            <a:fld id="{0B9ABE89-CD5A-4DF5-92E2-05840E334FAA}" type="datetimeFigureOut">
              <a:rPr lang="zh-CN" altLang="en-US" smtClean="0"/>
              <a:t>2025-05-27</a:t>
            </a:fld>
            <a:endParaRPr lang="zh-CN" altLang="en-US"/>
          </a:p>
        </p:txBody>
      </p:sp>
      <p:sp>
        <p:nvSpPr>
          <p:cNvPr id="1048889" name="页脚占位符 4"/>
          <p:cNvSpPr>
            <a:spLocks noGrp="1"/>
          </p:cNvSpPr>
          <p:nvPr>
            <p:ph type="ftr" sz="quarter" idx="11"/>
          </p:nvPr>
        </p:nvSpPr>
        <p:spPr/>
        <p:txBody>
          <a:bodyPr/>
          <a:lstStyle/>
          <a:p>
            <a:endParaRPr lang="zh-CN" altLang="en-US"/>
          </a:p>
        </p:txBody>
      </p:sp>
      <p:sp>
        <p:nvSpPr>
          <p:cNvPr id="1048890" name="灯片编号占位符 5"/>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1048577"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578"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ABE89-CD5A-4DF5-92E2-05840E334FAA}" type="datetimeFigureOut">
              <a:rPr lang="zh-CN" altLang="en-US" smtClean="0"/>
              <a:t>2025-05-27</a:t>
            </a:fld>
            <a:endParaRPr lang="zh-CN" altLang="en-US"/>
          </a:p>
        </p:txBody>
      </p:sp>
      <p:sp>
        <p:nvSpPr>
          <p:cNvPr id="1048579"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048580"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C6C6D9-0EAC-4A43-A0E6-1F06783EE0A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03864"/>
        </a:solidFill>
        <a:effectLst/>
      </p:bgPr>
    </p:bg>
    <p:spTree>
      <p:nvGrpSpPr>
        <p:cNvPr id="1" name=""/>
        <p:cNvGrpSpPr/>
        <p:nvPr/>
      </p:nvGrpSpPr>
      <p:grpSpPr>
        <a:xfrm>
          <a:off x="0" y="0"/>
          <a:ext cx="0" cy="0"/>
          <a:chOff x="0" y="0"/>
          <a:chExt cx="0" cy="0"/>
        </a:xfrm>
      </p:grpSpPr>
      <p:sp>
        <p:nvSpPr>
          <p:cNvPr id="1048934" name="标题 1"/>
          <p:cNvSpPr>
            <a:spLocks noGrp="1"/>
          </p:cNvSpPr>
          <p:nvPr>
            <p:ph type="ctrTitle"/>
          </p:nvPr>
        </p:nvSpPr>
        <p:spPr>
          <a:xfrm>
            <a:off x="1755627" y="1734739"/>
            <a:ext cx="8680739" cy="1647322"/>
          </a:xfrm>
        </p:spPr>
        <p:txBody>
          <a:bodyPr>
            <a:normAutofit/>
          </a:bodyPr>
          <a:lstStyle/>
          <a:p>
            <a:r>
              <a:rPr lang="zh-CN" altLang="en-US" sz="4000" b="1" dirty="0">
                <a:solidFill>
                  <a:schemeClr val="bg1"/>
                </a:solidFill>
                <a:latin typeface="微软雅黑" panose="020B0503020204020204" pitchFamily="34" charset="-122"/>
                <a:ea typeface="微软雅黑" panose="020B0503020204020204" pitchFamily="34" charset="-122"/>
              </a:rPr>
              <a:t>基于多相机的图像拼接</a:t>
            </a:r>
          </a:p>
        </p:txBody>
      </p:sp>
      <p:sp>
        <p:nvSpPr>
          <p:cNvPr id="1048936" name="内容占位符 2"/>
          <p:cNvSpPr txBox="1"/>
          <p:nvPr/>
        </p:nvSpPr>
        <p:spPr>
          <a:xfrm>
            <a:off x="1755627" y="486294"/>
            <a:ext cx="6620793" cy="57841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600" dirty="0">
                <a:solidFill>
                  <a:schemeClr val="bg1"/>
                </a:solidFill>
                <a:latin typeface="微软雅黑" panose="020B0503020204020204" pitchFamily="34" charset="-122"/>
                <a:ea typeface="微软雅黑" panose="020B0503020204020204" pitchFamily="34" charset="-122"/>
              </a:rPr>
              <a:t>组会汇报</a:t>
            </a:r>
            <a:endParaRPr lang="en-US" altLang="zh-CN" sz="1600" dirty="0">
              <a:solidFill>
                <a:schemeClr val="bg1"/>
              </a:solidFill>
              <a:latin typeface="微软雅黑" panose="020B0503020204020204" pitchFamily="34" charset="-122"/>
              <a:ea typeface="微软雅黑" panose="020B0503020204020204" pitchFamily="34" charset="-122"/>
            </a:endParaRPr>
          </a:p>
          <a:p>
            <a:pPr marL="0" indent="0">
              <a:buNone/>
            </a:pPr>
            <a:r>
              <a:rPr lang="en-US" altLang="zh-CN" sz="1600" dirty="0">
                <a:solidFill>
                  <a:schemeClr val="bg1"/>
                </a:solidFill>
                <a:latin typeface="微软雅黑" panose="020B0503020204020204" pitchFamily="34" charset="-122"/>
                <a:ea typeface="微软雅黑" panose="020B0503020204020204" pitchFamily="34" charset="-122"/>
              </a:rPr>
              <a:t>2025/3/25</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048938" name="内容占位符 3"/>
          <p:cNvSpPr txBox="1"/>
          <p:nvPr/>
        </p:nvSpPr>
        <p:spPr>
          <a:xfrm>
            <a:off x="3510967" y="3847467"/>
            <a:ext cx="5170067" cy="17635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pPr>
            <a:r>
              <a:rPr lang="en-US" altLang="zh-CN" sz="1400" b="1" dirty="0" err="1">
                <a:solidFill>
                  <a:schemeClr val="bg1"/>
                </a:solidFill>
                <a:latin typeface="Microsoft YaHei" panose="020B0503020204020204" pitchFamily="34" charset="-122"/>
                <a:ea typeface="Microsoft YaHei" panose="020B0503020204020204" pitchFamily="34" charset="-122"/>
              </a:rPr>
              <a:t>汇报人</a:t>
            </a:r>
            <a:r>
              <a:rPr lang="zh-CN" altLang="en-US" sz="1400" b="1" dirty="0">
                <a:solidFill>
                  <a:schemeClr val="bg1"/>
                </a:solidFill>
                <a:latin typeface="Microsoft YaHei" panose="020B0503020204020204" pitchFamily="34" charset="-122"/>
                <a:ea typeface="Microsoft YaHei" panose="020B0503020204020204" pitchFamily="34" charset="-122"/>
              </a:rPr>
              <a:t>：刘高峰</a:t>
            </a:r>
            <a:endParaRPr lang="en-US" altLang="zh-CN" sz="1400" b="1" dirty="0">
              <a:solidFill>
                <a:schemeClr val="bg1"/>
              </a:solidFill>
              <a:latin typeface="Microsoft YaHei" panose="020B0503020204020204" pitchFamily="34" charset="-122"/>
              <a:ea typeface="Microsoft YaHei" panose="020B0503020204020204" pitchFamily="34" charset="-122"/>
            </a:endParaRPr>
          </a:p>
          <a:p>
            <a:pPr marL="0" indent="0" algn="l">
              <a:lnSpc>
                <a:spcPct val="150000"/>
              </a:lnSpc>
              <a:buNone/>
            </a:pPr>
            <a:r>
              <a:rPr lang="zh-CN" altLang="en-US" sz="1400" b="1" dirty="0">
                <a:solidFill>
                  <a:schemeClr val="bg1"/>
                </a:solidFill>
                <a:latin typeface="Microsoft YaHei" panose="020B0503020204020204" pitchFamily="34" charset="-122"/>
                <a:ea typeface="Microsoft YaHei" panose="020B0503020204020204" pitchFamily="34" charset="-122"/>
              </a:rPr>
              <a:t>导师：曾文</a:t>
            </a:r>
            <a:endParaRPr lang="en-US" altLang="zh-CN" sz="1400" b="1" dirty="0">
              <a:solidFill>
                <a:schemeClr val="bg1"/>
              </a:solidFill>
              <a:latin typeface="Microsoft YaHei" panose="020B0503020204020204" pitchFamily="34" charset="-122"/>
              <a:ea typeface="Microsoft YaHei" panose="020B0503020204020204" pitchFamily="34" charset="-122"/>
            </a:endParaRPr>
          </a:p>
          <a:p>
            <a:pPr marL="0" indent="0" algn="l">
              <a:lnSpc>
                <a:spcPct val="150000"/>
              </a:lnSpc>
              <a:buNone/>
            </a:pPr>
            <a:r>
              <a:rPr lang="en-US" altLang="zh-CN" sz="1400" dirty="0" err="1">
                <a:solidFill>
                  <a:schemeClr val="bg1"/>
                </a:solidFill>
                <a:latin typeface="Microsoft YaHei" panose="020B0503020204020204" pitchFamily="34" charset="-122"/>
                <a:ea typeface="Microsoft YaHei" panose="020B0503020204020204" pitchFamily="34" charset="-122"/>
              </a:rPr>
              <a:t>中国地质大学（武汉</a:t>
            </a:r>
            <a:r>
              <a:rPr lang="en-US" altLang="zh-CN" sz="1400" dirty="0">
                <a:solidFill>
                  <a:schemeClr val="bg1"/>
                </a:solidFill>
                <a:latin typeface="Microsoft YaHei" panose="020B0503020204020204" pitchFamily="34" charset="-122"/>
                <a:ea typeface="Microsoft YaHei" panose="020B0503020204020204" pitchFamily="34" charset="-122"/>
              </a:rPr>
              <a:t>）</a:t>
            </a:r>
            <a:r>
              <a:rPr lang="zh-CN" altLang="en-US" sz="1400" dirty="0">
                <a:solidFill>
                  <a:schemeClr val="bg1"/>
                </a:solidFill>
                <a:latin typeface="Microsoft YaHei" panose="020B0503020204020204" pitchFamily="34" charset="-122"/>
                <a:ea typeface="Microsoft YaHei" panose="020B0503020204020204" pitchFamily="34" charset="-122"/>
              </a:rPr>
              <a:t>地理与信息工程学院</a:t>
            </a:r>
            <a:endParaRPr lang="en-US" altLang="zh-CN" sz="1400" dirty="0">
              <a:solidFill>
                <a:schemeClr val="bg1"/>
              </a:solidFill>
              <a:latin typeface="Microsoft YaHei" panose="020B0503020204020204" pitchFamily="34" charset="-122"/>
              <a:ea typeface="Microsoft YaHei" panose="020B0503020204020204" pitchFamily="34" charset="-122"/>
            </a:endParaRPr>
          </a:p>
          <a:p>
            <a:pPr marL="0" indent="0" algn="l">
              <a:lnSpc>
                <a:spcPct val="150000"/>
              </a:lnSpc>
              <a:buNone/>
            </a:pPr>
            <a:r>
              <a:rPr lang="en-US" altLang="zh-CN" sz="1400" dirty="0" err="1">
                <a:solidFill>
                  <a:schemeClr val="bg1"/>
                </a:solidFill>
                <a:latin typeface="Microsoft YaHei" panose="020B0503020204020204" pitchFamily="34" charset="-122"/>
                <a:ea typeface="Microsoft YaHei" panose="020B0503020204020204" pitchFamily="34" charset="-122"/>
              </a:rPr>
              <a:t>高性能空间计算智能实验室（HPSCIL</a:t>
            </a:r>
            <a:r>
              <a:rPr lang="en-US" altLang="zh-CN" sz="1400" dirty="0">
                <a:solidFill>
                  <a:schemeClr val="bg1"/>
                </a:solidFill>
                <a:latin typeface="Microsoft YaHei" panose="020B0503020204020204" pitchFamily="34" charset="-122"/>
                <a:ea typeface="Microsoft YaHei" panose="020B0503020204020204" pitchFamily="34" charset="-122"/>
              </a:rPr>
              <a:t>）</a:t>
            </a:r>
          </a:p>
        </p:txBody>
      </p:sp>
      <p:cxnSp>
        <p:nvCxnSpPr>
          <p:cNvPr id="3145768" name="直接连接符 6"/>
          <p:cNvCxnSpPr>
            <a:cxnSpLocks/>
          </p:cNvCxnSpPr>
          <p:nvPr/>
        </p:nvCxnSpPr>
        <p:spPr>
          <a:xfrm>
            <a:off x="823527" y="3710152"/>
            <a:ext cx="106200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3" name="组合 11"/>
          <p:cNvGrpSpPr/>
          <p:nvPr/>
        </p:nvGrpSpPr>
        <p:grpSpPr>
          <a:xfrm>
            <a:off x="623964" y="217522"/>
            <a:ext cx="11445869" cy="6422955"/>
            <a:chOff x="364884" y="179406"/>
            <a:chExt cx="11445869" cy="6422955"/>
          </a:xfrm>
        </p:grpSpPr>
        <p:pic>
          <p:nvPicPr>
            <p:cNvPr id="2097208" name="图片 8"/>
            <p:cNvPicPr>
              <a:picLocks noChangeAspect="1"/>
            </p:cNvPicPr>
            <p:nvPr/>
          </p:nvPicPr>
          <p:blipFill>
            <a:blip r:embed="rId3" cstate="print"/>
            <a:stretch>
              <a:fillRect/>
            </a:stretch>
          </p:blipFill>
          <p:spPr>
            <a:xfrm>
              <a:off x="364884" y="179406"/>
              <a:ext cx="1192193" cy="1192193"/>
            </a:xfrm>
            <a:prstGeom prst="rect">
              <a:avLst/>
            </a:prstGeom>
          </p:spPr>
        </p:pic>
        <p:sp>
          <p:nvSpPr>
            <p:cNvPr id="1048940" name="TextBox 1"/>
            <p:cNvSpPr txBox="1"/>
            <p:nvPr/>
          </p:nvSpPr>
          <p:spPr>
            <a:xfrm>
              <a:off x="3253043" y="6259766"/>
              <a:ext cx="5685906" cy="307777"/>
            </a:xfrm>
            <a:prstGeom prst="rect">
              <a:avLst/>
            </a:prstGeom>
            <a:noFill/>
          </p:spPr>
          <p:txBody>
            <a:bodyPr wrap="square" rtlCol="0">
              <a:spAutoFit/>
            </a:bodyPr>
            <a:lstStyle/>
            <a:p>
              <a:r>
                <a:rPr lang="en-AU" sz="1400" dirty="0">
                  <a:solidFill>
                    <a:schemeClr val="bg1">
                      <a:lumMod val="75000"/>
                    </a:schemeClr>
                  </a:solidFill>
                  <a:latin typeface="微软雅黑 Light" panose="020B0502040204020203" pitchFamily="34" charset="-122"/>
                  <a:ea typeface="微软雅黑 Light" panose="020B0502040204020203" pitchFamily="34" charset="-122"/>
                </a:rPr>
                <a:t>High-</a:t>
              </a:r>
              <a:r>
                <a:rPr lang="en-AU" sz="1400" dirty="0" err="1">
                  <a:solidFill>
                    <a:schemeClr val="bg1">
                      <a:lumMod val="75000"/>
                    </a:schemeClr>
                  </a:solidFill>
                  <a:latin typeface="微软雅黑 Light" panose="020B0502040204020203" pitchFamily="34" charset="-122"/>
                  <a:ea typeface="微软雅黑 Light" panose="020B0502040204020203" pitchFamily="34" charset="-122"/>
                </a:rPr>
                <a:t>performanceSpatialComputationalIntelligenceLab</a:t>
              </a:r>
              <a:r>
                <a:rPr lang="en-US" altLang="zh-CN" sz="1400" dirty="0">
                  <a:solidFill>
                    <a:schemeClr val="bg1">
                      <a:lumMod val="75000"/>
                    </a:schemeClr>
                  </a:solidFill>
                  <a:latin typeface="微软雅黑 Light" panose="020B0502040204020203" pitchFamily="34" charset="-122"/>
                  <a:ea typeface="微软雅黑 Light" panose="020B0502040204020203" pitchFamily="34" charset="-122"/>
                </a:rPr>
                <a:t>@CUG</a:t>
              </a:r>
              <a:endParaRPr lang="en-AU" sz="1400" dirty="0">
                <a:solidFill>
                  <a:schemeClr val="bg1">
                    <a:lumMod val="75000"/>
                  </a:schemeClr>
                </a:solidFill>
                <a:latin typeface="微软雅黑 Light" panose="020B0502040204020203" pitchFamily="34" charset="-122"/>
                <a:ea typeface="微软雅黑 Light" panose="020B0502040204020203" pitchFamily="34" charset="-122"/>
              </a:endParaRPr>
            </a:p>
          </p:txBody>
        </p:sp>
        <p:pic>
          <p:nvPicPr>
            <p:cNvPr id="2097210" name="图片 10"/>
            <p:cNvPicPr>
              <a:picLocks noChangeAspect="1"/>
            </p:cNvPicPr>
            <p:nvPr/>
          </p:nvPicPr>
          <p:blipFill>
            <a:blip r:embed="rId4" cstate="print"/>
            <a:stretch>
              <a:fillRect/>
            </a:stretch>
          </p:blipFill>
          <p:spPr>
            <a:xfrm>
              <a:off x="10675917" y="5858179"/>
              <a:ext cx="1134836" cy="744182"/>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Freeform 6"/>
          <p:cNvSpPr/>
          <p:nvPr/>
        </p:nvSpPr>
        <p:spPr bwMode="auto">
          <a:xfrm>
            <a:off x="335" y="5555848"/>
            <a:ext cx="12191331" cy="1301962"/>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accent5">
              <a:lumMod val="50000"/>
            </a:schemeClr>
          </a:solidFill>
          <a:ln w="0">
            <a:noFill/>
            <a:prstDash val="solid"/>
            <a:round/>
            <a:headEnd/>
            <a:tailEnd/>
          </a:ln>
        </p:spPr>
        <p:txBody>
          <a:bodyPr vert="horz" wrap="square" lIns="121913" tIns="60956" rIns="121913" bIns="60956" numCol="1" anchor="t" anchorCtr="0" compatLnSpc="1">
            <a:prstTxWarp prst="textNoShape">
              <a:avLst/>
            </a:prstTxWarp>
          </a:bodyPr>
          <a:lstStyle/>
          <a:p>
            <a:endParaRPr lang="zh-CN" altLang="en-US" sz="1707"/>
          </a:p>
        </p:txBody>
      </p:sp>
      <p:sp>
        <p:nvSpPr>
          <p:cNvPr id="1048596" name="Freeform 7"/>
          <p:cNvSpPr/>
          <p:nvPr/>
        </p:nvSpPr>
        <p:spPr bwMode="auto">
          <a:xfrm>
            <a:off x="0" y="5308161"/>
            <a:ext cx="12191331" cy="495373"/>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accent5">
              <a:lumMod val="50000"/>
            </a:schemeClr>
          </a:solidFill>
          <a:ln w="0">
            <a:noFill/>
            <a:prstDash val="solid"/>
            <a:round/>
            <a:headEnd/>
            <a:tailEnd/>
          </a:ln>
        </p:spPr>
        <p:txBody>
          <a:bodyPr vert="horz" wrap="square" lIns="121913" tIns="60956" rIns="121913" bIns="60956" numCol="1" anchor="t" anchorCtr="0" compatLnSpc="1">
            <a:prstTxWarp prst="textNoShape">
              <a:avLst/>
            </a:prstTxWarp>
          </a:bodyPr>
          <a:lstStyle/>
          <a:p>
            <a:endParaRPr lang="zh-CN" altLang="en-US" sz="1707"/>
          </a:p>
        </p:txBody>
      </p:sp>
      <p:sp>
        <p:nvSpPr>
          <p:cNvPr id="1048597" name="灯片编号占位符 6"/>
          <p:cNvSpPr>
            <a:spLocks noGrp="1"/>
          </p:cNvSpPr>
          <p:nvPr>
            <p:ph type="sldNum" sz="quarter" idx="12"/>
          </p:nvPr>
        </p:nvSpPr>
        <p:spPr>
          <a:xfrm>
            <a:off x="8610600" y="6356350"/>
            <a:ext cx="2743200" cy="365125"/>
          </a:xfrm>
        </p:spPr>
        <p:txBody>
          <a:bodyPr/>
          <a:lstStyle>
            <a:lvl1pPr>
              <a:defRPr>
                <a:solidFill>
                  <a:schemeClr val="bg1"/>
                </a:solidFill>
                <a:latin typeface="黑体" panose="02010609060101010101" pitchFamily="49" charset="-122"/>
                <a:ea typeface="黑体" panose="02010609060101010101" pitchFamily="49" charset="-122"/>
              </a:defRPr>
            </a:lvl1pPr>
          </a:lstStyle>
          <a:p>
            <a:r>
              <a:rPr lang="en-US" altLang="zh-CN"/>
              <a:t>1</a:t>
            </a:r>
            <a:endParaRPr lang="zh-CN" altLang="en-US" dirty="0"/>
          </a:p>
        </p:txBody>
      </p:sp>
      <p:sp>
        <p:nvSpPr>
          <p:cNvPr id="1048598" name="TextBox 1"/>
          <p:cNvSpPr txBox="1"/>
          <p:nvPr/>
        </p:nvSpPr>
        <p:spPr>
          <a:xfrm>
            <a:off x="3931920" y="6178104"/>
            <a:ext cx="5685906" cy="307777"/>
          </a:xfrm>
          <a:prstGeom prst="rect">
            <a:avLst/>
          </a:prstGeom>
          <a:noFill/>
        </p:spPr>
        <p:txBody>
          <a:bodyPr wrap="square" rtlCol="0">
            <a:spAutoFit/>
          </a:bodyPr>
          <a:lstStyle/>
          <a:p>
            <a:r>
              <a:rPr lang="en-AU" sz="1400" dirty="0">
                <a:solidFill>
                  <a:schemeClr val="bg1">
                    <a:lumMod val="75000"/>
                  </a:schemeClr>
                </a:solidFill>
              </a:rPr>
              <a:t>High-</a:t>
            </a:r>
            <a:r>
              <a:rPr lang="en-AU" sz="1400" dirty="0" err="1">
                <a:solidFill>
                  <a:schemeClr val="bg1">
                    <a:lumMod val="75000"/>
                  </a:schemeClr>
                </a:solidFill>
              </a:rPr>
              <a:t>performanceSpatialComputationalIntelligenceLab</a:t>
            </a:r>
            <a:r>
              <a:rPr lang="en-US" altLang="zh-CN" sz="1400" dirty="0">
                <a:solidFill>
                  <a:schemeClr val="bg1">
                    <a:lumMod val="75000"/>
                  </a:schemeClr>
                </a:solidFill>
              </a:rPr>
              <a:t>@CUG</a:t>
            </a:r>
            <a:endParaRPr lang="en-AU" sz="1400" dirty="0">
              <a:solidFill>
                <a:schemeClr val="bg1">
                  <a:lumMod val="75000"/>
                </a:schemeClr>
              </a:solidFill>
            </a:endParaRPr>
          </a:p>
        </p:txBody>
      </p:sp>
      <p:pic>
        <p:nvPicPr>
          <p:cNvPr id="2097154" name="图片 19"/>
          <p:cNvPicPr>
            <a:picLocks noChangeAspect="1"/>
          </p:cNvPicPr>
          <p:nvPr/>
        </p:nvPicPr>
        <p:blipFill>
          <a:blip r:embed="rId3" cstate="print"/>
          <a:stretch>
            <a:fillRect/>
          </a:stretch>
        </p:blipFill>
        <p:spPr>
          <a:xfrm>
            <a:off x="2873829" y="5858179"/>
            <a:ext cx="1134836" cy="744182"/>
          </a:xfrm>
          <a:prstGeom prst="rect">
            <a:avLst/>
          </a:prstGeom>
        </p:spPr>
      </p:pic>
      <p:sp>
        <p:nvSpPr>
          <p:cNvPr id="1048599" name="Freeform 6"/>
          <p:cNvSpPr/>
          <p:nvPr/>
        </p:nvSpPr>
        <p:spPr bwMode="auto">
          <a:xfrm>
            <a:off x="335" y="5555848"/>
            <a:ext cx="12191331" cy="1301962"/>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rgbClr val="203864"/>
          </a:solidFill>
          <a:ln w="0">
            <a:noFill/>
            <a:prstDash val="solid"/>
            <a:round/>
            <a:headEnd/>
            <a:tailEnd/>
          </a:ln>
        </p:spPr>
        <p:txBody>
          <a:bodyPr vert="horz" wrap="square" lIns="121913" tIns="60956" rIns="121913" bIns="60956" numCol="1" anchor="t" anchorCtr="0" compatLnSpc="1">
            <a:prstTxWarp prst="textNoShape">
              <a:avLst/>
            </a:prstTxWarp>
          </a:bodyPr>
          <a:lstStyle/>
          <a:p>
            <a:endParaRPr lang="zh-CN" altLang="en-US" sz="1707"/>
          </a:p>
        </p:txBody>
      </p:sp>
      <p:sp>
        <p:nvSpPr>
          <p:cNvPr id="1048600" name="Freeform 7"/>
          <p:cNvSpPr/>
          <p:nvPr/>
        </p:nvSpPr>
        <p:spPr bwMode="auto">
          <a:xfrm>
            <a:off x="0" y="5308161"/>
            <a:ext cx="12191331" cy="495373"/>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rgbClr val="203864"/>
          </a:solidFill>
          <a:ln w="0">
            <a:noFill/>
            <a:prstDash val="solid"/>
            <a:round/>
            <a:headEnd/>
            <a:tailEnd/>
          </a:ln>
        </p:spPr>
        <p:txBody>
          <a:bodyPr vert="horz" wrap="square" lIns="121913" tIns="60956" rIns="121913" bIns="60956" numCol="1" anchor="t" anchorCtr="0" compatLnSpc="1">
            <a:prstTxWarp prst="textNoShape">
              <a:avLst/>
            </a:prstTxWarp>
          </a:bodyPr>
          <a:lstStyle/>
          <a:p>
            <a:endParaRPr lang="zh-CN" altLang="en-US" sz="1707"/>
          </a:p>
        </p:txBody>
      </p:sp>
      <p:sp>
        <p:nvSpPr>
          <p:cNvPr id="1048601" name="TextBox 1"/>
          <p:cNvSpPr txBox="1"/>
          <p:nvPr/>
        </p:nvSpPr>
        <p:spPr>
          <a:xfrm>
            <a:off x="3931920" y="6178104"/>
            <a:ext cx="5685906" cy="307777"/>
          </a:xfrm>
          <a:prstGeom prst="rect">
            <a:avLst/>
          </a:prstGeom>
          <a:noFill/>
        </p:spPr>
        <p:txBody>
          <a:bodyPr wrap="square" rtlCol="0">
            <a:spAutoFit/>
          </a:bodyPr>
          <a:lstStyle/>
          <a:p>
            <a:r>
              <a:rPr lang="en-AU" sz="1400" dirty="0">
                <a:solidFill>
                  <a:schemeClr val="bg1">
                    <a:lumMod val="75000"/>
                  </a:schemeClr>
                </a:solidFill>
                <a:latin typeface="微软雅黑 Light" panose="020B0502040204020203" pitchFamily="34" charset="-122"/>
                <a:ea typeface="微软雅黑 Light" panose="020B0502040204020203" pitchFamily="34" charset="-122"/>
              </a:rPr>
              <a:t>High-</a:t>
            </a:r>
            <a:r>
              <a:rPr lang="en-AU" sz="1400" dirty="0" err="1">
                <a:solidFill>
                  <a:schemeClr val="bg1">
                    <a:lumMod val="75000"/>
                  </a:schemeClr>
                </a:solidFill>
                <a:latin typeface="微软雅黑 Light" panose="020B0502040204020203" pitchFamily="34" charset="-122"/>
                <a:ea typeface="微软雅黑 Light" panose="020B0502040204020203" pitchFamily="34" charset="-122"/>
              </a:rPr>
              <a:t>performanceSpatialComputationalIntelligenceLab</a:t>
            </a:r>
            <a:r>
              <a:rPr lang="en-US" altLang="zh-CN" sz="1400" dirty="0">
                <a:solidFill>
                  <a:schemeClr val="bg1">
                    <a:lumMod val="75000"/>
                  </a:schemeClr>
                </a:solidFill>
                <a:latin typeface="微软雅黑 Light" panose="020B0502040204020203" pitchFamily="34" charset="-122"/>
                <a:ea typeface="微软雅黑 Light" panose="020B0502040204020203" pitchFamily="34" charset="-122"/>
              </a:rPr>
              <a:t>@CUG</a:t>
            </a:r>
            <a:endParaRPr lang="en-AU" sz="1400" dirty="0">
              <a:solidFill>
                <a:schemeClr val="bg1">
                  <a:lumMod val="75000"/>
                </a:schemeClr>
              </a:solidFill>
              <a:latin typeface="微软雅黑 Light" panose="020B0502040204020203" pitchFamily="34" charset="-122"/>
              <a:ea typeface="微软雅黑 Light" panose="020B0502040204020203" pitchFamily="34" charset="-122"/>
            </a:endParaRPr>
          </a:p>
        </p:txBody>
      </p:sp>
      <p:pic>
        <p:nvPicPr>
          <p:cNvPr id="2097155" name="图片 23"/>
          <p:cNvPicPr>
            <a:picLocks noChangeAspect="1"/>
          </p:cNvPicPr>
          <p:nvPr/>
        </p:nvPicPr>
        <p:blipFill>
          <a:blip r:embed="rId3" cstate="print"/>
          <a:stretch>
            <a:fillRect/>
          </a:stretch>
        </p:blipFill>
        <p:spPr>
          <a:xfrm>
            <a:off x="2873829" y="5858179"/>
            <a:ext cx="1134836" cy="744182"/>
          </a:xfrm>
          <a:prstGeom prst="rect">
            <a:avLst/>
          </a:prstGeom>
        </p:spPr>
      </p:pic>
      <p:sp>
        <p:nvSpPr>
          <p:cNvPr id="1048602" name="文本框 24"/>
          <p:cNvSpPr txBox="1"/>
          <p:nvPr/>
        </p:nvSpPr>
        <p:spPr>
          <a:xfrm>
            <a:off x="1510018" y="2359727"/>
            <a:ext cx="3097485" cy="769441"/>
          </a:xfrm>
          <a:prstGeom prst="rect">
            <a:avLst/>
          </a:prstGeom>
          <a:noFill/>
        </p:spPr>
        <p:txBody>
          <a:bodyPr wrap="square" rtlCol="0">
            <a:spAutoFit/>
          </a:bodyPr>
          <a:lstStyle/>
          <a:p>
            <a:pPr algn="ctr"/>
            <a:r>
              <a:rPr lang="zh-CN" altLang="en-US" sz="4400" b="1" kern="1200" dirty="0">
                <a:solidFill>
                  <a:schemeClr val="tx1">
                    <a:lumMod val="75000"/>
                    <a:lumOff val="25000"/>
                  </a:schemeClr>
                </a:solidFill>
                <a:latin typeface="Microsoft YaHei" panose="020B0503020204020204" pitchFamily="34" charset="-122"/>
                <a:ea typeface="Microsoft YaHei" panose="020B0503020204020204" pitchFamily="34" charset="-122"/>
                <a:cs typeface="+mj-cs"/>
              </a:rPr>
              <a:t>目录</a:t>
            </a:r>
          </a:p>
        </p:txBody>
      </p:sp>
      <p:sp>
        <p:nvSpPr>
          <p:cNvPr id="1048603" name="矩形 27"/>
          <p:cNvSpPr/>
          <p:nvPr/>
        </p:nvSpPr>
        <p:spPr>
          <a:xfrm>
            <a:off x="5257800" y="1250180"/>
            <a:ext cx="6477000" cy="3316292"/>
          </a:xfrm>
          <a:prstGeom prst="rect">
            <a:avLst/>
          </a:prstGeom>
        </p:spPr>
        <p:txBody>
          <a:bodyPr wrap="square">
            <a:spAutoFit/>
          </a:bodyPr>
          <a:lstStyle/>
          <a:p>
            <a:pPr marL="228600" lvl="0" indent="-228600">
              <a:lnSpc>
                <a:spcPct val="150000"/>
              </a:lnSpc>
              <a:spcBef>
                <a:spcPts val="1000"/>
              </a:spcBef>
              <a:buFont typeface="Arial" panose="020B0604020202020204" pitchFamily="34" charset="0"/>
              <a:buChar char="•"/>
            </a:pPr>
            <a:r>
              <a:rPr lang="en-US" altLang="zh-CN" sz="3200" dirty="0">
                <a:solidFill>
                  <a:srgbClr val="203864"/>
                </a:solidFill>
                <a:latin typeface="宋体" panose="02010600030101010101" pitchFamily="2" charset="-122"/>
                <a:ea typeface="宋体" panose="02010600030101010101" pitchFamily="2" charset="-122"/>
              </a:rPr>
              <a:t>01</a:t>
            </a:r>
            <a:r>
              <a:rPr lang="zh-CN" altLang="en-US" sz="3200" dirty="0">
                <a:solidFill>
                  <a:srgbClr val="203864"/>
                </a:solidFill>
                <a:latin typeface="宋体" panose="02010600030101010101" pitchFamily="2" charset="-122"/>
                <a:ea typeface="宋体" panose="02010600030101010101" pitchFamily="2" charset="-122"/>
              </a:rPr>
              <a:t>研究背景</a:t>
            </a:r>
            <a:endParaRPr lang="en-US" altLang="zh-CN" sz="3200" dirty="0">
              <a:solidFill>
                <a:srgbClr val="203864"/>
              </a:solidFill>
              <a:latin typeface="宋体" panose="02010600030101010101" pitchFamily="2" charset="-122"/>
              <a:ea typeface="宋体" panose="02010600030101010101" pitchFamily="2" charset="-122"/>
            </a:endParaRPr>
          </a:p>
          <a:p>
            <a:pPr marL="228600" lvl="0" indent="-228600">
              <a:lnSpc>
                <a:spcPct val="150000"/>
              </a:lnSpc>
              <a:spcBef>
                <a:spcPts val="1000"/>
              </a:spcBef>
              <a:buFont typeface="Arial" panose="020B0604020202020204" pitchFamily="34" charset="0"/>
              <a:buChar char="•"/>
            </a:pPr>
            <a:r>
              <a:rPr lang="en-US" altLang="zh-CN" sz="3200" dirty="0">
                <a:solidFill>
                  <a:srgbClr val="203864"/>
                </a:solidFill>
                <a:latin typeface="宋体" panose="02010600030101010101" pitchFamily="2" charset="-122"/>
                <a:ea typeface="宋体" panose="02010600030101010101" pitchFamily="2" charset="-122"/>
              </a:rPr>
              <a:t>02</a:t>
            </a:r>
            <a:r>
              <a:rPr lang="zh-CN" altLang="en-US" sz="3200" dirty="0">
                <a:solidFill>
                  <a:srgbClr val="203864"/>
                </a:solidFill>
                <a:latin typeface="宋体" panose="02010600030101010101" pitchFamily="2" charset="-122"/>
                <a:ea typeface="宋体" panose="02010600030101010101" pitchFamily="2" charset="-122"/>
              </a:rPr>
              <a:t>参考文献</a:t>
            </a:r>
            <a:endParaRPr lang="en-US" altLang="zh-CN" sz="3200" dirty="0">
              <a:solidFill>
                <a:srgbClr val="203864"/>
              </a:solidFill>
              <a:latin typeface="宋体" panose="02010600030101010101" pitchFamily="2" charset="-122"/>
              <a:ea typeface="宋体" panose="02010600030101010101" pitchFamily="2" charset="-122"/>
            </a:endParaRPr>
          </a:p>
          <a:p>
            <a:pPr marL="228600" lvl="0" indent="-228600">
              <a:lnSpc>
                <a:spcPct val="150000"/>
              </a:lnSpc>
              <a:spcBef>
                <a:spcPts val="1000"/>
              </a:spcBef>
              <a:buFont typeface="Arial" panose="020B0604020202020204" pitchFamily="34" charset="0"/>
              <a:buChar char="•"/>
            </a:pPr>
            <a:r>
              <a:rPr lang="en-US" altLang="zh-CN" sz="3200" dirty="0">
                <a:solidFill>
                  <a:srgbClr val="203864"/>
                </a:solidFill>
                <a:latin typeface="宋体" panose="02010600030101010101" pitchFamily="2" charset="-122"/>
                <a:ea typeface="宋体" panose="02010600030101010101" pitchFamily="2" charset="-122"/>
              </a:rPr>
              <a:t>03</a:t>
            </a:r>
            <a:r>
              <a:rPr lang="zh-CN" altLang="en-US" sz="3200" dirty="0">
                <a:solidFill>
                  <a:srgbClr val="203864"/>
                </a:solidFill>
                <a:latin typeface="宋体" panose="02010600030101010101" pitchFamily="2" charset="-122"/>
                <a:ea typeface="宋体" panose="02010600030101010101" pitchFamily="2" charset="-122"/>
              </a:rPr>
              <a:t>实验结果</a:t>
            </a:r>
            <a:endParaRPr lang="en-US" altLang="zh-CN" sz="3200" dirty="0">
              <a:solidFill>
                <a:srgbClr val="203864"/>
              </a:solidFill>
              <a:latin typeface="宋体" panose="02010600030101010101" pitchFamily="2" charset="-122"/>
              <a:ea typeface="宋体" panose="02010600030101010101" pitchFamily="2" charset="-122"/>
            </a:endParaRPr>
          </a:p>
          <a:p>
            <a:pPr marL="228600" indent="-228600">
              <a:lnSpc>
                <a:spcPct val="150000"/>
              </a:lnSpc>
              <a:spcBef>
                <a:spcPts val="1000"/>
              </a:spcBef>
              <a:buFont typeface="Arial" panose="020B0604020202020204" pitchFamily="34" charset="0"/>
              <a:buChar char="•"/>
            </a:pPr>
            <a:r>
              <a:rPr lang="en-US" altLang="zh-CN" sz="3200" dirty="0">
                <a:solidFill>
                  <a:srgbClr val="203864"/>
                </a:solidFill>
                <a:latin typeface="宋体" panose="02010600030101010101" pitchFamily="2" charset="-122"/>
                <a:ea typeface="宋体" panose="02010600030101010101" pitchFamily="2" charset="-122"/>
              </a:rPr>
              <a:t>04</a:t>
            </a:r>
            <a:r>
              <a:rPr lang="zh-CN" altLang="en-US" sz="3200" dirty="0">
                <a:solidFill>
                  <a:srgbClr val="203864"/>
                </a:solidFill>
                <a:latin typeface="宋体" panose="02010600030101010101" pitchFamily="2" charset="-122"/>
                <a:ea typeface="宋体" panose="02010600030101010101" pitchFamily="2" charset="-122"/>
              </a:rPr>
              <a:t>后续计划</a:t>
            </a:r>
            <a:endParaRPr lang="en-US" altLang="zh-CN" sz="3200" dirty="0">
              <a:solidFill>
                <a:srgbClr val="203864"/>
              </a:solidFill>
              <a:latin typeface="宋体" panose="02010600030101010101" pitchFamily="2" charset="-122"/>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8" name="标题 1"/>
          <p:cNvSpPr txBox="1"/>
          <p:nvPr/>
        </p:nvSpPr>
        <p:spPr>
          <a:xfrm>
            <a:off x="2150630" y="296863"/>
            <a:ext cx="3801595"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mj-lt"/>
                <a:ea typeface="华文中宋" panose="02010600040101010101" pitchFamily="2" charset="-122"/>
              </a:rPr>
              <a:t>研究背景</a:t>
            </a:r>
          </a:p>
        </p:txBody>
      </p:sp>
      <p:sp>
        <p:nvSpPr>
          <p:cNvPr id="1048679" name="等腰三角形 3"/>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pic>
        <p:nvPicPr>
          <p:cNvPr id="2097166" name="图片 5"/>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p:cNvCxnSpPr/>
          <p:nvPr/>
        </p:nvCxnSpPr>
        <p:spPr>
          <a:xfrm>
            <a:off x="2196000" y="936000"/>
            <a:ext cx="8280000" cy="0"/>
          </a:xfrm>
          <a:prstGeom prst="line">
            <a:avLst/>
          </a:prstGeom>
          <a:ln w="41275">
            <a:solidFill>
              <a:schemeClr val="accent1">
                <a:lumMod val="50000"/>
              </a:schemeClr>
            </a:solidFill>
          </a:ln>
        </p:spPr>
        <p:style>
          <a:lnRef idx="1">
            <a:schemeClr val="dk1"/>
          </a:lnRef>
          <a:fillRef idx="0">
            <a:schemeClr val="dk1"/>
          </a:fillRef>
          <a:effectRef idx="0">
            <a:schemeClr val="dk1"/>
          </a:effectRef>
          <a:fontRef idx="minor">
            <a:schemeClr val="tx1"/>
          </a:fontRef>
        </p:style>
      </p:cxnSp>
      <p:sp>
        <p:nvSpPr>
          <p:cNvPr id="3" name="灯片编号占位符 2"/>
          <p:cNvSpPr>
            <a:spLocks noGrp="1"/>
          </p:cNvSpPr>
          <p:nvPr>
            <p:ph type="sldNum" sz="quarter" idx="12"/>
          </p:nvPr>
        </p:nvSpPr>
        <p:spPr/>
        <p:txBody>
          <a:bodyPr/>
          <a:lstStyle/>
          <a:p>
            <a:fld id="{4C728F51-6063-40BC-906F-D6FBF0AE26BF}" type="slidenum">
              <a:rPr lang="zh-CN" altLang="en-US" smtClean="0"/>
              <a:t>3</a:t>
            </a:fld>
            <a:endParaRPr lang="zh-CN" altLang="en-US"/>
          </a:p>
        </p:txBody>
      </p:sp>
      <p:sp>
        <p:nvSpPr>
          <p:cNvPr id="13" name="文本占位符 2"/>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01</a:t>
            </a:r>
            <a:endParaRPr lang="zh-CN" altLang="en-US" dirty="0">
              <a:latin typeface="+mn-lt"/>
              <a:ea typeface="华文中宋" panose="02010600040101010101" pitchFamily="2" charset="-122"/>
            </a:endParaRPr>
          </a:p>
        </p:txBody>
      </p:sp>
      <p:sp>
        <p:nvSpPr>
          <p:cNvPr id="2" name="文本框 1">
            <a:extLst>
              <a:ext uri="{FF2B5EF4-FFF2-40B4-BE49-F238E27FC236}">
                <a16:creationId xmlns:a16="http://schemas.microsoft.com/office/drawing/2014/main" id="{B6852E36-D523-A6AC-34F5-2AE6977A9BF2}"/>
              </a:ext>
            </a:extLst>
          </p:cNvPr>
          <p:cNvSpPr txBox="1"/>
          <p:nvPr/>
        </p:nvSpPr>
        <p:spPr>
          <a:xfrm>
            <a:off x="459276" y="1259841"/>
            <a:ext cx="6002484" cy="4524315"/>
          </a:xfrm>
          <a:prstGeom prst="rect">
            <a:avLst/>
          </a:prstGeom>
          <a:noFill/>
        </p:spPr>
        <p:txBody>
          <a:bodyPr wrap="square" rtlCol="0">
            <a:spAutoFit/>
          </a:bodyPr>
          <a:lstStyle/>
          <a:p>
            <a:r>
              <a:rPr lang="zh-CN" altLang="en-US" dirty="0"/>
              <a:t>图像拼接是将重叠区域的图像合并成具有宽视角和高分辨率的图像的过程。近年来，图像拼接技术得到了迅速发展。 它</a:t>
            </a:r>
            <a:r>
              <a:rPr lang="zh-CN" altLang="en-US"/>
              <a:t>已成为数字</a:t>
            </a:r>
            <a:r>
              <a:rPr lang="zh-CN" altLang="en-US" dirty="0"/>
              <a:t>图像处理领域的一个重要分支，并有着广泛的应用。 </a:t>
            </a:r>
            <a:r>
              <a:rPr lang="en-US" altLang="zh-CN" dirty="0"/>
              <a:t>【1】</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pic>
        <p:nvPicPr>
          <p:cNvPr id="5" name="图片 4">
            <a:extLst>
              <a:ext uri="{FF2B5EF4-FFF2-40B4-BE49-F238E27FC236}">
                <a16:creationId xmlns:a16="http://schemas.microsoft.com/office/drawing/2014/main" id="{0E55E95E-8AAA-CB7C-140A-54F3FB2723C1}"/>
              </a:ext>
            </a:extLst>
          </p:cNvPr>
          <p:cNvPicPr>
            <a:picLocks noChangeAspect="1"/>
          </p:cNvPicPr>
          <p:nvPr/>
        </p:nvPicPr>
        <p:blipFill>
          <a:blip r:embed="rId4"/>
          <a:stretch>
            <a:fillRect/>
          </a:stretch>
        </p:blipFill>
        <p:spPr>
          <a:xfrm>
            <a:off x="6587063" y="2745379"/>
            <a:ext cx="5604937" cy="1698592"/>
          </a:xfrm>
          <a:prstGeom prst="rect">
            <a:avLst/>
          </a:prstGeom>
        </p:spPr>
      </p:pic>
      <p:sp>
        <p:nvSpPr>
          <p:cNvPr id="6" name="文本框 5">
            <a:extLst>
              <a:ext uri="{FF2B5EF4-FFF2-40B4-BE49-F238E27FC236}">
                <a16:creationId xmlns:a16="http://schemas.microsoft.com/office/drawing/2014/main" id="{A13598B8-F509-618C-2C12-CF5F5F1CF71E}"/>
              </a:ext>
            </a:extLst>
          </p:cNvPr>
          <p:cNvSpPr txBox="1"/>
          <p:nvPr/>
        </p:nvSpPr>
        <p:spPr>
          <a:xfrm>
            <a:off x="6990080" y="4529236"/>
            <a:ext cx="4600132" cy="369332"/>
          </a:xfrm>
          <a:prstGeom prst="rect">
            <a:avLst/>
          </a:prstGeom>
          <a:noFill/>
        </p:spPr>
        <p:txBody>
          <a:bodyPr wrap="square" rtlCol="0">
            <a:spAutoFit/>
          </a:bodyPr>
          <a:lstStyle/>
          <a:p>
            <a:pPr algn="ctr"/>
            <a:r>
              <a:rPr lang="zh-CN" altLang="en-US" dirty="0"/>
              <a:t>全景图像和普通图像之间的比较</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DE1EB-78C9-A573-7BDC-30883D8AA731}"/>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04DE3D7F-4C02-1FC6-443C-E1662296E742}"/>
              </a:ext>
            </a:extLst>
          </p:cNvPr>
          <p:cNvSpPr txBox="1"/>
          <p:nvPr/>
        </p:nvSpPr>
        <p:spPr>
          <a:xfrm>
            <a:off x="2150631" y="296863"/>
            <a:ext cx="5662409"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华文中宋" panose="02010600040101010101" pitchFamily="2" charset="-122"/>
                <a:ea typeface="华文中宋" panose="02010600040101010101" pitchFamily="2" charset="-122"/>
              </a:rPr>
              <a:t>参考文献</a:t>
            </a:r>
          </a:p>
        </p:txBody>
      </p:sp>
      <p:sp>
        <p:nvSpPr>
          <p:cNvPr id="1048679" name="等腰三角形 3">
            <a:extLst>
              <a:ext uri="{FF2B5EF4-FFF2-40B4-BE49-F238E27FC236}">
                <a16:creationId xmlns:a16="http://schemas.microsoft.com/office/drawing/2014/main" id="{7427DE9E-5DD1-A9E0-C67B-7933051D35D8}"/>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sp>
        <p:nvSpPr>
          <p:cNvPr id="1048680" name="文本占位符 2">
            <a:extLst>
              <a:ext uri="{FF2B5EF4-FFF2-40B4-BE49-F238E27FC236}">
                <a16:creationId xmlns:a16="http://schemas.microsoft.com/office/drawing/2014/main" id="{C338B8F9-BB8E-913E-36F2-9E7269F833D8}"/>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02</a:t>
            </a:r>
            <a:endParaRPr lang="zh-CN" altLang="en-US" dirty="0">
              <a:latin typeface="+mn-lt"/>
              <a:ea typeface="华文中宋" panose="02010600040101010101" pitchFamily="2" charset="-122"/>
            </a:endParaRPr>
          </a:p>
        </p:txBody>
      </p:sp>
      <p:pic>
        <p:nvPicPr>
          <p:cNvPr id="2097166" name="图片 5">
            <a:extLst>
              <a:ext uri="{FF2B5EF4-FFF2-40B4-BE49-F238E27FC236}">
                <a16:creationId xmlns:a16="http://schemas.microsoft.com/office/drawing/2014/main" id="{D0BCFFE7-C328-3D0B-3B8A-0AC4B082DED9}"/>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ED3FA39D-6926-625C-34FE-53EB362CB48C}"/>
              </a:ext>
            </a:extLst>
          </p:cNvPr>
          <p:cNvCxnSpPr/>
          <p:nvPr/>
        </p:nvCxnSpPr>
        <p:spPr>
          <a:xfrm>
            <a:off x="2196000" y="936000"/>
            <a:ext cx="8280000" cy="0"/>
          </a:xfrm>
          <a:prstGeom prst="line">
            <a:avLst/>
          </a:prstGeom>
          <a:ln w="41275">
            <a:solidFill>
              <a:srgbClr val="203864"/>
            </a:solidFill>
          </a:ln>
        </p:spPr>
        <p:style>
          <a:lnRef idx="1">
            <a:schemeClr val="dk1"/>
          </a:lnRef>
          <a:fillRef idx="0">
            <a:schemeClr val="dk1"/>
          </a:fillRef>
          <a:effectRef idx="0">
            <a:schemeClr val="dk1"/>
          </a:effectRef>
          <a:fontRef idx="minor">
            <a:schemeClr val="tx1"/>
          </a:fontRef>
        </p:style>
      </p:cxnSp>
      <p:sp>
        <p:nvSpPr>
          <p:cNvPr id="8" name="灯片编号占位符 7">
            <a:extLst>
              <a:ext uri="{FF2B5EF4-FFF2-40B4-BE49-F238E27FC236}">
                <a16:creationId xmlns:a16="http://schemas.microsoft.com/office/drawing/2014/main" id="{BDD00FFC-2CC0-41B9-C3E9-7264E0D405F1}"/>
              </a:ext>
            </a:extLst>
          </p:cNvPr>
          <p:cNvSpPr>
            <a:spLocks noGrp="1"/>
          </p:cNvSpPr>
          <p:nvPr>
            <p:ph type="sldNum" sz="quarter" idx="12"/>
          </p:nvPr>
        </p:nvSpPr>
        <p:spPr>
          <a:xfrm>
            <a:off x="8829675" y="6388958"/>
            <a:ext cx="2743200" cy="365125"/>
          </a:xfrm>
        </p:spPr>
        <p:txBody>
          <a:bodyPr/>
          <a:lstStyle/>
          <a:p>
            <a:fld id="{4C728F51-6063-40BC-906F-D6FBF0AE26BF}" type="slidenum">
              <a:rPr lang="zh-CN" altLang="en-US" smtClean="0"/>
              <a:t>4</a:t>
            </a:fld>
            <a:endParaRPr lang="zh-CN" altLang="en-US" dirty="0"/>
          </a:p>
        </p:txBody>
      </p:sp>
      <p:pic>
        <p:nvPicPr>
          <p:cNvPr id="4" name="图片 3">
            <a:extLst>
              <a:ext uri="{FF2B5EF4-FFF2-40B4-BE49-F238E27FC236}">
                <a16:creationId xmlns:a16="http://schemas.microsoft.com/office/drawing/2014/main" id="{6C97BD8F-8D08-20CB-DCC9-A64F5B2F7B66}"/>
              </a:ext>
            </a:extLst>
          </p:cNvPr>
          <p:cNvPicPr>
            <a:picLocks noChangeAspect="1"/>
          </p:cNvPicPr>
          <p:nvPr/>
        </p:nvPicPr>
        <p:blipFill>
          <a:blip r:embed="rId4"/>
          <a:stretch>
            <a:fillRect/>
          </a:stretch>
        </p:blipFill>
        <p:spPr>
          <a:xfrm>
            <a:off x="71718" y="1041445"/>
            <a:ext cx="12192000" cy="2575336"/>
          </a:xfrm>
          <a:prstGeom prst="rect">
            <a:avLst/>
          </a:prstGeom>
        </p:spPr>
      </p:pic>
      <p:sp>
        <p:nvSpPr>
          <p:cNvPr id="2" name="文本框 1">
            <a:extLst>
              <a:ext uri="{FF2B5EF4-FFF2-40B4-BE49-F238E27FC236}">
                <a16:creationId xmlns:a16="http://schemas.microsoft.com/office/drawing/2014/main" id="{737981A8-4378-ACFB-0BC1-C1D9625BFD73}"/>
              </a:ext>
            </a:extLst>
          </p:cNvPr>
          <p:cNvSpPr txBox="1"/>
          <p:nvPr/>
        </p:nvSpPr>
        <p:spPr>
          <a:xfrm>
            <a:off x="150725" y="3429000"/>
            <a:ext cx="6913265" cy="3374129"/>
          </a:xfrm>
          <a:prstGeom prst="rect">
            <a:avLst/>
          </a:prstGeom>
          <a:noFill/>
        </p:spPr>
        <p:txBody>
          <a:bodyPr wrap="square" rtlCol="0">
            <a:spAutoFit/>
          </a:bodyPr>
          <a:lstStyle/>
          <a:p>
            <a:pPr indent="457200">
              <a:lnSpc>
                <a:spcPct val="150000"/>
              </a:lnSpc>
            </a:pPr>
            <a:r>
              <a:rPr lang="zh-CN" altLang="en-US" b="0" i="0" dirty="0">
                <a:effectLst/>
                <a:latin typeface="Inter"/>
              </a:rPr>
              <a:t>这篇论文主要解决了小目标检测领域中存在的两个关键问题：一是提升小目标检测的性能，二是降低模型计算成本。在无人机智能系统的实际应用场景中，由于拍摄高度导致照片里多数物体尺寸较小，存在目标遮挡、密度低和光线变化大等问题，传统的 </a:t>
            </a:r>
            <a:r>
              <a:rPr lang="en-US" altLang="zh-CN" b="0" i="0" dirty="0">
                <a:effectLst/>
                <a:latin typeface="Inter"/>
              </a:rPr>
              <a:t>YOLOv5 </a:t>
            </a:r>
            <a:r>
              <a:rPr lang="zh-CN" altLang="en-US" b="0" i="0" dirty="0">
                <a:effectLst/>
                <a:latin typeface="Inter"/>
              </a:rPr>
              <a:t>算法在小目标检测方面存在缺陷，难以有效检测微小物体</a:t>
            </a:r>
            <a:endParaRPr lang="en-US" altLang="zh-CN" b="0" i="0" dirty="0">
              <a:effectLst/>
              <a:latin typeface="Inter"/>
            </a:endParaRPr>
          </a:p>
          <a:p>
            <a:pPr indent="457200">
              <a:lnSpc>
                <a:spcPct val="150000"/>
              </a:lnSpc>
            </a:pPr>
            <a:r>
              <a:rPr lang="zh-CN" altLang="en-US" dirty="0">
                <a:latin typeface="Inter"/>
              </a:rPr>
              <a:t>而我参考这篇文献的主要原因是由于在</a:t>
            </a:r>
            <a:r>
              <a:rPr lang="en-US" altLang="zh-CN" dirty="0">
                <a:latin typeface="Inter"/>
              </a:rPr>
              <a:t>yolov5</a:t>
            </a:r>
            <a:r>
              <a:rPr lang="zh-CN" altLang="en-US" dirty="0">
                <a:latin typeface="Inter"/>
              </a:rPr>
              <a:t>训练</a:t>
            </a:r>
            <a:r>
              <a:rPr lang="en-US" altLang="zh-CN" dirty="0">
                <a:latin typeface="Inter"/>
              </a:rPr>
              <a:t>Street View </a:t>
            </a:r>
            <a:r>
              <a:rPr lang="zh-CN" altLang="en-US" dirty="0">
                <a:latin typeface="Inter"/>
              </a:rPr>
              <a:t>数据集时发现在五个类别中，</a:t>
            </a:r>
            <a:r>
              <a:rPr lang="zh-CN" altLang="en-US" b="1" dirty="0">
                <a:latin typeface="Inter"/>
              </a:rPr>
              <a:t>交通标志（小目标）的检测效果最差</a:t>
            </a:r>
            <a:r>
              <a:rPr lang="zh-CN" altLang="en-US" dirty="0">
                <a:latin typeface="Inter"/>
              </a:rPr>
              <a:t>，所以专门检索了相关的文献，并选择了这篇文献的模型进行再训练</a:t>
            </a:r>
            <a:endParaRPr lang="zh-CN" altLang="en-US" dirty="0"/>
          </a:p>
        </p:txBody>
      </p:sp>
      <p:pic>
        <p:nvPicPr>
          <p:cNvPr id="5" name="图片 4">
            <a:extLst>
              <a:ext uri="{FF2B5EF4-FFF2-40B4-BE49-F238E27FC236}">
                <a16:creationId xmlns:a16="http://schemas.microsoft.com/office/drawing/2014/main" id="{5601E45C-6381-54E4-94FB-CDD510FBC945}"/>
              </a:ext>
            </a:extLst>
          </p:cNvPr>
          <p:cNvPicPr>
            <a:picLocks noChangeAspect="1"/>
          </p:cNvPicPr>
          <p:nvPr/>
        </p:nvPicPr>
        <p:blipFill>
          <a:blip r:embed="rId5"/>
          <a:stretch>
            <a:fillRect/>
          </a:stretch>
        </p:blipFill>
        <p:spPr>
          <a:xfrm>
            <a:off x="7344648" y="3300515"/>
            <a:ext cx="4228227" cy="2780429"/>
          </a:xfrm>
          <a:prstGeom prst="rect">
            <a:avLst/>
          </a:prstGeom>
        </p:spPr>
      </p:pic>
      <p:sp>
        <p:nvSpPr>
          <p:cNvPr id="6" name="文本框 5">
            <a:extLst>
              <a:ext uri="{FF2B5EF4-FFF2-40B4-BE49-F238E27FC236}">
                <a16:creationId xmlns:a16="http://schemas.microsoft.com/office/drawing/2014/main" id="{B34C237B-2BE3-4850-5111-F7C95B235F33}"/>
              </a:ext>
            </a:extLst>
          </p:cNvPr>
          <p:cNvSpPr txBox="1"/>
          <p:nvPr/>
        </p:nvSpPr>
        <p:spPr>
          <a:xfrm>
            <a:off x="7586505" y="6076737"/>
            <a:ext cx="3048665" cy="369332"/>
          </a:xfrm>
          <a:prstGeom prst="rect">
            <a:avLst/>
          </a:prstGeom>
          <a:noFill/>
        </p:spPr>
        <p:txBody>
          <a:bodyPr wrap="square" rtlCol="0">
            <a:spAutoFit/>
          </a:bodyPr>
          <a:lstStyle/>
          <a:p>
            <a:pPr algn="ctr"/>
            <a:r>
              <a:rPr lang="en-US" altLang="zh-CN" dirty="0"/>
              <a:t>Yolov5</a:t>
            </a:r>
            <a:r>
              <a:rPr lang="zh-CN" altLang="en-US" dirty="0"/>
              <a:t>训练</a:t>
            </a:r>
            <a:r>
              <a:rPr lang="en-US" altLang="zh-CN" dirty="0"/>
              <a:t>PR</a:t>
            </a:r>
            <a:r>
              <a:rPr lang="zh-CN" altLang="en-US" dirty="0"/>
              <a:t>图</a:t>
            </a:r>
          </a:p>
        </p:txBody>
      </p:sp>
    </p:spTree>
    <p:extLst>
      <p:ext uri="{BB962C8B-B14F-4D97-AF65-F5344CB8AC3E}">
        <p14:creationId xmlns:p14="http://schemas.microsoft.com/office/powerpoint/2010/main" val="3680020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F7293-B90C-4276-E8F0-8A4D7E593F1A}"/>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97A0AD88-B91E-CA2D-2CC5-EDA36A4DF0F8}"/>
              </a:ext>
            </a:extLst>
          </p:cNvPr>
          <p:cNvSpPr txBox="1"/>
          <p:nvPr/>
        </p:nvSpPr>
        <p:spPr>
          <a:xfrm>
            <a:off x="2150631" y="296863"/>
            <a:ext cx="5662409"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华文中宋" panose="02010600040101010101" pitchFamily="2" charset="-122"/>
                <a:ea typeface="华文中宋" panose="02010600040101010101" pitchFamily="2" charset="-122"/>
              </a:rPr>
              <a:t>参考文献</a:t>
            </a:r>
          </a:p>
        </p:txBody>
      </p:sp>
      <p:sp>
        <p:nvSpPr>
          <p:cNvPr id="1048679" name="等腰三角形 3">
            <a:extLst>
              <a:ext uri="{FF2B5EF4-FFF2-40B4-BE49-F238E27FC236}">
                <a16:creationId xmlns:a16="http://schemas.microsoft.com/office/drawing/2014/main" id="{E138C756-1232-2C32-7FA4-2C9DED96629B}"/>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sp>
        <p:nvSpPr>
          <p:cNvPr id="1048680" name="文本占位符 2">
            <a:extLst>
              <a:ext uri="{FF2B5EF4-FFF2-40B4-BE49-F238E27FC236}">
                <a16:creationId xmlns:a16="http://schemas.microsoft.com/office/drawing/2014/main" id="{C7C8A292-CE00-EC6E-1D1D-A784D7145C0E}"/>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02</a:t>
            </a:r>
            <a:endParaRPr lang="zh-CN" altLang="en-US" dirty="0">
              <a:latin typeface="+mn-lt"/>
              <a:ea typeface="华文中宋" panose="02010600040101010101" pitchFamily="2" charset="-122"/>
            </a:endParaRPr>
          </a:p>
        </p:txBody>
      </p:sp>
      <p:pic>
        <p:nvPicPr>
          <p:cNvPr id="2097166" name="图片 5">
            <a:extLst>
              <a:ext uri="{FF2B5EF4-FFF2-40B4-BE49-F238E27FC236}">
                <a16:creationId xmlns:a16="http://schemas.microsoft.com/office/drawing/2014/main" id="{BBB0EB02-4CA0-DCF9-CD4D-EFCFDEDF454D}"/>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2CFA1C84-7009-1764-4D7C-8B7ED5809176}"/>
              </a:ext>
            </a:extLst>
          </p:cNvPr>
          <p:cNvCxnSpPr/>
          <p:nvPr/>
        </p:nvCxnSpPr>
        <p:spPr>
          <a:xfrm>
            <a:off x="2196000" y="936000"/>
            <a:ext cx="8280000" cy="0"/>
          </a:xfrm>
          <a:prstGeom prst="line">
            <a:avLst/>
          </a:prstGeom>
          <a:ln w="41275">
            <a:solidFill>
              <a:srgbClr val="203864"/>
            </a:solidFill>
          </a:ln>
        </p:spPr>
        <p:style>
          <a:lnRef idx="1">
            <a:schemeClr val="dk1"/>
          </a:lnRef>
          <a:fillRef idx="0">
            <a:schemeClr val="dk1"/>
          </a:fillRef>
          <a:effectRef idx="0">
            <a:schemeClr val="dk1"/>
          </a:effectRef>
          <a:fontRef idx="minor">
            <a:schemeClr val="tx1"/>
          </a:fontRef>
        </p:style>
      </p:cxnSp>
      <p:sp>
        <p:nvSpPr>
          <p:cNvPr id="8" name="灯片编号占位符 7">
            <a:extLst>
              <a:ext uri="{FF2B5EF4-FFF2-40B4-BE49-F238E27FC236}">
                <a16:creationId xmlns:a16="http://schemas.microsoft.com/office/drawing/2014/main" id="{80BAF355-4794-5DD8-5E14-2931E9930AB1}"/>
              </a:ext>
            </a:extLst>
          </p:cNvPr>
          <p:cNvSpPr>
            <a:spLocks noGrp="1"/>
          </p:cNvSpPr>
          <p:nvPr>
            <p:ph type="sldNum" sz="quarter" idx="12"/>
          </p:nvPr>
        </p:nvSpPr>
        <p:spPr>
          <a:xfrm>
            <a:off x="8829675" y="6388958"/>
            <a:ext cx="2743200" cy="365125"/>
          </a:xfrm>
        </p:spPr>
        <p:txBody>
          <a:bodyPr/>
          <a:lstStyle/>
          <a:p>
            <a:fld id="{4C728F51-6063-40BC-906F-D6FBF0AE26BF}" type="slidenum">
              <a:rPr lang="zh-CN" altLang="en-US" smtClean="0"/>
              <a:t>5</a:t>
            </a:fld>
            <a:endParaRPr lang="zh-CN" altLang="en-US" dirty="0"/>
          </a:p>
        </p:txBody>
      </p:sp>
      <p:pic>
        <p:nvPicPr>
          <p:cNvPr id="9" name="图片 8">
            <a:extLst>
              <a:ext uri="{FF2B5EF4-FFF2-40B4-BE49-F238E27FC236}">
                <a16:creationId xmlns:a16="http://schemas.microsoft.com/office/drawing/2014/main" id="{DE09F159-A23D-81AC-1941-C2C26F0496F0}"/>
              </a:ext>
            </a:extLst>
          </p:cNvPr>
          <p:cNvPicPr>
            <a:picLocks noChangeAspect="1"/>
          </p:cNvPicPr>
          <p:nvPr/>
        </p:nvPicPr>
        <p:blipFill>
          <a:blip r:embed="rId4"/>
          <a:stretch>
            <a:fillRect/>
          </a:stretch>
        </p:blipFill>
        <p:spPr>
          <a:xfrm>
            <a:off x="268176" y="1306719"/>
            <a:ext cx="4779008" cy="2983928"/>
          </a:xfrm>
          <a:prstGeom prst="rect">
            <a:avLst/>
          </a:prstGeom>
        </p:spPr>
      </p:pic>
      <p:sp>
        <p:nvSpPr>
          <p:cNvPr id="12" name="文本框 11">
            <a:extLst>
              <a:ext uri="{FF2B5EF4-FFF2-40B4-BE49-F238E27FC236}">
                <a16:creationId xmlns:a16="http://schemas.microsoft.com/office/drawing/2014/main" id="{625592A7-3085-C9BE-E66A-501FA0666265}"/>
              </a:ext>
            </a:extLst>
          </p:cNvPr>
          <p:cNvSpPr txBox="1"/>
          <p:nvPr/>
        </p:nvSpPr>
        <p:spPr>
          <a:xfrm>
            <a:off x="459276" y="4873451"/>
            <a:ext cx="10302509" cy="1754326"/>
          </a:xfrm>
          <a:prstGeom prst="rect">
            <a:avLst/>
          </a:prstGeom>
          <a:noFill/>
        </p:spPr>
        <p:txBody>
          <a:bodyPr wrap="square" rtlCol="0">
            <a:spAutoFit/>
          </a:bodyPr>
          <a:lstStyle/>
          <a:p>
            <a:pPr indent="457200"/>
            <a:r>
              <a:rPr lang="en-US" altLang="zh-CN" dirty="0"/>
              <a:t>HIC-yolov5</a:t>
            </a:r>
            <a:r>
              <a:rPr lang="zh-CN" altLang="en-US" dirty="0"/>
              <a:t>在</a:t>
            </a:r>
            <a:r>
              <a:rPr lang="en-US" altLang="zh-CN" dirty="0"/>
              <a:t>yolov5</a:t>
            </a:r>
            <a:r>
              <a:rPr lang="zh-CN" altLang="en-US" dirty="0"/>
              <a:t>的基础上有以下几个改进：</a:t>
            </a:r>
            <a:endParaRPr lang="en-US" altLang="zh-CN" dirty="0"/>
          </a:p>
          <a:p>
            <a:pPr indent="457200"/>
            <a:r>
              <a:rPr lang="en-US" altLang="zh-CN" dirty="0">
                <a:latin typeface="Inter"/>
              </a:rPr>
              <a:t>1.</a:t>
            </a:r>
            <a:r>
              <a:rPr lang="zh-CN" altLang="en-US" b="0" i="0" dirty="0">
                <a:effectLst/>
                <a:latin typeface="Inter"/>
              </a:rPr>
              <a:t>增加小目标检测头（</a:t>
            </a:r>
            <a:r>
              <a:rPr lang="en-US" altLang="zh-CN" b="0" i="0" dirty="0">
                <a:effectLst/>
                <a:latin typeface="Inter"/>
              </a:rPr>
              <a:t>SODH</a:t>
            </a:r>
            <a:r>
              <a:rPr lang="zh-CN" altLang="en-US" b="0" i="0" dirty="0">
                <a:effectLst/>
                <a:latin typeface="Inter"/>
              </a:rPr>
              <a:t>），检测更高分辨率特征图，便于提取小目标特征</a:t>
            </a:r>
            <a:endParaRPr lang="en-US" altLang="zh-CN" dirty="0"/>
          </a:p>
          <a:p>
            <a:pPr indent="457200"/>
            <a:r>
              <a:rPr lang="en-US" altLang="zh-CN" dirty="0"/>
              <a:t>2.</a:t>
            </a:r>
            <a:r>
              <a:rPr lang="zh-CN" altLang="en-US" dirty="0"/>
              <a:t>引入了</a:t>
            </a:r>
            <a:r>
              <a:rPr lang="en-US" altLang="zh-CN" dirty="0"/>
              <a:t>CBAM</a:t>
            </a:r>
            <a:r>
              <a:rPr lang="zh-CN" altLang="en-US" dirty="0"/>
              <a:t>模块：</a:t>
            </a:r>
            <a:r>
              <a:rPr lang="en-US" altLang="zh-CN" dirty="0"/>
              <a:t>CBAM</a:t>
            </a:r>
            <a:r>
              <a:rPr lang="zh-CN" altLang="en-US" dirty="0"/>
              <a:t>模块由</a:t>
            </a:r>
            <a:r>
              <a:rPr lang="zh-CN" altLang="en-US" b="0" i="0" dirty="0">
                <a:effectLst/>
                <a:latin typeface="Inter"/>
              </a:rPr>
              <a:t>通道注意力模块和空间注意力模块组成，可以强调通道和空间轴上有意义的特征，抑制冗余特征。</a:t>
            </a:r>
            <a:endParaRPr lang="en-US" altLang="zh-CN" b="0" i="0" dirty="0">
              <a:effectLst/>
              <a:latin typeface="Inter"/>
            </a:endParaRPr>
          </a:p>
          <a:p>
            <a:pPr indent="457200"/>
            <a:r>
              <a:rPr lang="en-US" altLang="zh-CN" dirty="0">
                <a:latin typeface="Inter"/>
              </a:rPr>
              <a:t>3.</a:t>
            </a:r>
            <a:r>
              <a:rPr lang="zh-CN" altLang="en-US" dirty="0">
                <a:latin typeface="Inter"/>
              </a:rPr>
              <a:t>引入了</a:t>
            </a:r>
            <a:r>
              <a:rPr lang="en-US" altLang="zh-CN" dirty="0">
                <a:latin typeface="Inter"/>
              </a:rPr>
              <a:t>Involution</a:t>
            </a:r>
            <a:r>
              <a:rPr lang="zh-CN" altLang="en-US" dirty="0">
                <a:latin typeface="Inter"/>
              </a:rPr>
              <a:t>模块：</a:t>
            </a:r>
            <a:r>
              <a:rPr lang="zh-CN" altLang="en-US" b="0" i="0" dirty="0">
                <a:effectLst/>
                <a:latin typeface="Inter"/>
              </a:rPr>
              <a:t>在骨干网络和颈部间添加 </a:t>
            </a:r>
            <a:r>
              <a:rPr lang="en-US" altLang="zh-CN" b="0" i="0" dirty="0">
                <a:effectLst/>
                <a:latin typeface="Inter"/>
              </a:rPr>
              <a:t>Involution </a:t>
            </a:r>
            <a:r>
              <a:rPr lang="zh-CN" altLang="en-US" b="0" i="0" dirty="0">
                <a:effectLst/>
                <a:latin typeface="Inter"/>
              </a:rPr>
              <a:t>块，增加特征图的通道信息，减少 </a:t>
            </a:r>
            <a:r>
              <a:rPr lang="en-US" altLang="zh-CN" b="0" i="0" dirty="0">
                <a:effectLst/>
                <a:latin typeface="Inter"/>
              </a:rPr>
              <a:t>FPN </a:t>
            </a:r>
            <a:r>
              <a:rPr lang="zh-CN" altLang="en-US" b="0" i="0" dirty="0">
                <a:effectLst/>
                <a:latin typeface="Inter"/>
              </a:rPr>
              <a:t>初始阶段信息损失，提升小目标检测性能</a:t>
            </a:r>
            <a:endParaRPr lang="en-US" altLang="zh-CN" b="0" i="0" dirty="0">
              <a:effectLst/>
              <a:latin typeface="Inter"/>
            </a:endParaRPr>
          </a:p>
        </p:txBody>
      </p:sp>
      <p:sp>
        <p:nvSpPr>
          <p:cNvPr id="2" name="文本框 1">
            <a:extLst>
              <a:ext uri="{FF2B5EF4-FFF2-40B4-BE49-F238E27FC236}">
                <a16:creationId xmlns:a16="http://schemas.microsoft.com/office/drawing/2014/main" id="{93C7FF35-1A2F-48E9-E305-A489EF22B395}"/>
              </a:ext>
            </a:extLst>
          </p:cNvPr>
          <p:cNvSpPr txBox="1"/>
          <p:nvPr/>
        </p:nvSpPr>
        <p:spPr>
          <a:xfrm>
            <a:off x="1336431" y="4290647"/>
            <a:ext cx="2130250" cy="369332"/>
          </a:xfrm>
          <a:prstGeom prst="rect">
            <a:avLst/>
          </a:prstGeom>
          <a:noFill/>
        </p:spPr>
        <p:txBody>
          <a:bodyPr wrap="square" rtlCol="0">
            <a:spAutoFit/>
          </a:bodyPr>
          <a:lstStyle/>
          <a:p>
            <a:pPr algn="ctr"/>
            <a:r>
              <a:rPr lang="en-US" altLang="zh-CN" dirty="0"/>
              <a:t>Yolov5</a:t>
            </a:r>
            <a:r>
              <a:rPr lang="zh-CN" altLang="en-US" dirty="0"/>
              <a:t>结构图</a:t>
            </a:r>
          </a:p>
        </p:txBody>
      </p:sp>
      <p:sp>
        <p:nvSpPr>
          <p:cNvPr id="3" name="文本框 2">
            <a:extLst>
              <a:ext uri="{FF2B5EF4-FFF2-40B4-BE49-F238E27FC236}">
                <a16:creationId xmlns:a16="http://schemas.microsoft.com/office/drawing/2014/main" id="{4399FD5C-4F5B-CCCC-BD31-EF7B8EA7284E}"/>
              </a:ext>
            </a:extLst>
          </p:cNvPr>
          <p:cNvSpPr txBox="1"/>
          <p:nvPr/>
        </p:nvSpPr>
        <p:spPr>
          <a:xfrm>
            <a:off x="6014385" y="4100853"/>
            <a:ext cx="3597310" cy="369332"/>
          </a:xfrm>
          <a:prstGeom prst="rect">
            <a:avLst/>
          </a:prstGeom>
          <a:noFill/>
        </p:spPr>
        <p:txBody>
          <a:bodyPr wrap="square" rtlCol="0">
            <a:spAutoFit/>
          </a:bodyPr>
          <a:lstStyle/>
          <a:p>
            <a:pPr algn="ctr"/>
            <a:r>
              <a:rPr lang="en-US" altLang="zh-CN" dirty="0"/>
              <a:t>HIC-Yolov5</a:t>
            </a:r>
            <a:r>
              <a:rPr lang="zh-CN" altLang="en-US" dirty="0"/>
              <a:t>结构图</a:t>
            </a:r>
          </a:p>
        </p:txBody>
      </p:sp>
      <p:pic>
        <p:nvPicPr>
          <p:cNvPr id="5" name="图片 4">
            <a:extLst>
              <a:ext uri="{FF2B5EF4-FFF2-40B4-BE49-F238E27FC236}">
                <a16:creationId xmlns:a16="http://schemas.microsoft.com/office/drawing/2014/main" id="{1E3EAED0-C9FB-20A1-30A2-9C89C816CCD6}"/>
              </a:ext>
            </a:extLst>
          </p:cNvPr>
          <p:cNvPicPr>
            <a:picLocks noChangeAspect="1"/>
          </p:cNvPicPr>
          <p:nvPr/>
        </p:nvPicPr>
        <p:blipFill>
          <a:blip r:embed="rId5"/>
          <a:stretch>
            <a:fillRect/>
          </a:stretch>
        </p:blipFill>
        <p:spPr>
          <a:xfrm>
            <a:off x="5590286" y="1056388"/>
            <a:ext cx="4885714" cy="2942857"/>
          </a:xfrm>
          <a:prstGeom prst="rect">
            <a:avLst/>
          </a:prstGeom>
        </p:spPr>
      </p:pic>
    </p:spTree>
    <p:extLst>
      <p:ext uri="{BB962C8B-B14F-4D97-AF65-F5344CB8AC3E}">
        <p14:creationId xmlns:p14="http://schemas.microsoft.com/office/powerpoint/2010/main" val="1319473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6FB89-7E80-329F-0EAB-09B4D9044775}"/>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93B1BE95-F10B-73D7-B454-290784A36C2D}"/>
              </a:ext>
            </a:extLst>
          </p:cNvPr>
          <p:cNvSpPr txBox="1"/>
          <p:nvPr/>
        </p:nvSpPr>
        <p:spPr>
          <a:xfrm>
            <a:off x="2150631" y="296863"/>
            <a:ext cx="5662409"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华文中宋" panose="02010600040101010101" pitchFamily="2" charset="-122"/>
                <a:ea typeface="华文中宋" panose="02010600040101010101" pitchFamily="2" charset="-122"/>
              </a:rPr>
              <a:t>参考文献</a:t>
            </a:r>
          </a:p>
        </p:txBody>
      </p:sp>
      <p:sp>
        <p:nvSpPr>
          <p:cNvPr id="1048679" name="等腰三角形 3">
            <a:extLst>
              <a:ext uri="{FF2B5EF4-FFF2-40B4-BE49-F238E27FC236}">
                <a16:creationId xmlns:a16="http://schemas.microsoft.com/office/drawing/2014/main" id="{83D4D602-49D6-BA1D-B869-CEF69A99391F}"/>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sp>
        <p:nvSpPr>
          <p:cNvPr id="1048680" name="文本占位符 2">
            <a:extLst>
              <a:ext uri="{FF2B5EF4-FFF2-40B4-BE49-F238E27FC236}">
                <a16:creationId xmlns:a16="http://schemas.microsoft.com/office/drawing/2014/main" id="{B4278537-E4C0-DB43-CD53-F55F3194D9E3}"/>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021</a:t>
            </a:r>
            <a:endParaRPr lang="zh-CN" altLang="en-US" dirty="0">
              <a:latin typeface="+mn-lt"/>
              <a:ea typeface="华文中宋" panose="02010600040101010101" pitchFamily="2" charset="-122"/>
            </a:endParaRPr>
          </a:p>
        </p:txBody>
      </p:sp>
      <p:pic>
        <p:nvPicPr>
          <p:cNvPr id="2097166" name="图片 5">
            <a:extLst>
              <a:ext uri="{FF2B5EF4-FFF2-40B4-BE49-F238E27FC236}">
                <a16:creationId xmlns:a16="http://schemas.microsoft.com/office/drawing/2014/main" id="{D7A2935D-0471-8ACD-182D-137BF94CAB99}"/>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9984C3E5-0B17-9EB9-AE67-E0FB63F9194C}"/>
              </a:ext>
            </a:extLst>
          </p:cNvPr>
          <p:cNvCxnSpPr/>
          <p:nvPr/>
        </p:nvCxnSpPr>
        <p:spPr>
          <a:xfrm>
            <a:off x="2196000" y="936000"/>
            <a:ext cx="8280000" cy="0"/>
          </a:xfrm>
          <a:prstGeom prst="line">
            <a:avLst/>
          </a:prstGeom>
          <a:ln w="41275">
            <a:solidFill>
              <a:srgbClr val="203864"/>
            </a:solidFill>
          </a:ln>
        </p:spPr>
        <p:style>
          <a:lnRef idx="1">
            <a:schemeClr val="dk1"/>
          </a:lnRef>
          <a:fillRef idx="0">
            <a:schemeClr val="dk1"/>
          </a:fillRef>
          <a:effectRef idx="0">
            <a:schemeClr val="dk1"/>
          </a:effectRef>
          <a:fontRef idx="minor">
            <a:schemeClr val="tx1"/>
          </a:fontRef>
        </p:style>
      </p:cxnSp>
      <p:sp>
        <p:nvSpPr>
          <p:cNvPr id="8" name="灯片编号占位符 7">
            <a:extLst>
              <a:ext uri="{FF2B5EF4-FFF2-40B4-BE49-F238E27FC236}">
                <a16:creationId xmlns:a16="http://schemas.microsoft.com/office/drawing/2014/main" id="{089E9ED2-A738-3839-DDCD-585A0D0691E2}"/>
              </a:ext>
            </a:extLst>
          </p:cNvPr>
          <p:cNvSpPr>
            <a:spLocks noGrp="1"/>
          </p:cNvSpPr>
          <p:nvPr>
            <p:ph type="sldNum" sz="quarter" idx="12"/>
          </p:nvPr>
        </p:nvSpPr>
        <p:spPr>
          <a:xfrm>
            <a:off x="8829675" y="6388958"/>
            <a:ext cx="2743200" cy="365125"/>
          </a:xfrm>
        </p:spPr>
        <p:txBody>
          <a:bodyPr/>
          <a:lstStyle/>
          <a:p>
            <a:fld id="{4C728F51-6063-40BC-906F-D6FBF0AE26BF}" type="slidenum">
              <a:rPr lang="zh-CN" altLang="en-US" smtClean="0"/>
              <a:t>6</a:t>
            </a:fld>
            <a:endParaRPr lang="zh-CN" altLang="en-US" dirty="0"/>
          </a:p>
        </p:txBody>
      </p:sp>
      <p:pic>
        <p:nvPicPr>
          <p:cNvPr id="6" name="图片 5">
            <a:extLst>
              <a:ext uri="{FF2B5EF4-FFF2-40B4-BE49-F238E27FC236}">
                <a16:creationId xmlns:a16="http://schemas.microsoft.com/office/drawing/2014/main" id="{09DD88E2-1FA7-4EFB-52EC-1B5D63DBBF14}"/>
              </a:ext>
            </a:extLst>
          </p:cNvPr>
          <p:cNvPicPr>
            <a:picLocks noChangeAspect="1"/>
          </p:cNvPicPr>
          <p:nvPr/>
        </p:nvPicPr>
        <p:blipFill>
          <a:blip r:embed="rId4"/>
          <a:stretch>
            <a:fillRect/>
          </a:stretch>
        </p:blipFill>
        <p:spPr>
          <a:xfrm>
            <a:off x="2252900" y="766722"/>
            <a:ext cx="8280000" cy="2891679"/>
          </a:xfrm>
          <a:prstGeom prst="rect">
            <a:avLst/>
          </a:prstGeom>
        </p:spPr>
      </p:pic>
      <p:sp>
        <p:nvSpPr>
          <p:cNvPr id="7" name="文本框 6">
            <a:extLst>
              <a:ext uri="{FF2B5EF4-FFF2-40B4-BE49-F238E27FC236}">
                <a16:creationId xmlns:a16="http://schemas.microsoft.com/office/drawing/2014/main" id="{A6171430-BDA4-4E47-D55E-3ED627179A5E}"/>
              </a:ext>
            </a:extLst>
          </p:cNvPr>
          <p:cNvSpPr txBox="1"/>
          <p:nvPr/>
        </p:nvSpPr>
        <p:spPr>
          <a:xfrm>
            <a:off x="695326" y="3857627"/>
            <a:ext cx="10877550" cy="2977679"/>
          </a:xfrm>
          <a:prstGeom prst="rect">
            <a:avLst/>
          </a:prstGeom>
          <a:noFill/>
        </p:spPr>
        <p:txBody>
          <a:bodyPr wrap="square" rtlCol="0">
            <a:spAutoFit/>
          </a:bodyPr>
          <a:lstStyle/>
          <a:p>
            <a:pPr indent="457200" algn="l" fontAlgn="base">
              <a:lnSpc>
                <a:spcPct val="150000"/>
              </a:lnSpc>
              <a:buNone/>
            </a:pPr>
            <a:r>
              <a:rPr lang="zh-CN" altLang="en-US" b="0" i="0" dirty="0">
                <a:solidFill>
                  <a:srgbClr val="060607"/>
                </a:solidFill>
                <a:effectLst/>
                <a:latin typeface="-apple-system"/>
              </a:rPr>
              <a:t>从表格数据来看，不同模型配置在各项指标上表现各异。</a:t>
            </a:r>
            <a:r>
              <a:rPr lang="en-US" altLang="zh-CN" b="0" i="0" dirty="0">
                <a:solidFill>
                  <a:srgbClr val="060607"/>
                </a:solidFill>
                <a:effectLst/>
                <a:latin typeface="-apple-system"/>
              </a:rPr>
              <a:t>Baseline</a:t>
            </a:r>
            <a:r>
              <a:rPr lang="zh-CN" altLang="en-US" b="0" i="0" dirty="0">
                <a:solidFill>
                  <a:srgbClr val="060607"/>
                </a:solidFill>
                <a:effectLst/>
                <a:latin typeface="-apple-system"/>
              </a:rPr>
              <a:t>（</a:t>
            </a:r>
            <a:r>
              <a:rPr lang="en-US" altLang="zh-CN" b="0" i="0" dirty="0">
                <a:solidFill>
                  <a:srgbClr val="060607"/>
                </a:solidFill>
                <a:effectLst/>
                <a:latin typeface="-apple-system"/>
              </a:rPr>
              <a:t>yolov5</a:t>
            </a:r>
            <a:r>
              <a:rPr lang="zh-CN" altLang="en-US" b="0" i="0" dirty="0">
                <a:solidFill>
                  <a:srgbClr val="060607"/>
                </a:solidFill>
                <a:effectLst/>
                <a:latin typeface="-apple-system"/>
              </a:rPr>
              <a:t>）模型作为基础，各项指标处于较低水平。</a:t>
            </a:r>
            <a:r>
              <a:rPr lang="zh-CN" altLang="en-US" b="1" i="0" dirty="0">
                <a:solidFill>
                  <a:srgbClr val="060607"/>
                </a:solidFill>
                <a:effectLst/>
                <a:latin typeface="-apple-system"/>
              </a:rPr>
              <a:t>加入</a:t>
            </a:r>
            <a:r>
              <a:rPr lang="en-US" altLang="zh-CN" b="1" i="0" dirty="0">
                <a:solidFill>
                  <a:srgbClr val="060607"/>
                </a:solidFill>
                <a:effectLst/>
                <a:latin typeface="-apple-system"/>
              </a:rPr>
              <a:t>SODH</a:t>
            </a:r>
            <a:r>
              <a:rPr lang="zh-CN" altLang="en-US" b="1" i="0" dirty="0">
                <a:solidFill>
                  <a:srgbClr val="060607"/>
                </a:solidFill>
                <a:effectLst/>
                <a:latin typeface="-apple-system"/>
              </a:rPr>
              <a:t>后</a:t>
            </a:r>
            <a:r>
              <a:rPr lang="zh-CN" altLang="en-US" b="0" i="0" dirty="0">
                <a:solidFill>
                  <a:srgbClr val="060607"/>
                </a:solidFill>
                <a:effectLst/>
                <a:latin typeface="-apple-system"/>
              </a:rPr>
              <a:t>，模型的精确度、召回率和平均精度均显著提升，说明</a:t>
            </a:r>
            <a:r>
              <a:rPr lang="en-US" altLang="zh-CN" b="0" i="0" dirty="0">
                <a:solidFill>
                  <a:srgbClr val="060607"/>
                </a:solidFill>
                <a:effectLst/>
                <a:latin typeface="-apple-system"/>
              </a:rPr>
              <a:t>SODH</a:t>
            </a:r>
            <a:r>
              <a:rPr lang="zh-CN" altLang="en-US" b="0" i="0" dirty="0">
                <a:solidFill>
                  <a:srgbClr val="060607"/>
                </a:solidFill>
                <a:effectLst/>
                <a:latin typeface="-apple-system"/>
              </a:rPr>
              <a:t>模块对模型性能的提升效果明显。单独使用</a:t>
            </a:r>
            <a:r>
              <a:rPr lang="en-US" altLang="zh-CN" b="0" i="0" dirty="0" err="1">
                <a:solidFill>
                  <a:srgbClr val="060607"/>
                </a:solidFill>
                <a:effectLst/>
                <a:latin typeface="-apple-system"/>
              </a:rPr>
              <a:t>cbam</a:t>
            </a:r>
            <a:r>
              <a:rPr lang="zh-CN" altLang="en-US" b="0" i="0" dirty="0">
                <a:solidFill>
                  <a:srgbClr val="060607"/>
                </a:solidFill>
                <a:effectLst/>
                <a:latin typeface="-apple-system"/>
              </a:rPr>
              <a:t>或</a:t>
            </a:r>
            <a:r>
              <a:rPr lang="en-US" altLang="zh-CN" b="0" i="0" dirty="0">
                <a:solidFill>
                  <a:srgbClr val="060607"/>
                </a:solidFill>
                <a:effectLst/>
                <a:latin typeface="-apple-system"/>
              </a:rPr>
              <a:t>involution</a:t>
            </a:r>
            <a:r>
              <a:rPr lang="zh-CN" altLang="en-US" b="0" i="0" dirty="0">
                <a:solidFill>
                  <a:srgbClr val="060607"/>
                </a:solidFill>
                <a:effectLst/>
                <a:latin typeface="-apple-system"/>
              </a:rPr>
              <a:t>时，部分指标有所下降，作者给出的解释是由于</a:t>
            </a:r>
            <a:r>
              <a:rPr lang="en-US" altLang="zh-CN" b="0" i="0" dirty="0">
                <a:solidFill>
                  <a:srgbClr val="060607"/>
                </a:solidFill>
                <a:effectLst/>
                <a:latin typeface="-apple-system"/>
              </a:rPr>
              <a:t>VisDrone2019 </a:t>
            </a:r>
            <a:r>
              <a:rPr lang="zh-CN" altLang="en-US" b="0" i="0" dirty="0">
                <a:solidFill>
                  <a:srgbClr val="060607"/>
                </a:solidFill>
                <a:effectLst/>
                <a:latin typeface="-apple-system"/>
              </a:rPr>
              <a:t>数据集中的小目标太多，如果不能先检测到这些小目标，那么 </a:t>
            </a:r>
            <a:r>
              <a:rPr lang="en-US" altLang="zh-CN" b="0" i="0" dirty="0">
                <a:solidFill>
                  <a:srgbClr val="060607"/>
                </a:solidFill>
                <a:effectLst/>
                <a:latin typeface="-apple-system"/>
              </a:rPr>
              <a:t>CBAM </a:t>
            </a:r>
            <a:r>
              <a:rPr lang="zh-CN" altLang="en-US" b="0" i="0" dirty="0">
                <a:solidFill>
                  <a:srgbClr val="060607"/>
                </a:solidFill>
                <a:effectLst/>
                <a:latin typeface="-apple-system"/>
              </a:rPr>
              <a:t>和 </a:t>
            </a:r>
            <a:r>
              <a:rPr lang="en-US" altLang="zh-CN" b="0" i="0" dirty="0">
                <a:solidFill>
                  <a:srgbClr val="060607"/>
                </a:solidFill>
                <a:effectLst/>
                <a:latin typeface="-apple-system"/>
              </a:rPr>
              <a:t>Involution </a:t>
            </a:r>
            <a:r>
              <a:rPr lang="zh-CN" altLang="en-US" b="0" i="0" dirty="0">
                <a:solidFill>
                  <a:srgbClr val="060607"/>
                </a:solidFill>
                <a:effectLst/>
                <a:latin typeface="-apple-system"/>
              </a:rPr>
              <a:t>的单个块就无法很好地执行。而三者同时使用时，模型性能达到最佳。</a:t>
            </a:r>
          </a:p>
          <a:p>
            <a:pPr indent="457200" algn="l" fontAlgn="base">
              <a:lnSpc>
                <a:spcPct val="150000"/>
              </a:lnSpc>
            </a:pPr>
            <a:r>
              <a:rPr lang="zh-CN" altLang="en-US" b="0" i="0" dirty="0">
                <a:solidFill>
                  <a:srgbClr val="060607"/>
                </a:solidFill>
                <a:effectLst/>
                <a:latin typeface="-apple-system"/>
              </a:rPr>
              <a:t>总体而言，</a:t>
            </a:r>
            <a:r>
              <a:rPr lang="en-US" altLang="zh-CN" b="0" i="0" dirty="0">
                <a:solidFill>
                  <a:srgbClr val="060607"/>
                </a:solidFill>
                <a:effectLst/>
                <a:latin typeface="-apple-system"/>
              </a:rPr>
              <a:t>SODH</a:t>
            </a:r>
            <a:r>
              <a:rPr lang="zh-CN" altLang="en-US" b="0" i="0" dirty="0">
                <a:solidFill>
                  <a:srgbClr val="060607"/>
                </a:solidFill>
                <a:effectLst/>
                <a:latin typeface="-apple-system"/>
              </a:rPr>
              <a:t>模块是提升模型性能的关键，而</a:t>
            </a:r>
            <a:r>
              <a:rPr lang="en-US" altLang="zh-CN" b="0" i="0" dirty="0" err="1">
                <a:solidFill>
                  <a:srgbClr val="060607"/>
                </a:solidFill>
                <a:effectLst/>
                <a:latin typeface="-apple-system"/>
              </a:rPr>
              <a:t>cbam</a:t>
            </a:r>
            <a:r>
              <a:rPr lang="zh-CN" altLang="en-US" b="0" i="0" dirty="0">
                <a:solidFill>
                  <a:srgbClr val="060607"/>
                </a:solidFill>
                <a:effectLst/>
                <a:latin typeface="-apple-system"/>
              </a:rPr>
              <a:t>和</a:t>
            </a:r>
            <a:r>
              <a:rPr lang="en-US" altLang="zh-CN" b="0" i="0" dirty="0">
                <a:solidFill>
                  <a:srgbClr val="060607"/>
                </a:solidFill>
                <a:effectLst/>
                <a:latin typeface="-apple-system"/>
              </a:rPr>
              <a:t>involution</a:t>
            </a:r>
            <a:r>
              <a:rPr lang="zh-CN" altLang="en-US" b="0" i="0" dirty="0">
                <a:solidFill>
                  <a:srgbClr val="060607"/>
                </a:solidFill>
                <a:effectLst/>
                <a:latin typeface="-apple-system"/>
              </a:rPr>
              <a:t>在与</a:t>
            </a:r>
            <a:r>
              <a:rPr lang="en-US" altLang="zh-CN" b="0" i="0" dirty="0">
                <a:solidFill>
                  <a:srgbClr val="060607"/>
                </a:solidFill>
                <a:effectLst/>
                <a:latin typeface="-apple-system"/>
              </a:rPr>
              <a:t>SODH</a:t>
            </a:r>
            <a:r>
              <a:rPr lang="zh-CN" altLang="en-US" b="0" i="0" dirty="0">
                <a:solidFill>
                  <a:srgbClr val="060607"/>
                </a:solidFill>
                <a:effectLst/>
                <a:latin typeface="-apple-system"/>
              </a:rPr>
              <a:t>组合使用时也能有效提高检测效果。</a:t>
            </a:r>
            <a:endParaRPr lang="en-US" altLang="zh-CN" dirty="0"/>
          </a:p>
        </p:txBody>
      </p:sp>
      <p:sp>
        <p:nvSpPr>
          <p:cNvPr id="9" name="文本框 8">
            <a:extLst>
              <a:ext uri="{FF2B5EF4-FFF2-40B4-BE49-F238E27FC236}">
                <a16:creationId xmlns:a16="http://schemas.microsoft.com/office/drawing/2014/main" id="{07305761-1DCC-3970-5ED2-B31CFABE72A1}"/>
              </a:ext>
            </a:extLst>
          </p:cNvPr>
          <p:cNvSpPr txBox="1"/>
          <p:nvPr/>
        </p:nvSpPr>
        <p:spPr>
          <a:xfrm>
            <a:off x="3743325" y="3530762"/>
            <a:ext cx="3581400" cy="369332"/>
          </a:xfrm>
          <a:prstGeom prst="rect">
            <a:avLst/>
          </a:prstGeom>
          <a:noFill/>
        </p:spPr>
        <p:txBody>
          <a:bodyPr wrap="square" rtlCol="0">
            <a:spAutoFit/>
          </a:bodyPr>
          <a:lstStyle/>
          <a:p>
            <a:pPr algn="ctr"/>
            <a:r>
              <a:rPr lang="en-US" altLang="zh-CN" dirty="0"/>
              <a:t>HIC-yolov5</a:t>
            </a:r>
            <a:r>
              <a:rPr lang="zh-CN" altLang="en-US" dirty="0"/>
              <a:t>消融实验</a:t>
            </a:r>
          </a:p>
        </p:txBody>
      </p:sp>
    </p:spTree>
    <p:extLst>
      <p:ext uri="{BB962C8B-B14F-4D97-AF65-F5344CB8AC3E}">
        <p14:creationId xmlns:p14="http://schemas.microsoft.com/office/powerpoint/2010/main" val="2434665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210FF-B1A5-170E-5222-4C8F71E1B8D4}"/>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8839BAAF-8EBF-CDD3-2990-1378B9987257}"/>
              </a:ext>
            </a:extLst>
          </p:cNvPr>
          <p:cNvSpPr txBox="1"/>
          <p:nvPr/>
        </p:nvSpPr>
        <p:spPr>
          <a:xfrm>
            <a:off x="2150631" y="296863"/>
            <a:ext cx="5662409"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华文中宋" panose="02010600040101010101" pitchFamily="2" charset="-122"/>
                <a:ea typeface="华文中宋" panose="02010600040101010101" pitchFamily="2" charset="-122"/>
              </a:rPr>
              <a:t>参考文献</a:t>
            </a:r>
          </a:p>
        </p:txBody>
      </p:sp>
      <p:sp>
        <p:nvSpPr>
          <p:cNvPr id="1048679" name="等腰三角形 3">
            <a:extLst>
              <a:ext uri="{FF2B5EF4-FFF2-40B4-BE49-F238E27FC236}">
                <a16:creationId xmlns:a16="http://schemas.microsoft.com/office/drawing/2014/main" id="{192948AF-78A7-FB15-D9DD-20353EC91656}"/>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sp>
        <p:nvSpPr>
          <p:cNvPr id="1048680" name="文本占位符 2">
            <a:extLst>
              <a:ext uri="{FF2B5EF4-FFF2-40B4-BE49-F238E27FC236}">
                <a16:creationId xmlns:a16="http://schemas.microsoft.com/office/drawing/2014/main" id="{698C58DF-AE09-9EE2-FC16-345FB9625C34}"/>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02</a:t>
            </a:r>
            <a:endParaRPr lang="zh-CN" altLang="en-US" dirty="0">
              <a:latin typeface="+mn-lt"/>
              <a:ea typeface="华文中宋" panose="02010600040101010101" pitchFamily="2" charset="-122"/>
            </a:endParaRPr>
          </a:p>
        </p:txBody>
      </p:sp>
      <p:pic>
        <p:nvPicPr>
          <p:cNvPr id="2097166" name="图片 5">
            <a:extLst>
              <a:ext uri="{FF2B5EF4-FFF2-40B4-BE49-F238E27FC236}">
                <a16:creationId xmlns:a16="http://schemas.microsoft.com/office/drawing/2014/main" id="{80D00E8E-FFFB-B1F7-F246-46A7BF74BD45}"/>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F92EBD4B-1F75-64A9-1DDE-2C0354D1F52E}"/>
              </a:ext>
            </a:extLst>
          </p:cNvPr>
          <p:cNvCxnSpPr/>
          <p:nvPr/>
        </p:nvCxnSpPr>
        <p:spPr>
          <a:xfrm>
            <a:off x="2196000" y="936000"/>
            <a:ext cx="8280000" cy="0"/>
          </a:xfrm>
          <a:prstGeom prst="line">
            <a:avLst/>
          </a:prstGeom>
          <a:ln w="41275">
            <a:solidFill>
              <a:srgbClr val="203864"/>
            </a:solidFill>
          </a:ln>
        </p:spPr>
        <p:style>
          <a:lnRef idx="1">
            <a:schemeClr val="dk1"/>
          </a:lnRef>
          <a:fillRef idx="0">
            <a:schemeClr val="dk1"/>
          </a:fillRef>
          <a:effectRef idx="0">
            <a:schemeClr val="dk1"/>
          </a:effectRef>
          <a:fontRef idx="minor">
            <a:schemeClr val="tx1"/>
          </a:fontRef>
        </p:style>
      </p:cxnSp>
      <p:sp>
        <p:nvSpPr>
          <p:cNvPr id="8" name="灯片编号占位符 7">
            <a:extLst>
              <a:ext uri="{FF2B5EF4-FFF2-40B4-BE49-F238E27FC236}">
                <a16:creationId xmlns:a16="http://schemas.microsoft.com/office/drawing/2014/main" id="{A15C6B98-0841-9E59-5678-12937C2F2189}"/>
              </a:ext>
            </a:extLst>
          </p:cNvPr>
          <p:cNvSpPr>
            <a:spLocks noGrp="1"/>
          </p:cNvSpPr>
          <p:nvPr>
            <p:ph type="sldNum" sz="quarter" idx="12"/>
          </p:nvPr>
        </p:nvSpPr>
        <p:spPr>
          <a:xfrm>
            <a:off x="8829675" y="6388958"/>
            <a:ext cx="2743200" cy="365125"/>
          </a:xfrm>
        </p:spPr>
        <p:txBody>
          <a:bodyPr/>
          <a:lstStyle/>
          <a:p>
            <a:fld id="{4C728F51-6063-40BC-906F-D6FBF0AE26BF}" type="slidenum">
              <a:rPr lang="zh-CN" altLang="en-US" smtClean="0"/>
              <a:t>7</a:t>
            </a:fld>
            <a:endParaRPr lang="zh-CN" altLang="en-US" dirty="0"/>
          </a:p>
        </p:txBody>
      </p:sp>
      <p:pic>
        <p:nvPicPr>
          <p:cNvPr id="3" name="图片 2" descr="图示&#10;&#10;AI 生成的内容可能不正确。">
            <a:extLst>
              <a:ext uri="{FF2B5EF4-FFF2-40B4-BE49-F238E27FC236}">
                <a16:creationId xmlns:a16="http://schemas.microsoft.com/office/drawing/2014/main" id="{2CBD8D91-A7ED-FBC2-BCB5-B4E7B6DB6C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50631" y="1076784"/>
            <a:ext cx="6842927" cy="1918536"/>
          </a:xfrm>
          <a:prstGeom prst="rect">
            <a:avLst/>
          </a:prstGeom>
        </p:spPr>
      </p:pic>
      <p:sp>
        <p:nvSpPr>
          <p:cNvPr id="4" name="文本框 3">
            <a:extLst>
              <a:ext uri="{FF2B5EF4-FFF2-40B4-BE49-F238E27FC236}">
                <a16:creationId xmlns:a16="http://schemas.microsoft.com/office/drawing/2014/main" id="{8085004E-F3DF-1501-6B33-D5ECF87D2611}"/>
              </a:ext>
            </a:extLst>
          </p:cNvPr>
          <p:cNvSpPr txBox="1"/>
          <p:nvPr/>
        </p:nvSpPr>
        <p:spPr>
          <a:xfrm>
            <a:off x="4250454" y="3129712"/>
            <a:ext cx="2230734" cy="369332"/>
          </a:xfrm>
          <a:prstGeom prst="rect">
            <a:avLst/>
          </a:prstGeom>
          <a:noFill/>
        </p:spPr>
        <p:txBody>
          <a:bodyPr wrap="square" rtlCol="0">
            <a:spAutoFit/>
          </a:bodyPr>
          <a:lstStyle/>
          <a:p>
            <a:pPr algn="ctr"/>
            <a:r>
              <a:rPr lang="en-US" altLang="zh-CN" dirty="0"/>
              <a:t>CBAM</a:t>
            </a:r>
            <a:r>
              <a:rPr lang="zh-CN" altLang="en-US" dirty="0"/>
              <a:t>模块</a:t>
            </a:r>
          </a:p>
        </p:txBody>
      </p:sp>
      <p:sp>
        <p:nvSpPr>
          <p:cNvPr id="5" name="文本框 4">
            <a:extLst>
              <a:ext uri="{FF2B5EF4-FFF2-40B4-BE49-F238E27FC236}">
                <a16:creationId xmlns:a16="http://schemas.microsoft.com/office/drawing/2014/main" id="{5723A8CD-E1D9-F9D0-E537-23B918AD5609}"/>
              </a:ext>
            </a:extLst>
          </p:cNvPr>
          <p:cNvSpPr txBox="1"/>
          <p:nvPr/>
        </p:nvSpPr>
        <p:spPr>
          <a:xfrm>
            <a:off x="1075174" y="3908809"/>
            <a:ext cx="10269415" cy="2031325"/>
          </a:xfrm>
          <a:prstGeom prst="rect">
            <a:avLst/>
          </a:prstGeom>
          <a:noFill/>
        </p:spPr>
        <p:txBody>
          <a:bodyPr wrap="square" rtlCol="0">
            <a:spAutoFit/>
          </a:bodyPr>
          <a:lstStyle/>
          <a:p>
            <a:pPr indent="457200"/>
            <a:r>
              <a:rPr lang="zh-CN" altLang="en-US" b="0" i="0" dirty="0">
                <a:effectLst/>
                <a:latin typeface="Inter"/>
              </a:rPr>
              <a:t>卷积块注意力模块（</a:t>
            </a:r>
            <a:r>
              <a:rPr lang="en-US" altLang="zh-CN" b="0" i="0" dirty="0">
                <a:effectLst/>
                <a:latin typeface="Inter"/>
              </a:rPr>
              <a:t>CBAM</a:t>
            </a:r>
            <a:r>
              <a:rPr lang="zh-CN" altLang="en-US" b="0" i="0" dirty="0">
                <a:effectLst/>
                <a:latin typeface="Inter"/>
              </a:rPr>
              <a:t>）用于增强神经网络特征表示，在视觉任务中，因输入特征图信息重要性不同，它通过</a:t>
            </a:r>
            <a:r>
              <a:rPr lang="zh-CN" altLang="en-US" b="1" i="0" dirty="0">
                <a:effectLst/>
                <a:latin typeface="Inter"/>
              </a:rPr>
              <a:t>注意力机制让网络聚焦关键特征、抑制无关信息</a:t>
            </a:r>
            <a:r>
              <a:rPr lang="zh-CN" altLang="en-US" b="0" i="0" dirty="0">
                <a:effectLst/>
                <a:latin typeface="Inter"/>
              </a:rPr>
              <a:t>以提升性能。工作时先接收输入特征图送入</a:t>
            </a:r>
            <a:r>
              <a:rPr lang="zh-CN" altLang="en-US" b="1" i="0" dirty="0">
                <a:effectLst/>
                <a:latin typeface="Inter"/>
              </a:rPr>
              <a:t>通道注意力模块</a:t>
            </a:r>
            <a:r>
              <a:rPr lang="zh-CN" altLang="en-US" b="0" i="0" dirty="0">
                <a:effectLst/>
                <a:latin typeface="Inter"/>
              </a:rPr>
              <a:t>，生成</a:t>
            </a:r>
            <a:r>
              <a:rPr lang="zh-CN" altLang="en-US" b="1" i="0" dirty="0">
                <a:effectLst/>
                <a:latin typeface="Inter"/>
              </a:rPr>
              <a:t>通道权重向量</a:t>
            </a:r>
            <a:r>
              <a:rPr lang="zh-CN" altLang="en-US" b="0" i="0" dirty="0">
                <a:effectLst/>
                <a:latin typeface="Inter"/>
              </a:rPr>
              <a:t>，经广播机制扩张到</a:t>
            </a:r>
            <a:r>
              <a:rPr lang="en-US" altLang="zh-CN" b="0" i="1" dirty="0">
                <a:effectLst/>
                <a:latin typeface="KaTeX_Math"/>
              </a:rPr>
              <a:t>C</a:t>
            </a:r>
            <a:r>
              <a:rPr lang="en-US" altLang="zh-CN" b="0" i="0" dirty="0">
                <a:effectLst/>
                <a:latin typeface="KaTeX_Main"/>
              </a:rPr>
              <a:t>×</a:t>
            </a:r>
            <a:r>
              <a:rPr lang="en-US" altLang="zh-CN" b="0" i="1" dirty="0">
                <a:effectLst/>
                <a:latin typeface="KaTeX_Math"/>
              </a:rPr>
              <a:t>H</a:t>
            </a:r>
            <a:r>
              <a:rPr lang="en-US" altLang="zh-CN" b="0" i="0" dirty="0">
                <a:effectLst/>
                <a:latin typeface="KaTeX_Main"/>
              </a:rPr>
              <a:t>×</a:t>
            </a:r>
            <a:r>
              <a:rPr lang="en-US" altLang="zh-CN" b="0" i="1" dirty="0">
                <a:effectLst/>
                <a:latin typeface="KaTeX_Math"/>
              </a:rPr>
              <a:t>W</a:t>
            </a:r>
            <a:r>
              <a:rPr lang="zh-CN" altLang="en-US" b="0" i="0" dirty="0">
                <a:effectLst/>
                <a:latin typeface="Inter"/>
              </a:rPr>
              <a:t> 与输入特征图相乘得新特征图；新特征图再</a:t>
            </a:r>
            <a:r>
              <a:rPr lang="zh-CN" altLang="en-US" b="1" i="0" dirty="0">
                <a:effectLst/>
                <a:latin typeface="Inter"/>
              </a:rPr>
              <a:t>送入空间注意力模块生成空间权重</a:t>
            </a:r>
            <a:r>
              <a:rPr lang="zh-CN" altLang="en-US" b="0" i="0" dirty="0">
                <a:effectLst/>
                <a:latin typeface="Inter"/>
              </a:rPr>
              <a:t>，与之前特征图相乘，输出经双重注意力处理的</a:t>
            </a:r>
            <a:r>
              <a:rPr lang="zh-CN" altLang="en-US" b="1" i="0" dirty="0">
                <a:effectLst/>
                <a:latin typeface="Inter"/>
              </a:rPr>
              <a:t>优化特征图</a:t>
            </a:r>
            <a:r>
              <a:rPr lang="zh-CN" altLang="en-US" b="0" i="0" dirty="0">
                <a:effectLst/>
                <a:latin typeface="Inter"/>
              </a:rPr>
              <a:t>（</a:t>
            </a:r>
            <a:r>
              <a:rPr lang="en-US" altLang="zh-CN" b="0" i="0" dirty="0">
                <a:effectLst/>
                <a:latin typeface="Inter"/>
              </a:rPr>
              <a:t>Refined Feature</a:t>
            </a:r>
            <a:r>
              <a:rPr lang="zh-CN" altLang="en-US" b="0" i="0" dirty="0">
                <a:effectLst/>
                <a:latin typeface="Inter"/>
              </a:rPr>
              <a:t>），含强化关键特征信息，为后续任务提供优质输入。</a:t>
            </a:r>
            <a:r>
              <a:rPr lang="en-US" altLang="zh-CN" b="0" i="0" dirty="0">
                <a:effectLst/>
                <a:latin typeface="Inter"/>
              </a:rPr>
              <a:t>CBAM </a:t>
            </a:r>
            <a:r>
              <a:rPr lang="zh-CN" altLang="en-US" b="0" i="0" dirty="0">
                <a:effectLst/>
                <a:latin typeface="Inter"/>
              </a:rPr>
              <a:t>从通道和空间维度筛选强化特征，可集成到多种卷积神经网络，不显著增加复杂度且有效提升模型在视觉任务中的表现，在学术和工业界广泛应用。</a:t>
            </a:r>
            <a:endParaRPr lang="en-US" altLang="zh-CN" dirty="0"/>
          </a:p>
        </p:txBody>
      </p:sp>
    </p:spTree>
    <p:extLst>
      <p:ext uri="{BB962C8B-B14F-4D97-AF65-F5344CB8AC3E}">
        <p14:creationId xmlns:p14="http://schemas.microsoft.com/office/powerpoint/2010/main" val="2369099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DA97E-997A-FD27-21B4-5C7F90FC3D31}"/>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290A0D1E-E558-0BA9-43EE-2633C7684198}"/>
              </a:ext>
            </a:extLst>
          </p:cNvPr>
          <p:cNvSpPr txBox="1"/>
          <p:nvPr/>
        </p:nvSpPr>
        <p:spPr>
          <a:xfrm>
            <a:off x="2150631" y="296863"/>
            <a:ext cx="5662409"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华文中宋" panose="02010600040101010101" pitchFamily="2" charset="-122"/>
                <a:ea typeface="华文中宋" panose="02010600040101010101" pitchFamily="2" charset="-122"/>
              </a:rPr>
              <a:t>参考文献</a:t>
            </a:r>
          </a:p>
        </p:txBody>
      </p:sp>
      <p:sp>
        <p:nvSpPr>
          <p:cNvPr id="1048679" name="等腰三角形 3">
            <a:extLst>
              <a:ext uri="{FF2B5EF4-FFF2-40B4-BE49-F238E27FC236}">
                <a16:creationId xmlns:a16="http://schemas.microsoft.com/office/drawing/2014/main" id="{2D84787C-2E27-63ED-D1DC-73AB15AED9A2}"/>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sp>
        <p:nvSpPr>
          <p:cNvPr id="1048680" name="文本占位符 2">
            <a:extLst>
              <a:ext uri="{FF2B5EF4-FFF2-40B4-BE49-F238E27FC236}">
                <a16:creationId xmlns:a16="http://schemas.microsoft.com/office/drawing/2014/main" id="{87494BDF-368A-E87E-07C1-9C3F8140B849}"/>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02</a:t>
            </a:r>
            <a:endParaRPr lang="zh-CN" altLang="en-US" dirty="0">
              <a:latin typeface="+mn-lt"/>
              <a:ea typeface="华文中宋" panose="02010600040101010101" pitchFamily="2" charset="-122"/>
            </a:endParaRPr>
          </a:p>
        </p:txBody>
      </p:sp>
      <p:pic>
        <p:nvPicPr>
          <p:cNvPr id="2097166" name="图片 5">
            <a:extLst>
              <a:ext uri="{FF2B5EF4-FFF2-40B4-BE49-F238E27FC236}">
                <a16:creationId xmlns:a16="http://schemas.microsoft.com/office/drawing/2014/main" id="{0DCDBC7C-F598-9854-8D66-097E18283FCC}"/>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20A3A61C-92E8-D85C-F0BF-5898FA62F8CA}"/>
              </a:ext>
            </a:extLst>
          </p:cNvPr>
          <p:cNvCxnSpPr/>
          <p:nvPr/>
        </p:nvCxnSpPr>
        <p:spPr>
          <a:xfrm>
            <a:off x="2196000" y="936000"/>
            <a:ext cx="8280000" cy="0"/>
          </a:xfrm>
          <a:prstGeom prst="line">
            <a:avLst/>
          </a:prstGeom>
          <a:ln w="41275">
            <a:solidFill>
              <a:srgbClr val="203864"/>
            </a:solidFill>
          </a:ln>
        </p:spPr>
        <p:style>
          <a:lnRef idx="1">
            <a:schemeClr val="dk1"/>
          </a:lnRef>
          <a:fillRef idx="0">
            <a:schemeClr val="dk1"/>
          </a:fillRef>
          <a:effectRef idx="0">
            <a:schemeClr val="dk1"/>
          </a:effectRef>
          <a:fontRef idx="minor">
            <a:schemeClr val="tx1"/>
          </a:fontRef>
        </p:style>
      </p:cxnSp>
      <p:sp>
        <p:nvSpPr>
          <p:cNvPr id="8" name="灯片编号占位符 7">
            <a:extLst>
              <a:ext uri="{FF2B5EF4-FFF2-40B4-BE49-F238E27FC236}">
                <a16:creationId xmlns:a16="http://schemas.microsoft.com/office/drawing/2014/main" id="{7FAD2711-988B-CC99-E8F1-0F689D845C1B}"/>
              </a:ext>
            </a:extLst>
          </p:cNvPr>
          <p:cNvSpPr>
            <a:spLocks noGrp="1"/>
          </p:cNvSpPr>
          <p:nvPr>
            <p:ph type="sldNum" sz="quarter" idx="12"/>
          </p:nvPr>
        </p:nvSpPr>
        <p:spPr>
          <a:xfrm>
            <a:off x="8829675" y="6388958"/>
            <a:ext cx="2743200" cy="365125"/>
          </a:xfrm>
        </p:spPr>
        <p:txBody>
          <a:bodyPr/>
          <a:lstStyle/>
          <a:p>
            <a:fld id="{4C728F51-6063-40BC-906F-D6FBF0AE26BF}" type="slidenum">
              <a:rPr lang="zh-CN" altLang="en-US" smtClean="0"/>
              <a:t>8</a:t>
            </a:fld>
            <a:endParaRPr lang="zh-CN" altLang="en-US" dirty="0"/>
          </a:p>
        </p:txBody>
      </p:sp>
      <p:pic>
        <p:nvPicPr>
          <p:cNvPr id="15" name="图片 14" descr="图示&#10;&#10;AI 生成的内容可能不正确。">
            <a:extLst>
              <a:ext uri="{FF2B5EF4-FFF2-40B4-BE49-F238E27FC236}">
                <a16:creationId xmlns:a16="http://schemas.microsoft.com/office/drawing/2014/main" id="{FC7E0C7E-67D1-5797-6416-7C5CD542C33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8890" y="1645127"/>
            <a:ext cx="4814450" cy="1141910"/>
          </a:xfrm>
          <a:prstGeom prst="rect">
            <a:avLst/>
          </a:prstGeom>
        </p:spPr>
      </p:pic>
      <p:sp>
        <p:nvSpPr>
          <p:cNvPr id="16" name="文本框 15">
            <a:extLst>
              <a:ext uri="{FF2B5EF4-FFF2-40B4-BE49-F238E27FC236}">
                <a16:creationId xmlns:a16="http://schemas.microsoft.com/office/drawing/2014/main" id="{45C63A70-29B0-D2B3-FA96-3EE9E72E693D}"/>
              </a:ext>
            </a:extLst>
          </p:cNvPr>
          <p:cNvSpPr txBox="1"/>
          <p:nvPr/>
        </p:nvSpPr>
        <p:spPr>
          <a:xfrm>
            <a:off x="1477108" y="2924070"/>
            <a:ext cx="2130250" cy="369332"/>
          </a:xfrm>
          <a:prstGeom prst="rect">
            <a:avLst/>
          </a:prstGeom>
          <a:noFill/>
        </p:spPr>
        <p:txBody>
          <a:bodyPr wrap="square" rtlCol="0">
            <a:spAutoFit/>
          </a:bodyPr>
          <a:lstStyle/>
          <a:p>
            <a:pPr algn="ctr"/>
            <a:r>
              <a:rPr lang="zh-CN" altLang="en-US" dirty="0"/>
              <a:t>通道注意力模块</a:t>
            </a:r>
          </a:p>
        </p:txBody>
      </p:sp>
      <p:sp>
        <p:nvSpPr>
          <p:cNvPr id="17" name="文本框 16">
            <a:extLst>
              <a:ext uri="{FF2B5EF4-FFF2-40B4-BE49-F238E27FC236}">
                <a16:creationId xmlns:a16="http://schemas.microsoft.com/office/drawing/2014/main" id="{52D2E554-080E-7493-C0DB-27198F8BDC6C}"/>
              </a:ext>
            </a:extLst>
          </p:cNvPr>
          <p:cNvSpPr txBox="1"/>
          <p:nvPr/>
        </p:nvSpPr>
        <p:spPr>
          <a:xfrm>
            <a:off x="170822" y="3506875"/>
            <a:ext cx="5022518" cy="2585323"/>
          </a:xfrm>
          <a:prstGeom prst="rect">
            <a:avLst/>
          </a:prstGeom>
          <a:noFill/>
        </p:spPr>
        <p:txBody>
          <a:bodyPr wrap="square" rtlCol="0">
            <a:spAutoFit/>
          </a:bodyPr>
          <a:lstStyle/>
          <a:p>
            <a:r>
              <a:rPr lang="en-US" altLang="zh-CN" dirty="0"/>
              <a:t>1.</a:t>
            </a:r>
            <a:r>
              <a:rPr lang="zh-CN" altLang="en-US" dirty="0"/>
              <a:t>先在</a:t>
            </a:r>
            <a:r>
              <a:rPr lang="zh-CN" altLang="en-US" b="1" dirty="0"/>
              <a:t>每个通道内</a:t>
            </a:r>
            <a:r>
              <a:rPr lang="zh-CN" altLang="en-US" dirty="0"/>
              <a:t>执行全局最大池化和全局平均池化，得到</a:t>
            </a:r>
            <a:r>
              <a:rPr lang="en-US" altLang="zh-CN" dirty="0"/>
              <a:t>2</a:t>
            </a:r>
            <a:r>
              <a:rPr lang="zh-CN" altLang="en-US" dirty="0"/>
              <a:t>个特征向量：</a:t>
            </a:r>
            <a:r>
              <a:rPr lang="en-US" altLang="zh-CN" dirty="0" err="1"/>
              <a:t>MaxPool</a:t>
            </a:r>
            <a:r>
              <a:rPr lang="zh-CN" altLang="en-US" dirty="0"/>
              <a:t>和</a:t>
            </a:r>
            <a:r>
              <a:rPr lang="en-US" altLang="zh-CN" dirty="0" err="1"/>
              <a:t>AvgPool</a:t>
            </a:r>
            <a:r>
              <a:rPr lang="zh-CN" altLang="en-US" dirty="0"/>
              <a:t>，特征图的结构是</a:t>
            </a:r>
            <a:r>
              <a:rPr lang="en-US" altLang="zh-CN" dirty="0"/>
              <a:t>Cx1x1</a:t>
            </a:r>
          </a:p>
          <a:p>
            <a:r>
              <a:rPr lang="en-US" altLang="zh-CN" dirty="0"/>
              <a:t>2.</a:t>
            </a:r>
            <a:r>
              <a:rPr lang="zh-CN" altLang="en-US" dirty="0"/>
              <a:t>然后将两个特征向量输入到一个共享全连接层，用于学习每个通道的注意力特征（先降维然后经过</a:t>
            </a:r>
            <a:r>
              <a:rPr lang="en-US" altLang="zh-CN" dirty="0"/>
              <a:t>rule</a:t>
            </a:r>
            <a:r>
              <a:rPr lang="zh-CN" altLang="en-US" dirty="0"/>
              <a:t>函数最后升维到原向量</a:t>
            </a:r>
            <a:r>
              <a:rPr lang="en-US" altLang="zh-CN" dirty="0"/>
              <a:t>c</a:t>
            </a:r>
            <a:r>
              <a:rPr lang="zh-CN" altLang="en-US" dirty="0"/>
              <a:t>）</a:t>
            </a:r>
            <a:r>
              <a:rPr lang="en-US" altLang="zh-CN" dirty="0"/>
              <a:t>,</a:t>
            </a:r>
            <a:r>
              <a:rPr lang="zh-CN" altLang="en-US" dirty="0"/>
              <a:t>此时会得到两个特征向量权重：</a:t>
            </a:r>
            <a:r>
              <a:rPr lang="en-US" altLang="zh-CN" dirty="0" err="1"/>
              <a:t>max_out</a:t>
            </a:r>
            <a:r>
              <a:rPr lang="zh-CN" altLang="en-US" dirty="0"/>
              <a:t>和</a:t>
            </a:r>
            <a:r>
              <a:rPr lang="en-US" altLang="zh-CN" dirty="0" err="1"/>
              <a:t>avg_out</a:t>
            </a:r>
            <a:endParaRPr lang="en-US" altLang="zh-CN" dirty="0"/>
          </a:p>
          <a:p>
            <a:r>
              <a:rPr lang="en-US" altLang="zh-CN" dirty="0"/>
              <a:t>3.</a:t>
            </a:r>
            <a:r>
              <a:rPr lang="zh-CN" altLang="en-US" dirty="0"/>
              <a:t>后续可以将权重向量相加然后通过</a:t>
            </a:r>
            <a:r>
              <a:rPr lang="en-US" altLang="zh-CN" dirty="0"/>
              <a:t>sigmoid</a:t>
            </a:r>
            <a:r>
              <a:rPr lang="zh-CN" altLang="en-US" dirty="0"/>
              <a:t>激活函数得到最终的权重向量（</a:t>
            </a:r>
            <a:r>
              <a:rPr lang="en-US" altLang="zh-CN" dirty="0"/>
              <a:t>Cx1x1</a:t>
            </a:r>
            <a:r>
              <a:rPr lang="zh-CN" altLang="en-US" dirty="0"/>
              <a:t>）</a:t>
            </a:r>
          </a:p>
        </p:txBody>
      </p:sp>
      <p:pic>
        <p:nvPicPr>
          <p:cNvPr id="19" name="图片 18" descr="图示&#10;&#10;AI 生成的内容可能不正确。">
            <a:extLst>
              <a:ext uri="{FF2B5EF4-FFF2-40B4-BE49-F238E27FC236}">
                <a16:creationId xmlns:a16="http://schemas.microsoft.com/office/drawing/2014/main" id="{D1DDB8B1-8E93-D89D-6929-52496659954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41127" y="1338461"/>
            <a:ext cx="4415257" cy="1448576"/>
          </a:xfrm>
          <a:prstGeom prst="rect">
            <a:avLst/>
          </a:prstGeom>
        </p:spPr>
      </p:pic>
      <p:sp>
        <p:nvSpPr>
          <p:cNvPr id="20" name="文本框 19">
            <a:extLst>
              <a:ext uri="{FF2B5EF4-FFF2-40B4-BE49-F238E27FC236}">
                <a16:creationId xmlns:a16="http://schemas.microsoft.com/office/drawing/2014/main" id="{0BE7EEFD-8292-82C6-C51D-C2B3D2B94EE1}"/>
              </a:ext>
            </a:extLst>
          </p:cNvPr>
          <p:cNvSpPr txBox="1"/>
          <p:nvPr/>
        </p:nvSpPr>
        <p:spPr>
          <a:xfrm>
            <a:off x="6742443" y="3108736"/>
            <a:ext cx="2743200" cy="369332"/>
          </a:xfrm>
          <a:prstGeom prst="rect">
            <a:avLst/>
          </a:prstGeom>
          <a:noFill/>
        </p:spPr>
        <p:txBody>
          <a:bodyPr wrap="square" rtlCol="0">
            <a:spAutoFit/>
          </a:bodyPr>
          <a:lstStyle/>
          <a:p>
            <a:pPr algn="ctr"/>
            <a:r>
              <a:rPr lang="zh-CN" altLang="en-US" dirty="0"/>
              <a:t>空间注意力模块</a:t>
            </a:r>
          </a:p>
        </p:txBody>
      </p:sp>
      <p:sp>
        <p:nvSpPr>
          <p:cNvPr id="21" name="文本框 20">
            <a:extLst>
              <a:ext uri="{FF2B5EF4-FFF2-40B4-BE49-F238E27FC236}">
                <a16:creationId xmlns:a16="http://schemas.microsoft.com/office/drawing/2014/main" id="{6DC69B43-E425-5FC4-FB22-32C98366A800}"/>
              </a:ext>
            </a:extLst>
          </p:cNvPr>
          <p:cNvSpPr txBox="1"/>
          <p:nvPr/>
        </p:nvSpPr>
        <p:spPr>
          <a:xfrm>
            <a:off x="6095999" y="3876207"/>
            <a:ext cx="4846655" cy="2585323"/>
          </a:xfrm>
          <a:prstGeom prst="rect">
            <a:avLst/>
          </a:prstGeom>
          <a:noFill/>
        </p:spPr>
        <p:txBody>
          <a:bodyPr wrap="square" rtlCol="0">
            <a:spAutoFit/>
          </a:bodyPr>
          <a:lstStyle/>
          <a:p>
            <a:r>
              <a:rPr lang="en-US" altLang="zh-CN" dirty="0"/>
              <a:t>1.</a:t>
            </a:r>
            <a:r>
              <a:rPr lang="zh-CN" altLang="en-US" dirty="0"/>
              <a:t>先</a:t>
            </a:r>
            <a:r>
              <a:rPr lang="zh-CN" altLang="en-US" b="1" dirty="0"/>
              <a:t>沿着通道</a:t>
            </a:r>
            <a:r>
              <a:rPr lang="zh-CN" altLang="en-US" dirty="0"/>
              <a:t>做全局最大池化和全局平均池化，得到</a:t>
            </a:r>
            <a:r>
              <a:rPr lang="en-US" altLang="zh-CN" dirty="0"/>
              <a:t>2</a:t>
            </a:r>
            <a:r>
              <a:rPr lang="zh-CN" altLang="en-US" dirty="0"/>
              <a:t>个不同的特征图</a:t>
            </a:r>
            <a:r>
              <a:rPr lang="en-US" altLang="zh-CN" dirty="0" err="1"/>
              <a:t>max_out</a:t>
            </a:r>
            <a:r>
              <a:rPr lang="zh-CN" altLang="en-US" dirty="0"/>
              <a:t>和</a:t>
            </a:r>
            <a:r>
              <a:rPr lang="en-US" altLang="zh-CN" dirty="0" err="1"/>
              <a:t>avg_out</a:t>
            </a:r>
            <a:r>
              <a:rPr lang="zh-CN" altLang="en-US" dirty="0"/>
              <a:t>。特征图的形状为：</a:t>
            </a:r>
            <a:r>
              <a:rPr lang="en-US" altLang="zh-CN" dirty="0"/>
              <a:t>1xHxW. </a:t>
            </a:r>
            <a:r>
              <a:rPr lang="zh-CN" altLang="en-US" dirty="0"/>
              <a:t>可以捕捉到空间位置的重要性</a:t>
            </a:r>
          </a:p>
          <a:p>
            <a:r>
              <a:rPr lang="en-US" altLang="zh-CN" dirty="0"/>
              <a:t>2.</a:t>
            </a:r>
            <a:r>
              <a:rPr lang="zh-CN" altLang="en-US" dirty="0"/>
              <a:t>将</a:t>
            </a:r>
            <a:r>
              <a:rPr lang="en-US" altLang="zh-CN" dirty="0" err="1"/>
              <a:t>max_out</a:t>
            </a:r>
            <a:r>
              <a:rPr lang="zh-CN" altLang="en-US" dirty="0"/>
              <a:t>和</a:t>
            </a:r>
            <a:r>
              <a:rPr lang="en-US" altLang="zh-CN" dirty="0" err="1"/>
              <a:t>avg_out</a:t>
            </a:r>
            <a:r>
              <a:rPr lang="en-US" altLang="zh-CN" dirty="0"/>
              <a:t> </a:t>
            </a:r>
            <a:r>
              <a:rPr lang="zh-CN" altLang="en-US" dirty="0"/>
              <a:t>拼接成</a:t>
            </a:r>
            <a:r>
              <a:rPr lang="en-US" altLang="zh-CN" dirty="0"/>
              <a:t>[</a:t>
            </a:r>
            <a:r>
              <a:rPr lang="en-US" altLang="zh-CN" dirty="0" err="1"/>
              <a:t>max_out,avgout</a:t>
            </a:r>
            <a:r>
              <a:rPr lang="en-US" altLang="zh-CN" dirty="0"/>
              <a:t>] ,</a:t>
            </a:r>
            <a:r>
              <a:rPr lang="zh-CN" altLang="en-US" dirty="0"/>
              <a:t>形状变为：</a:t>
            </a:r>
            <a:r>
              <a:rPr lang="en-US" altLang="zh-CN" dirty="0"/>
              <a:t>2xHxW</a:t>
            </a:r>
          </a:p>
          <a:p>
            <a:r>
              <a:rPr lang="en-US" altLang="zh-CN" dirty="0"/>
              <a:t>3.</a:t>
            </a:r>
            <a:r>
              <a:rPr lang="zh-CN" altLang="en-US" dirty="0"/>
              <a:t>对输出做卷积，形状变为：</a:t>
            </a:r>
            <a:r>
              <a:rPr lang="en-US" altLang="zh-CN" dirty="0"/>
              <a:t>1xHxW</a:t>
            </a:r>
          </a:p>
          <a:p>
            <a:r>
              <a:rPr lang="en-US" altLang="zh-CN" dirty="0"/>
              <a:t>4.</a:t>
            </a:r>
            <a:r>
              <a:rPr lang="zh-CN" altLang="en-US" dirty="0"/>
              <a:t>然后用</a:t>
            </a:r>
            <a:r>
              <a:rPr lang="en-US" altLang="zh-CN" dirty="0"/>
              <a:t>sigmoid</a:t>
            </a:r>
            <a:r>
              <a:rPr lang="zh-CN" altLang="en-US" dirty="0"/>
              <a:t>激活函数生成空间分布权重</a:t>
            </a:r>
          </a:p>
          <a:p>
            <a:endParaRPr lang="zh-CN" altLang="en-US" dirty="0"/>
          </a:p>
        </p:txBody>
      </p:sp>
    </p:spTree>
    <p:extLst>
      <p:ext uri="{BB962C8B-B14F-4D97-AF65-F5344CB8AC3E}">
        <p14:creationId xmlns:p14="http://schemas.microsoft.com/office/powerpoint/2010/main" val="18059369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7294B-9417-0D7C-9AF7-C733247EC7A8}"/>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A4F894DA-6D2F-803C-683A-B5D3283B5D51}"/>
              </a:ext>
            </a:extLst>
          </p:cNvPr>
          <p:cNvSpPr txBox="1"/>
          <p:nvPr/>
        </p:nvSpPr>
        <p:spPr>
          <a:xfrm>
            <a:off x="2150631" y="296863"/>
            <a:ext cx="5662409"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华文中宋" panose="02010600040101010101" pitchFamily="2" charset="-122"/>
                <a:ea typeface="华文中宋" panose="02010600040101010101" pitchFamily="2" charset="-122"/>
              </a:rPr>
              <a:t>参考文献</a:t>
            </a:r>
          </a:p>
        </p:txBody>
      </p:sp>
      <p:sp>
        <p:nvSpPr>
          <p:cNvPr id="1048679" name="等腰三角形 3">
            <a:extLst>
              <a:ext uri="{FF2B5EF4-FFF2-40B4-BE49-F238E27FC236}">
                <a16:creationId xmlns:a16="http://schemas.microsoft.com/office/drawing/2014/main" id="{2A605BAA-FF34-9D59-C753-8F61C512C8B0}"/>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sp>
        <p:nvSpPr>
          <p:cNvPr id="1048680" name="文本占位符 2">
            <a:extLst>
              <a:ext uri="{FF2B5EF4-FFF2-40B4-BE49-F238E27FC236}">
                <a16:creationId xmlns:a16="http://schemas.microsoft.com/office/drawing/2014/main" id="{36817CEF-1CAE-E54B-F4DA-8060FCE6A06F}"/>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02</a:t>
            </a:r>
            <a:endParaRPr lang="zh-CN" altLang="en-US" dirty="0">
              <a:latin typeface="+mn-lt"/>
              <a:ea typeface="华文中宋" panose="02010600040101010101" pitchFamily="2" charset="-122"/>
            </a:endParaRPr>
          </a:p>
        </p:txBody>
      </p:sp>
      <p:pic>
        <p:nvPicPr>
          <p:cNvPr id="2097166" name="图片 5">
            <a:extLst>
              <a:ext uri="{FF2B5EF4-FFF2-40B4-BE49-F238E27FC236}">
                <a16:creationId xmlns:a16="http://schemas.microsoft.com/office/drawing/2014/main" id="{3D248290-E045-52F6-397F-3F0E4AD6540E}"/>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09865E44-1224-F7B7-F81A-58781A6796B9}"/>
              </a:ext>
            </a:extLst>
          </p:cNvPr>
          <p:cNvCxnSpPr/>
          <p:nvPr/>
        </p:nvCxnSpPr>
        <p:spPr>
          <a:xfrm>
            <a:off x="2196000" y="936000"/>
            <a:ext cx="8280000" cy="0"/>
          </a:xfrm>
          <a:prstGeom prst="line">
            <a:avLst/>
          </a:prstGeom>
          <a:ln w="41275">
            <a:solidFill>
              <a:srgbClr val="203864"/>
            </a:solidFill>
          </a:ln>
        </p:spPr>
        <p:style>
          <a:lnRef idx="1">
            <a:schemeClr val="dk1"/>
          </a:lnRef>
          <a:fillRef idx="0">
            <a:schemeClr val="dk1"/>
          </a:fillRef>
          <a:effectRef idx="0">
            <a:schemeClr val="dk1"/>
          </a:effectRef>
          <a:fontRef idx="minor">
            <a:schemeClr val="tx1"/>
          </a:fontRef>
        </p:style>
      </p:cxnSp>
      <p:sp>
        <p:nvSpPr>
          <p:cNvPr id="8" name="灯片编号占位符 7">
            <a:extLst>
              <a:ext uri="{FF2B5EF4-FFF2-40B4-BE49-F238E27FC236}">
                <a16:creationId xmlns:a16="http://schemas.microsoft.com/office/drawing/2014/main" id="{A71DF502-2F35-E49F-E3A6-0CF827C9A067}"/>
              </a:ext>
            </a:extLst>
          </p:cNvPr>
          <p:cNvSpPr>
            <a:spLocks noGrp="1"/>
          </p:cNvSpPr>
          <p:nvPr>
            <p:ph type="sldNum" sz="quarter" idx="12"/>
          </p:nvPr>
        </p:nvSpPr>
        <p:spPr>
          <a:xfrm>
            <a:off x="8829675" y="6388958"/>
            <a:ext cx="2743200" cy="365125"/>
          </a:xfrm>
        </p:spPr>
        <p:txBody>
          <a:bodyPr/>
          <a:lstStyle/>
          <a:p>
            <a:fld id="{4C728F51-6063-40BC-906F-D6FBF0AE26BF}" type="slidenum">
              <a:rPr lang="zh-CN" altLang="en-US" smtClean="0"/>
              <a:t>9</a:t>
            </a:fld>
            <a:endParaRPr lang="zh-CN" altLang="en-US" dirty="0"/>
          </a:p>
        </p:txBody>
      </p:sp>
      <p:pic>
        <p:nvPicPr>
          <p:cNvPr id="13" name="图片 12">
            <a:extLst>
              <a:ext uri="{FF2B5EF4-FFF2-40B4-BE49-F238E27FC236}">
                <a16:creationId xmlns:a16="http://schemas.microsoft.com/office/drawing/2014/main" id="{D62E0411-A786-48DC-F915-6EDB19DA943F}"/>
              </a:ext>
            </a:extLst>
          </p:cNvPr>
          <p:cNvPicPr>
            <a:picLocks noChangeAspect="1"/>
          </p:cNvPicPr>
          <p:nvPr/>
        </p:nvPicPr>
        <p:blipFill>
          <a:blip r:embed="rId4"/>
          <a:stretch>
            <a:fillRect/>
          </a:stretch>
        </p:blipFill>
        <p:spPr>
          <a:xfrm>
            <a:off x="3107226" y="1151532"/>
            <a:ext cx="4877535" cy="2620163"/>
          </a:xfrm>
          <a:prstGeom prst="rect">
            <a:avLst/>
          </a:prstGeom>
        </p:spPr>
      </p:pic>
      <p:sp>
        <p:nvSpPr>
          <p:cNvPr id="14" name="文本框 13">
            <a:extLst>
              <a:ext uri="{FF2B5EF4-FFF2-40B4-BE49-F238E27FC236}">
                <a16:creationId xmlns:a16="http://schemas.microsoft.com/office/drawing/2014/main" id="{AF95610F-F83B-F53A-CE2B-D43136F45149}"/>
              </a:ext>
            </a:extLst>
          </p:cNvPr>
          <p:cNvSpPr txBox="1"/>
          <p:nvPr/>
        </p:nvSpPr>
        <p:spPr>
          <a:xfrm>
            <a:off x="4726843" y="3915539"/>
            <a:ext cx="1638300" cy="369332"/>
          </a:xfrm>
          <a:prstGeom prst="rect">
            <a:avLst/>
          </a:prstGeom>
          <a:noFill/>
        </p:spPr>
        <p:txBody>
          <a:bodyPr wrap="square" rtlCol="0">
            <a:spAutoFit/>
          </a:bodyPr>
          <a:lstStyle/>
          <a:p>
            <a:pPr algn="ctr"/>
            <a:r>
              <a:rPr lang="zh-CN" altLang="en-US" dirty="0"/>
              <a:t>常规卷积</a:t>
            </a:r>
          </a:p>
        </p:txBody>
      </p:sp>
      <p:sp>
        <p:nvSpPr>
          <p:cNvPr id="15" name="文本框 14">
            <a:extLst>
              <a:ext uri="{FF2B5EF4-FFF2-40B4-BE49-F238E27FC236}">
                <a16:creationId xmlns:a16="http://schemas.microsoft.com/office/drawing/2014/main" id="{782FA452-0E0B-E599-7D85-278A103A1C85}"/>
              </a:ext>
            </a:extLst>
          </p:cNvPr>
          <p:cNvSpPr txBox="1"/>
          <p:nvPr/>
        </p:nvSpPr>
        <p:spPr>
          <a:xfrm>
            <a:off x="459276" y="4486275"/>
            <a:ext cx="10923099" cy="1969770"/>
          </a:xfrm>
          <a:prstGeom prst="rect">
            <a:avLst/>
          </a:prstGeom>
          <a:noFill/>
        </p:spPr>
        <p:txBody>
          <a:bodyPr wrap="square" rtlCol="0">
            <a:spAutoFit/>
          </a:bodyPr>
          <a:lstStyle/>
          <a:p>
            <a:pPr indent="457200" algn="l">
              <a:lnSpc>
                <a:spcPts val="2100"/>
              </a:lnSpc>
              <a:spcAft>
                <a:spcPts val="900"/>
              </a:spcAft>
              <a:buNone/>
            </a:pPr>
            <a:r>
              <a:rPr lang="zh-CN" altLang="en-US" b="0" i="0" dirty="0">
                <a:effectLst/>
                <a:latin typeface="Monospaced Number"/>
              </a:rPr>
              <a:t>常规卷积算子具有</a:t>
            </a:r>
            <a:r>
              <a:rPr lang="en-US" altLang="zh-CN" b="0" i="0" dirty="0">
                <a:effectLst/>
                <a:latin typeface="Monospaced Number"/>
              </a:rPr>
              <a:t>2</a:t>
            </a:r>
            <a:r>
              <a:rPr lang="zh-CN" altLang="en-US" b="0" i="0" dirty="0">
                <a:effectLst/>
                <a:latin typeface="Monospaced Number"/>
              </a:rPr>
              <a:t>个重要特征：</a:t>
            </a:r>
            <a:r>
              <a:rPr lang="zh-CN" altLang="en-US" b="1" i="0" dirty="0">
                <a:effectLst/>
                <a:latin typeface="Monospaced Number"/>
              </a:rPr>
              <a:t>空间不变性</a:t>
            </a:r>
            <a:r>
              <a:rPr lang="zh-CN" altLang="en-US" b="0" i="0" dirty="0">
                <a:effectLst/>
                <a:latin typeface="Monospaced Number"/>
              </a:rPr>
              <a:t>（</a:t>
            </a:r>
            <a:r>
              <a:rPr lang="en-US" altLang="zh-CN" b="0" i="0" dirty="0">
                <a:effectLst/>
                <a:latin typeface="Monospaced Number"/>
              </a:rPr>
              <a:t>Spatial-agnostic</a:t>
            </a:r>
            <a:r>
              <a:rPr lang="zh-CN" altLang="en-US" b="0" i="0" dirty="0">
                <a:effectLst/>
                <a:latin typeface="Monospaced Number"/>
              </a:rPr>
              <a:t>）和</a:t>
            </a:r>
            <a:r>
              <a:rPr lang="zh-CN" altLang="en-US" b="1" i="0" dirty="0">
                <a:effectLst/>
                <a:latin typeface="Monospaced Number"/>
              </a:rPr>
              <a:t>通道特异性</a:t>
            </a:r>
            <a:r>
              <a:rPr lang="zh-CN" altLang="en-US" b="0" i="0" dirty="0">
                <a:effectLst/>
                <a:latin typeface="Monospaced Number"/>
              </a:rPr>
              <a:t>（</a:t>
            </a:r>
            <a:r>
              <a:rPr lang="en-US" altLang="zh-CN" b="0" i="0" dirty="0">
                <a:effectLst/>
                <a:latin typeface="Monospaced Number"/>
              </a:rPr>
              <a:t>Channel-specific</a:t>
            </a:r>
            <a:r>
              <a:rPr lang="zh-CN" altLang="en-US" b="0" i="0" dirty="0">
                <a:effectLst/>
                <a:latin typeface="Monospaced Number"/>
              </a:rPr>
              <a:t>），单个通道特征图的卷积核参数是共享的，不同通道使用的是不同的卷积核，这两个特征也带来了两点不足：</a:t>
            </a:r>
          </a:p>
          <a:p>
            <a:pPr indent="457200" algn="l">
              <a:spcAft>
                <a:spcPts val="900"/>
              </a:spcAft>
              <a:buFont typeface="+mj-lt"/>
              <a:buAutoNum type="arabicPeriod"/>
            </a:pPr>
            <a:r>
              <a:rPr lang="zh-CN" altLang="en-US" b="0" i="0" dirty="0">
                <a:effectLst/>
                <a:latin typeface="Monospaced Number"/>
              </a:rPr>
              <a:t>通过</a:t>
            </a:r>
            <a:r>
              <a:rPr lang="en-US" altLang="zh-CN" b="0" i="0" dirty="0">
                <a:effectLst/>
                <a:latin typeface="Monospaced Number"/>
              </a:rPr>
              <a:t>CNN</a:t>
            </a:r>
            <a:r>
              <a:rPr lang="zh-CN" altLang="en-US" b="0" i="0" dirty="0">
                <a:effectLst/>
                <a:latin typeface="Monospaced Number"/>
              </a:rPr>
              <a:t>获得的是图像的局部信息，若想获得更多信息（即增大感受野），需要增加网络深度，也就增加了模型的规模</a:t>
            </a:r>
          </a:p>
          <a:p>
            <a:pPr indent="457200" algn="l">
              <a:spcAft>
                <a:spcPts val="900"/>
              </a:spcAft>
              <a:buFont typeface="+mj-lt"/>
              <a:buAutoNum type="arabicPeriod"/>
            </a:pPr>
            <a:r>
              <a:rPr lang="zh-CN" altLang="en-US" b="0" i="0" dirty="0">
                <a:effectLst/>
                <a:latin typeface="Monospaced Number"/>
              </a:rPr>
              <a:t>目前很多研究已经证明，</a:t>
            </a:r>
            <a:r>
              <a:rPr lang="en-US" altLang="zh-CN" b="0" i="0" dirty="0">
                <a:effectLst/>
                <a:latin typeface="Monospaced Number"/>
              </a:rPr>
              <a:t>CNN</a:t>
            </a:r>
            <a:r>
              <a:rPr lang="zh-CN" altLang="en-US" b="0" i="0" dirty="0">
                <a:effectLst/>
                <a:latin typeface="Monospaced Number"/>
              </a:rPr>
              <a:t>中的很多通道之间存在着大量冗余，即使设计初衷是想使每个通道的卷积核参数不同，从而获得丰富的特征信息，然而事实证明，各通道学习所得各个通道特征图很多是相近的</a:t>
            </a:r>
          </a:p>
        </p:txBody>
      </p:sp>
    </p:spTree>
    <p:extLst>
      <p:ext uri="{BB962C8B-B14F-4D97-AF65-F5344CB8AC3E}">
        <p14:creationId xmlns:p14="http://schemas.microsoft.com/office/powerpoint/2010/main" val="2566590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C08FE-1F6B-31FE-D769-1934B7C88116}"/>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FDC8DC9D-D747-C1FB-B226-659D3B97BD18}"/>
              </a:ext>
            </a:extLst>
          </p:cNvPr>
          <p:cNvSpPr txBox="1"/>
          <p:nvPr/>
        </p:nvSpPr>
        <p:spPr>
          <a:xfrm>
            <a:off x="2150631" y="296863"/>
            <a:ext cx="5662409"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华文中宋" panose="02010600040101010101" pitchFamily="2" charset="-122"/>
                <a:ea typeface="华文中宋" panose="02010600040101010101" pitchFamily="2" charset="-122"/>
              </a:rPr>
              <a:t>参考文献</a:t>
            </a:r>
          </a:p>
        </p:txBody>
      </p:sp>
      <p:sp>
        <p:nvSpPr>
          <p:cNvPr id="1048679" name="等腰三角形 3">
            <a:extLst>
              <a:ext uri="{FF2B5EF4-FFF2-40B4-BE49-F238E27FC236}">
                <a16:creationId xmlns:a16="http://schemas.microsoft.com/office/drawing/2014/main" id="{4A9188E3-38DB-6592-E0A1-AE713ED0C076}"/>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sp>
        <p:nvSpPr>
          <p:cNvPr id="1048680" name="文本占位符 2">
            <a:extLst>
              <a:ext uri="{FF2B5EF4-FFF2-40B4-BE49-F238E27FC236}">
                <a16:creationId xmlns:a16="http://schemas.microsoft.com/office/drawing/2014/main" id="{ABF6FA76-A785-D210-61E6-9B39A6029CA8}"/>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02</a:t>
            </a:r>
            <a:endParaRPr lang="zh-CN" altLang="en-US" dirty="0">
              <a:latin typeface="+mn-lt"/>
              <a:ea typeface="华文中宋" panose="02010600040101010101" pitchFamily="2" charset="-122"/>
            </a:endParaRPr>
          </a:p>
        </p:txBody>
      </p:sp>
      <p:pic>
        <p:nvPicPr>
          <p:cNvPr id="2097166" name="图片 5">
            <a:extLst>
              <a:ext uri="{FF2B5EF4-FFF2-40B4-BE49-F238E27FC236}">
                <a16:creationId xmlns:a16="http://schemas.microsoft.com/office/drawing/2014/main" id="{3C344AF8-5B24-A2B0-4497-2B819F965015}"/>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E4653379-CAF4-CB39-EDF8-ED9E7DEB550F}"/>
              </a:ext>
            </a:extLst>
          </p:cNvPr>
          <p:cNvCxnSpPr/>
          <p:nvPr/>
        </p:nvCxnSpPr>
        <p:spPr>
          <a:xfrm>
            <a:off x="2196000" y="936000"/>
            <a:ext cx="8280000" cy="0"/>
          </a:xfrm>
          <a:prstGeom prst="line">
            <a:avLst/>
          </a:prstGeom>
          <a:ln w="41275">
            <a:solidFill>
              <a:srgbClr val="203864"/>
            </a:solidFill>
          </a:ln>
        </p:spPr>
        <p:style>
          <a:lnRef idx="1">
            <a:schemeClr val="dk1"/>
          </a:lnRef>
          <a:fillRef idx="0">
            <a:schemeClr val="dk1"/>
          </a:fillRef>
          <a:effectRef idx="0">
            <a:schemeClr val="dk1"/>
          </a:effectRef>
          <a:fontRef idx="minor">
            <a:schemeClr val="tx1"/>
          </a:fontRef>
        </p:style>
      </p:cxnSp>
      <p:sp>
        <p:nvSpPr>
          <p:cNvPr id="8" name="灯片编号占位符 7">
            <a:extLst>
              <a:ext uri="{FF2B5EF4-FFF2-40B4-BE49-F238E27FC236}">
                <a16:creationId xmlns:a16="http://schemas.microsoft.com/office/drawing/2014/main" id="{33D2BA78-7D81-D5CF-F666-E42CD96841DE}"/>
              </a:ext>
            </a:extLst>
          </p:cNvPr>
          <p:cNvSpPr>
            <a:spLocks noGrp="1"/>
          </p:cNvSpPr>
          <p:nvPr>
            <p:ph type="sldNum" sz="quarter" idx="12"/>
          </p:nvPr>
        </p:nvSpPr>
        <p:spPr>
          <a:xfrm>
            <a:off x="8829675" y="6388958"/>
            <a:ext cx="2743200" cy="365125"/>
          </a:xfrm>
        </p:spPr>
        <p:txBody>
          <a:bodyPr/>
          <a:lstStyle/>
          <a:p>
            <a:fld id="{4C728F51-6063-40BC-906F-D6FBF0AE26BF}" type="slidenum">
              <a:rPr lang="zh-CN" altLang="en-US" smtClean="0"/>
              <a:t>10</a:t>
            </a:fld>
            <a:endParaRPr lang="zh-CN" altLang="en-US" dirty="0"/>
          </a:p>
        </p:txBody>
      </p:sp>
      <p:pic>
        <p:nvPicPr>
          <p:cNvPr id="6" name="图片 5">
            <a:extLst>
              <a:ext uri="{FF2B5EF4-FFF2-40B4-BE49-F238E27FC236}">
                <a16:creationId xmlns:a16="http://schemas.microsoft.com/office/drawing/2014/main" id="{C73CAEC2-7878-627C-3EB1-F2033D321134}"/>
              </a:ext>
            </a:extLst>
          </p:cNvPr>
          <p:cNvPicPr>
            <a:picLocks noChangeAspect="1"/>
          </p:cNvPicPr>
          <p:nvPr/>
        </p:nvPicPr>
        <p:blipFill>
          <a:blip r:embed="rId4"/>
          <a:stretch>
            <a:fillRect/>
          </a:stretch>
        </p:blipFill>
        <p:spPr>
          <a:xfrm>
            <a:off x="3251135" y="1152810"/>
            <a:ext cx="4561905" cy="2276190"/>
          </a:xfrm>
          <a:prstGeom prst="rect">
            <a:avLst/>
          </a:prstGeom>
        </p:spPr>
      </p:pic>
      <p:sp>
        <p:nvSpPr>
          <p:cNvPr id="10" name="文本框 9">
            <a:extLst>
              <a:ext uri="{FF2B5EF4-FFF2-40B4-BE49-F238E27FC236}">
                <a16:creationId xmlns:a16="http://schemas.microsoft.com/office/drawing/2014/main" id="{C476BBEB-F51F-8076-77DC-2444B74C6575}"/>
              </a:ext>
            </a:extLst>
          </p:cNvPr>
          <p:cNvSpPr txBox="1"/>
          <p:nvPr/>
        </p:nvSpPr>
        <p:spPr>
          <a:xfrm>
            <a:off x="4495800" y="3429000"/>
            <a:ext cx="2114550" cy="369332"/>
          </a:xfrm>
          <a:prstGeom prst="rect">
            <a:avLst/>
          </a:prstGeom>
          <a:noFill/>
        </p:spPr>
        <p:txBody>
          <a:bodyPr wrap="square" rtlCol="0">
            <a:spAutoFit/>
          </a:bodyPr>
          <a:lstStyle/>
          <a:p>
            <a:pPr algn="ctr"/>
            <a:r>
              <a:rPr lang="en-US" altLang="zh-CN" dirty="0">
                <a:latin typeface="Inter"/>
              </a:rPr>
              <a:t>Involution</a:t>
            </a:r>
            <a:r>
              <a:rPr lang="zh-CN" altLang="en-US" dirty="0">
                <a:latin typeface="Inter"/>
              </a:rPr>
              <a:t>模块</a:t>
            </a:r>
            <a:endParaRPr lang="zh-CN" altLang="en-US" dirty="0"/>
          </a:p>
        </p:txBody>
      </p:sp>
      <p:sp>
        <p:nvSpPr>
          <p:cNvPr id="2" name="文本框 1">
            <a:extLst>
              <a:ext uri="{FF2B5EF4-FFF2-40B4-BE49-F238E27FC236}">
                <a16:creationId xmlns:a16="http://schemas.microsoft.com/office/drawing/2014/main" id="{247A88FF-CBBD-E5EF-BE54-B4B6FD13C4B7}"/>
              </a:ext>
            </a:extLst>
          </p:cNvPr>
          <p:cNvSpPr txBox="1"/>
          <p:nvPr/>
        </p:nvSpPr>
        <p:spPr>
          <a:xfrm>
            <a:off x="676275" y="3798756"/>
            <a:ext cx="11113599" cy="2862322"/>
          </a:xfrm>
          <a:prstGeom prst="rect">
            <a:avLst/>
          </a:prstGeom>
          <a:noFill/>
        </p:spPr>
        <p:txBody>
          <a:bodyPr wrap="square" rtlCol="0">
            <a:spAutoFit/>
          </a:bodyPr>
          <a:lstStyle/>
          <a:p>
            <a:pPr indent="457200"/>
            <a:r>
              <a:rPr lang="en-US" altLang="zh-CN" dirty="0"/>
              <a:t>Involution</a:t>
            </a:r>
            <a:r>
              <a:rPr lang="zh-CN" altLang="en-US" dirty="0"/>
              <a:t>卷积算子具有</a:t>
            </a:r>
            <a:r>
              <a:rPr lang="zh-CN" altLang="en-US" b="1" dirty="0"/>
              <a:t>通道不变形</a:t>
            </a:r>
            <a:r>
              <a:rPr lang="zh-CN" altLang="en-US" dirty="0"/>
              <a:t>（</a:t>
            </a:r>
            <a:r>
              <a:rPr lang="en-US" altLang="zh-CN" dirty="0"/>
              <a:t>Channel-agnostic</a:t>
            </a:r>
            <a:r>
              <a:rPr lang="zh-CN" altLang="en-US" dirty="0"/>
              <a:t>）和</a:t>
            </a:r>
            <a:r>
              <a:rPr lang="zh-CN" altLang="en-US" b="1" dirty="0"/>
              <a:t>空间特异性</a:t>
            </a:r>
            <a:r>
              <a:rPr lang="zh-CN" altLang="en-US" dirty="0"/>
              <a:t>（</a:t>
            </a:r>
            <a:r>
              <a:rPr lang="en-US" altLang="zh-CN" dirty="0"/>
              <a:t>Spatial-agnostic</a:t>
            </a:r>
            <a:r>
              <a:rPr lang="zh-CN" altLang="en-US" dirty="0"/>
              <a:t>），</a:t>
            </a:r>
            <a:endParaRPr lang="en-US" altLang="zh-CN" dirty="0"/>
          </a:p>
          <a:p>
            <a:pPr indent="457200" algn="l" fontAlgn="base"/>
            <a:r>
              <a:rPr lang="en-US" altLang="zh-CN" b="0" i="0" dirty="0">
                <a:solidFill>
                  <a:srgbClr val="060607"/>
                </a:solidFill>
                <a:effectLst/>
                <a:latin typeface="inherit"/>
              </a:rPr>
              <a:t>1.</a:t>
            </a:r>
            <a:r>
              <a:rPr lang="zh-CN" altLang="en-US" b="0" i="0" dirty="0">
                <a:solidFill>
                  <a:srgbClr val="060607"/>
                </a:solidFill>
                <a:effectLst/>
                <a:latin typeface="inherit"/>
              </a:rPr>
              <a:t>对于输入特征图，其形状为 </a:t>
            </a:r>
            <a:r>
              <a:rPr lang="en-US" altLang="zh-CN" b="0" i="1" dirty="0">
                <a:solidFill>
                  <a:srgbClr val="060607"/>
                </a:solidFill>
                <a:effectLst/>
                <a:latin typeface="KaTeX_Math"/>
              </a:rPr>
              <a:t>C</a:t>
            </a:r>
            <a:r>
              <a:rPr lang="en-US" altLang="zh-CN" b="0" i="0" dirty="0">
                <a:solidFill>
                  <a:srgbClr val="060607"/>
                </a:solidFill>
                <a:effectLst/>
                <a:latin typeface="KaTeX_Main"/>
              </a:rPr>
              <a:t>×</a:t>
            </a:r>
            <a:r>
              <a:rPr lang="en-US" altLang="zh-CN" b="0" i="1" dirty="0">
                <a:solidFill>
                  <a:srgbClr val="060607"/>
                </a:solidFill>
                <a:effectLst/>
                <a:latin typeface="KaTeX_Math"/>
              </a:rPr>
              <a:t>W</a:t>
            </a:r>
            <a:r>
              <a:rPr lang="en-US" altLang="zh-CN" b="0" i="0" dirty="0">
                <a:solidFill>
                  <a:srgbClr val="060607"/>
                </a:solidFill>
                <a:effectLst/>
                <a:latin typeface="KaTeX_Main"/>
              </a:rPr>
              <a:t>×</a:t>
            </a:r>
            <a:r>
              <a:rPr lang="en-US" altLang="zh-CN" b="0" i="1" dirty="0">
                <a:solidFill>
                  <a:srgbClr val="060607"/>
                </a:solidFill>
                <a:effectLst/>
                <a:latin typeface="KaTeX_Math"/>
              </a:rPr>
              <a:t>H</a:t>
            </a:r>
            <a:r>
              <a:rPr lang="zh-CN" altLang="en-US" b="0" i="0" dirty="0">
                <a:solidFill>
                  <a:srgbClr val="060607"/>
                </a:solidFill>
                <a:effectLst/>
                <a:latin typeface="inherit"/>
              </a:rPr>
              <a:t>，其中 </a:t>
            </a:r>
            <a:r>
              <a:rPr lang="en-US" altLang="zh-CN" b="0" i="1" dirty="0">
                <a:solidFill>
                  <a:srgbClr val="060607"/>
                </a:solidFill>
                <a:effectLst/>
                <a:latin typeface="KaTeX_Math"/>
              </a:rPr>
              <a:t>C</a:t>
            </a:r>
            <a:r>
              <a:rPr lang="zh-CN" altLang="en-US" b="0" i="0" dirty="0">
                <a:solidFill>
                  <a:srgbClr val="060607"/>
                </a:solidFill>
                <a:effectLst/>
                <a:latin typeface="inherit"/>
              </a:rPr>
              <a:t> 是通道数，</a:t>
            </a:r>
            <a:r>
              <a:rPr lang="en-US" altLang="zh-CN" b="0" i="1" dirty="0">
                <a:solidFill>
                  <a:srgbClr val="060607"/>
                </a:solidFill>
                <a:effectLst/>
                <a:latin typeface="KaTeX_Math"/>
              </a:rPr>
              <a:t>W</a:t>
            </a:r>
            <a:r>
              <a:rPr lang="zh-CN" altLang="en-US" b="0" i="0" dirty="0">
                <a:solidFill>
                  <a:srgbClr val="060607"/>
                </a:solidFill>
                <a:effectLst/>
                <a:latin typeface="inherit"/>
              </a:rPr>
              <a:t> 和 </a:t>
            </a:r>
            <a:r>
              <a:rPr lang="en-US" altLang="zh-CN" b="0" i="1" dirty="0">
                <a:solidFill>
                  <a:srgbClr val="060607"/>
                </a:solidFill>
                <a:effectLst/>
                <a:latin typeface="KaTeX_Math"/>
              </a:rPr>
              <a:t>H</a:t>
            </a:r>
            <a:r>
              <a:rPr lang="zh-CN" altLang="en-US" b="0" i="0" dirty="0">
                <a:solidFill>
                  <a:srgbClr val="060607"/>
                </a:solidFill>
                <a:effectLst/>
                <a:latin typeface="inherit"/>
              </a:rPr>
              <a:t> 是宽度和高度</a:t>
            </a:r>
            <a:endParaRPr lang="en-US" altLang="zh-CN" b="0" i="0" dirty="0">
              <a:solidFill>
                <a:srgbClr val="060607"/>
              </a:solidFill>
              <a:effectLst/>
              <a:latin typeface="inherit"/>
            </a:endParaRPr>
          </a:p>
          <a:p>
            <a:pPr indent="457200" algn="l" fontAlgn="base"/>
            <a:r>
              <a:rPr lang="en-US" altLang="zh-CN" b="0" i="0" dirty="0">
                <a:solidFill>
                  <a:srgbClr val="060607"/>
                </a:solidFill>
                <a:effectLst/>
                <a:latin typeface="inherit"/>
              </a:rPr>
              <a:t>2.</a:t>
            </a:r>
            <a:r>
              <a:rPr lang="zh-CN" altLang="en-US" b="0" i="0" dirty="0">
                <a:solidFill>
                  <a:srgbClr val="060607"/>
                </a:solidFill>
                <a:effectLst/>
                <a:latin typeface="inherit"/>
              </a:rPr>
              <a:t>通过一个小型网络（</a:t>
            </a:r>
            <a:r>
              <a:rPr lang="en-US" altLang="zh-CN" b="0" i="0" dirty="0">
                <a:solidFill>
                  <a:srgbClr val="060607"/>
                </a:solidFill>
                <a:effectLst/>
                <a:latin typeface="inherit"/>
              </a:rPr>
              <a:t>φ</a:t>
            </a:r>
            <a:r>
              <a:rPr lang="zh-CN" altLang="en-US" b="0" i="0" dirty="0">
                <a:solidFill>
                  <a:srgbClr val="060607"/>
                </a:solidFill>
                <a:effectLst/>
                <a:latin typeface="inherit"/>
              </a:rPr>
              <a:t>）生成权重。这个网络将输入特征图 </a:t>
            </a:r>
            <a:r>
              <a:rPr lang="en-US" altLang="zh-CN" b="0" i="1" dirty="0">
                <a:solidFill>
                  <a:srgbClr val="060607"/>
                </a:solidFill>
                <a:effectLst/>
                <a:latin typeface="KaTeX_Math"/>
              </a:rPr>
              <a:t>X</a:t>
            </a:r>
            <a:r>
              <a:rPr lang="zh-CN" altLang="en-US" b="0" i="0" dirty="0">
                <a:solidFill>
                  <a:srgbClr val="060607"/>
                </a:solidFill>
                <a:effectLst/>
                <a:latin typeface="inherit"/>
              </a:rPr>
              <a:t> 转换为一组权重，这些权重将用于生成</a:t>
            </a:r>
            <a:r>
              <a:rPr lang="en-US" altLang="zh-CN" b="0" i="0" dirty="0">
                <a:solidFill>
                  <a:srgbClr val="060607"/>
                </a:solidFill>
                <a:effectLst/>
                <a:latin typeface="inherit"/>
              </a:rPr>
              <a:t>Involution</a:t>
            </a:r>
            <a:r>
              <a:rPr lang="zh-CN" altLang="en-US" b="0" i="0" dirty="0">
                <a:solidFill>
                  <a:srgbClr val="060607"/>
                </a:solidFill>
                <a:effectLst/>
                <a:latin typeface="inherit"/>
              </a:rPr>
              <a:t>卷积核</a:t>
            </a:r>
            <a:endParaRPr lang="en-US" altLang="zh-CN" b="0" i="0" dirty="0">
              <a:solidFill>
                <a:srgbClr val="060607"/>
              </a:solidFill>
              <a:effectLst/>
              <a:latin typeface="inherit"/>
            </a:endParaRPr>
          </a:p>
          <a:p>
            <a:pPr indent="457200" algn="l" fontAlgn="base"/>
            <a:r>
              <a:rPr lang="en-US" altLang="zh-CN" b="0" i="0" dirty="0">
                <a:solidFill>
                  <a:srgbClr val="060607"/>
                </a:solidFill>
                <a:effectLst/>
                <a:latin typeface="inherit"/>
              </a:rPr>
              <a:t>3.</a:t>
            </a:r>
            <a:r>
              <a:rPr lang="zh-CN" altLang="en-US" b="0" i="0" dirty="0">
                <a:solidFill>
                  <a:srgbClr val="060607"/>
                </a:solidFill>
                <a:effectLst/>
                <a:latin typeface="inherit"/>
              </a:rPr>
              <a:t>将生成的权重重塑（</a:t>
            </a:r>
            <a:r>
              <a:rPr lang="en-US" altLang="zh-CN" b="0" i="0" dirty="0">
                <a:solidFill>
                  <a:srgbClr val="060607"/>
                </a:solidFill>
                <a:effectLst/>
                <a:latin typeface="inherit"/>
              </a:rPr>
              <a:t>reshape</a:t>
            </a:r>
            <a:r>
              <a:rPr lang="zh-CN" altLang="en-US" b="0" i="0" dirty="0">
                <a:solidFill>
                  <a:srgbClr val="060607"/>
                </a:solidFill>
                <a:effectLst/>
                <a:latin typeface="inherit"/>
              </a:rPr>
              <a:t>）为 </a:t>
            </a:r>
            <a:r>
              <a:rPr lang="en-US" altLang="zh-CN" b="0" i="1" dirty="0">
                <a:solidFill>
                  <a:srgbClr val="060607"/>
                </a:solidFill>
                <a:effectLst/>
                <a:latin typeface="KaTeX_Math"/>
              </a:rPr>
              <a:t>K</a:t>
            </a:r>
            <a:r>
              <a:rPr lang="en-US" altLang="zh-CN" b="0" i="0" dirty="0">
                <a:solidFill>
                  <a:srgbClr val="060607"/>
                </a:solidFill>
                <a:effectLst/>
                <a:latin typeface="KaTeX_Main"/>
              </a:rPr>
              <a:t>×</a:t>
            </a:r>
            <a:r>
              <a:rPr lang="en-US" altLang="zh-CN" b="0" i="1" dirty="0">
                <a:solidFill>
                  <a:srgbClr val="060607"/>
                </a:solidFill>
                <a:effectLst/>
                <a:latin typeface="KaTeX_Math"/>
              </a:rPr>
              <a:t>K</a:t>
            </a:r>
            <a:r>
              <a:rPr lang="en-US" altLang="zh-CN" b="0" i="0" dirty="0">
                <a:solidFill>
                  <a:srgbClr val="060607"/>
                </a:solidFill>
                <a:effectLst/>
                <a:latin typeface="KaTeX_Main"/>
              </a:rPr>
              <a:t>×1</a:t>
            </a:r>
            <a:r>
              <a:rPr lang="zh-CN" altLang="en-US" b="0" i="0" dirty="0">
                <a:solidFill>
                  <a:srgbClr val="060607"/>
                </a:solidFill>
                <a:effectLst/>
                <a:latin typeface="inherit"/>
              </a:rPr>
              <a:t> 的卷积核。这个卷积核将用于后续的卷积操作。</a:t>
            </a:r>
          </a:p>
          <a:p>
            <a:pPr indent="457200" algn="l" fontAlgn="base"/>
            <a:r>
              <a:rPr lang="en-US" altLang="zh-CN" b="1" i="0" dirty="0">
                <a:solidFill>
                  <a:srgbClr val="060607"/>
                </a:solidFill>
                <a:effectLst/>
                <a:latin typeface="inherit"/>
              </a:rPr>
              <a:t>4.</a:t>
            </a:r>
            <a:r>
              <a:rPr lang="zh-CN" altLang="en-US" b="1" i="0" dirty="0">
                <a:solidFill>
                  <a:srgbClr val="060607"/>
                </a:solidFill>
                <a:effectLst/>
                <a:latin typeface="inherit"/>
              </a:rPr>
              <a:t> </a:t>
            </a:r>
            <a:r>
              <a:rPr lang="zh-CN" altLang="en-US" b="0" i="0" dirty="0">
                <a:solidFill>
                  <a:srgbClr val="060607"/>
                </a:solidFill>
                <a:effectLst/>
                <a:latin typeface="inherit"/>
              </a:rPr>
              <a:t>将生成的卷积核与输入特征图中的局部区域（</a:t>
            </a:r>
            <a:r>
              <a:rPr lang="en-US" altLang="zh-CN" b="0" i="0" dirty="0">
                <a:solidFill>
                  <a:srgbClr val="060607"/>
                </a:solidFill>
                <a:effectLst/>
                <a:latin typeface="inherit"/>
              </a:rPr>
              <a:t>K×K</a:t>
            </a:r>
            <a:r>
              <a:rPr lang="zh-CN" altLang="en-US" b="0" i="0" dirty="0">
                <a:solidFill>
                  <a:srgbClr val="060607"/>
                </a:solidFill>
                <a:effectLst/>
                <a:latin typeface="inherit"/>
              </a:rPr>
              <a:t>邻域）进行逐点乘法操作。这一步骤生成了一个中间特征图，形状为 </a:t>
            </a:r>
            <a:r>
              <a:rPr lang="en-US" altLang="zh-CN" b="0" i="1" dirty="0">
                <a:solidFill>
                  <a:srgbClr val="060607"/>
                </a:solidFill>
                <a:effectLst/>
                <a:latin typeface="KaTeX_Math"/>
              </a:rPr>
              <a:t>K</a:t>
            </a:r>
            <a:r>
              <a:rPr lang="en-US" altLang="zh-CN" b="0" i="0" dirty="0">
                <a:solidFill>
                  <a:srgbClr val="060607"/>
                </a:solidFill>
                <a:effectLst/>
                <a:latin typeface="KaTeX_Main"/>
              </a:rPr>
              <a:t>×</a:t>
            </a:r>
            <a:r>
              <a:rPr lang="en-US" altLang="zh-CN" b="0" i="1" dirty="0">
                <a:solidFill>
                  <a:srgbClr val="060607"/>
                </a:solidFill>
                <a:effectLst/>
                <a:latin typeface="KaTeX_Math"/>
              </a:rPr>
              <a:t>K</a:t>
            </a:r>
            <a:r>
              <a:rPr lang="en-US" altLang="zh-CN" b="0" i="0" dirty="0">
                <a:solidFill>
                  <a:srgbClr val="060607"/>
                </a:solidFill>
                <a:effectLst/>
                <a:latin typeface="KaTeX_Main"/>
              </a:rPr>
              <a:t>×</a:t>
            </a:r>
            <a:r>
              <a:rPr lang="en-US" altLang="zh-CN" b="0" i="1" dirty="0">
                <a:solidFill>
                  <a:srgbClr val="060607"/>
                </a:solidFill>
                <a:effectLst/>
                <a:latin typeface="KaTeX_Math"/>
              </a:rPr>
              <a:t>C</a:t>
            </a:r>
            <a:endParaRPr lang="en-US" altLang="zh-CN" b="0" i="0" dirty="0">
              <a:solidFill>
                <a:srgbClr val="060607"/>
              </a:solidFill>
              <a:effectLst/>
              <a:latin typeface="inherit"/>
            </a:endParaRPr>
          </a:p>
          <a:p>
            <a:pPr indent="457200" algn="l" fontAlgn="base"/>
            <a:r>
              <a:rPr lang="en-US" altLang="zh-CN" dirty="0">
                <a:solidFill>
                  <a:srgbClr val="060607"/>
                </a:solidFill>
                <a:latin typeface="inherit"/>
              </a:rPr>
              <a:t>5.</a:t>
            </a:r>
            <a:r>
              <a:rPr lang="zh-CN" altLang="en-US" b="0" i="0" dirty="0">
                <a:solidFill>
                  <a:srgbClr val="060607"/>
                </a:solidFill>
                <a:effectLst/>
                <a:latin typeface="inherit"/>
              </a:rPr>
              <a:t>对逐点乘法的结果在</a:t>
            </a:r>
            <a:r>
              <a:rPr lang="en-US" altLang="zh-CN" b="0" i="0" dirty="0">
                <a:solidFill>
                  <a:srgbClr val="060607"/>
                </a:solidFill>
                <a:effectLst/>
                <a:latin typeface="inherit"/>
              </a:rPr>
              <a:t>K×K</a:t>
            </a:r>
            <a:r>
              <a:rPr lang="zh-CN" altLang="en-US" b="0" i="0" dirty="0">
                <a:solidFill>
                  <a:srgbClr val="060607"/>
                </a:solidFill>
                <a:effectLst/>
                <a:latin typeface="inherit"/>
              </a:rPr>
              <a:t>维度上进行求和，得到形状为 </a:t>
            </a:r>
            <a:r>
              <a:rPr lang="en-US" altLang="zh-CN" b="0" i="0" dirty="0">
                <a:solidFill>
                  <a:srgbClr val="060607"/>
                </a:solidFill>
                <a:effectLst/>
                <a:latin typeface="KaTeX_Main"/>
              </a:rPr>
              <a:t>1×1×</a:t>
            </a:r>
            <a:r>
              <a:rPr lang="en-US" altLang="zh-CN" b="0" i="1" dirty="0">
                <a:solidFill>
                  <a:srgbClr val="060607"/>
                </a:solidFill>
                <a:effectLst/>
                <a:latin typeface="KaTeX_Math"/>
              </a:rPr>
              <a:t>C</a:t>
            </a:r>
            <a:r>
              <a:rPr lang="zh-CN" altLang="en-US" b="0" i="0" dirty="0">
                <a:solidFill>
                  <a:srgbClr val="060607"/>
                </a:solidFill>
                <a:effectLst/>
                <a:latin typeface="inherit"/>
              </a:rPr>
              <a:t> 的输出特征图 </a:t>
            </a:r>
            <a:r>
              <a:rPr lang="en-US" altLang="zh-CN" b="0" i="1" dirty="0">
                <a:solidFill>
                  <a:srgbClr val="060607"/>
                </a:solidFill>
                <a:effectLst/>
                <a:latin typeface="KaTeX_Math"/>
              </a:rPr>
              <a:t>Y</a:t>
            </a:r>
          </a:p>
          <a:p>
            <a:pPr indent="457200" algn="l" fontAlgn="base"/>
            <a:r>
              <a:rPr lang="en-US" altLang="zh-CN" dirty="0">
                <a:solidFill>
                  <a:srgbClr val="060607"/>
                </a:solidFill>
                <a:latin typeface="KaTeX_Math"/>
              </a:rPr>
              <a:t>Involution</a:t>
            </a:r>
            <a:r>
              <a:rPr lang="zh-CN" altLang="en-US" dirty="0">
                <a:solidFill>
                  <a:srgbClr val="060607"/>
                </a:solidFill>
                <a:latin typeface="KaTeX_Math"/>
              </a:rPr>
              <a:t>的通道不变形体现在对于同一个位置（</a:t>
            </a:r>
            <a:r>
              <a:rPr lang="en-US" altLang="zh-CN" dirty="0" err="1">
                <a:solidFill>
                  <a:srgbClr val="060607"/>
                </a:solidFill>
                <a:latin typeface="KaTeX_Math"/>
              </a:rPr>
              <a:t>i,j</a:t>
            </a:r>
            <a:r>
              <a:rPr lang="en-US" altLang="zh-CN" dirty="0">
                <a:solidFill>
                  <a:srgbClr val="060607"/>
                </a:solidFill>
                <a:latin typeface="KaTeX_Math"/>
              </a:rPr>
              <a:t>)</a:t>
            </a:r>
            <a:r>
              <a:rPr lang="zh-CN" altLang="en-US" dirty="0">
                <a:solidFill>
                  <a:srgbClr val="060607"/>
                </a:solidFill>
                <a:latin typeface="KaTeX_Math"/>
              </a:rPr>
              <a:t>的不同通道，卷积核参数是共用的。空间特异性是指</a:t>
            </a:r>
            <a:r>
              <a:rPr lang="zh-CN" altLang="en-US" b="0" i="0" dirty="0">
                <a:solidFill>
                  <a:srgbClr val="060607"/>
                </a:solidFill>
                <a:effectLst/>
                <a:latin typeface="-apple-system"/>
              </a:rPr>
              <a:t>每个空间位置的卷积核是独立生成的，可以根据局部特征动态调整</a:t>
            </a:r>
            <a:endParaRPr lang="en-US" altLang="zh-CN" dirty="0"/>
          </a:p>
        </p:txBody>
      </p:sp>
    </p:spTree>
    <p:extLst>
      <p:ext uri="{BB962C8B-B14F-4D97-AF65-F5344CB8AC3E}">
        <p14:creationId xmlns:p14="http://schemas.microsoft.com/office/powerpoint/2010/main" val="5142209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24812-2A93-22B2-E742-03A41A7E962C}"/>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578FCEBC-12A9-F99F-8898-8D1D6EF2DB56}"/>
              </a:ext>
            </a:extLst>
          </p:cNvPr>
          <p:cNvSpPr txBox="1"/>
          <p:nvPr/>
        </p:nvSpPr>
        <p:spPr>
          <a:xfrm>
            <a:off x="2150631" y="296863"/>
            <a:ext cx="5662409"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华文中宋" panose="02010600040101010101" pitchFamily="2" charset="-122"/>
                <a:ea typeface="华文中宋" panose="02010600040101010101" pitchFamily="2" charset="-122"/>
              </a:rPr>
              <a:t>实验结果</a:t>
            </a:r>
          </a:p>
        </p:txBody>
      </p:sp>
      <p:sp>
        <p:nvSpPr>
          <p:cNvPr id="1048679" name="等腰三角形 3">
            <a:extLst>
              <a:ext uri="{FF2B5EF4-FFF2-40B4-BE49-F238E27FC236}">
                <a16:creationId xmlns:a16="http://schemas.microsoft.com/office/drawing/2014/main" id="{6A1C7937-055E-C655-BA61-1731C9A3752A}"/>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sp>
        <p:nvSpPr>
          <p:cNvPr id="1048680" name="文本占位符 2">
            <a:extLst>
              <a:ext uri="{FF2B5EF4-FFF2-40B4-BE49-F238E27FC236}">
                <a16:creationId xmlns:a16="http://schemas.microsoft.com/office/drawing/2014/main" id="{F432D1E1-A814-1A96-7CAD-16816EAB9B76}"/>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03</a:t>
            </a:r>
            <a:endParaRPr lang="zh-CN" altLang="en-US" dirty="0">
              <a:latin typeface="+mn-lt"/>
              <a:ea typeface="华文中宋" panose="02010600040101010101" pitchFamily="2" charset="-122"/>
            </a:endParaRPr>
          </a:p>
        </p:txBody>
      </p:sp>
      <p:pic>
        <p:nvPicPr>
          <p:cNvPr id="2097166" name="图片 5">
            <a:extLst>
              <a:ext uri="{FF2B5EF4-FFF2-40B4-BE49-F238E27FC236}">
                <a16:creationId xmlns:a16="http://schemas.microsoft.com/office/drawing/2014/main" id="{9D630DED-5463-6F18-30F3-90752FC98E0D}"/>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8204D8AB-F3E8-6D3C-1011-8B6BA6B21E0B}"/>
              </a:ext>
            </a:extLst>
          </p:cNvPr>
          <p:cNvCxnSpPr/>
          <p:nvPr/>
        </p:nvCxnSpPr>
        <p:spPr>
          <a:xfrm>
            <a:off x="2196000" y="936000"/>
            <a:ext cx="8280000" cy="0"/>
          </a:xfrm>
          <a:prstGeom prst="line">
            <a:avLst/>
          </a:prstGeom>
          <a:ln w="41275">
            <a:solidFill>
              <a:srgbClr val="203864"/>
            </a:solidFill>
          </a:ln>
        </p:spPr>
        <p:style>
          <a:lnRef idx="1">
            <a:schemeClr val="dk1"/>
          </a:lnRef>
          <a:fillRef idx="0">
            <a:schemeClr val="dk1"/>
          </a:fillRef>
          <a:effectRef idx="0">
            <a:schemeClr val="dk1"/>
          </a:effectRef>
          <a:fontRef idx="minor">
            <a:schemeClr val="tx1"/>
          </a:fontRef>
        </p:style>
      </p:cxnSp>
      <p:sp>
        <p:nvSpPr>
          <p:cNvPr id="8" name="灯片编号占位符 7">
            <a:extLst>
              <a:ext uri="{FF2B5EF4-FFF2-40B4-BE49-F238E27FC236}">
                <a16:creationId xmlns:a16="http://schemas.microsoft.com/office/drawing/2014/main" id="{A216D422-5F5C-D845-2DCA-4E81640EC55D}"/>
              </a:ext>
            </a:extLst>
          </p:cNvPr>
          <p:cNvSpPr>
            <a:spLocks noGrp="1"/>
          </p:cNvSpPr>
          <p:nvPr>
            <p:ph type="sldNum" sz="quarter" idx="12"/>
          </p:nvPr>
        </p:nvSpPr>
        <p:spPr>
          <a:xfrm>
            <a:off x="8829675" y="6388958"/>
            <a:ext cx="2743200" cy="365125"/>
          </a:xfrm>
        </p:spPr>
        <p:txBody>
          <a:bodyPr/>
          <a:lstStyle/>
          <a:p>
            <a:fld id="{4C728F51-6063-40BC-906F-D6FBF0AE26BF}" type="slidenum">
              <a:rPr lang="zh-CN" altLang="en-US" smtClean="0"/>
              <a:t>11</a:t>
            </a:fld>
            <a:endParaRPr lang="zh-CN" altLang="en-US" dirty="0"/>
          </a:p>
        </p:txBody>
      </p:sp>
      <p:sp>
        <p:nvSpPr>
          <p:cNvPr id="15" name="文本框 14">
            <a:extLst>
              <a:ext uri="{FF2B5EF4-FFF2-40B4-BE49-F238E27FC236}">
                <a16:creationId xmlns:a16="http://schemas.microsoft.com/office/drawing/2014/main" id="{4F7278F2-0C40-CF44-E056-E209F8404A49}"/>
              </a:ext>
            </a:extLst>
          </p:cNvPr>
          <p:cNvSpPr txBox="1"/>
          <p:nvPr/>
        </p:nvSpPr>
        <p:spPr>
          <a:xfrm>
            <a:off x="5517069" y="4634632"/>
            <a:ext cx="1788606" cy="1754326"/>
          </a:xfrm>
          <a:prstGeom prst="rect">
            <a:avLst/>
          </a:prstGeom>
          <a:noFill/>
        </p:spPr>
        <p:txBody>
          <a:bodyPr wrap="square" rtlCol="0">
            <a:spAutoFit/>
          </a:bodyPr>
          <a:lstStyle/>
          <a:p>
            <a:r>
              <a:rPr lang="en-US" altLang="zh-CN" dirty="0"/>
              <a:t>0:</a:t>
            </a:r>
            <a:r>
              <a:rPr lang="zh-CN" altLang="en-US" dirty="0"/>
              <a:t>汽车</a:t>
            </a:r>
            <a:endParaRPr lang="en-US" altLang="zh-CN" dirty="0"/>
          </a:p>
          <a:p>
            <a:r>
              <a:rPr lang="en-US" altLang="zh-CN" dirty="0"/>
              <a:t>1</a:t>
            </a:r>
            <a:r>
              <a:rPr lang="zh-CN" altLang="en-US" dirty="0"/>
              <a:t>：路灯</a:t>
            </a:r>
            <a:endParaRPr lang="en-US" altLang="zh-CN" dirty="0"/>
          </a:p>
          <a:p>
            <a:r>
              <a:rPr lang="en-US" altLang="zh-CN" dirty="0"/>
              <a:t>2</a:t>
            </a:r>
            <a:r>
              <a:rPr lang="zh-CN" altLang="en-US" dirty="0"/>
              <a:t>：交通标志</a:t>
            </a:r>
            <a:endParaRPr lang="en-US" altLang="zh-CN" dirty="0"/>
          </a:p>
          <a:p>
            <a:r>
              <a:rPr lang="en-US" altLang="zh-CN" dirty="0"/>
              <a:t>3</a:t>
            </a:r>
            <a:r>
              <a:rPr lang="zh-CN" altLang="en-US" dirty="0"/>
              <a:t>：人行横道</a:t>
            </a:r>
            <a:endParaRPr lang="en-US" altLang="zh-CN" dirty="0"/>
          </a:p>
          <a:p>
            <a:r>
              <a:rPr lang="en-US" altLang="zh-CN" dirty="0"/>
              <a:t>4.</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人行横道警告线</a:t>
            </a:r>
            <a:endParaRPr lang="zh-CN" altLang="en-US" dirty="0"/>
          </a:p>
        </p:txBody>
      </p:sp>
      <p:sp>
        <p:nvSpPr>
          <p:cNvPr id="2" name="文本框 1">
            <a:extLst>
              <a:ext uri="{FF2B5EF4-FFF2-40B4-BE49-F238E27FC236}">
                <a16:creationId xmlns:a16="http://schemas.microsoft.com/office/drawing/2014/main" id="{CC3579B9-7410-D268-7899-989736D865A8}"/>
              </a:ext>
            </a:extLst>
          </p:cNvPr>
          <p:cNvSpPr txBox="1"/>
          <p:nvPr/>
        </p:nvSpPr>
        <p:spPr>
          <a:xfrm>
            <a:off x="350520" y="3947155"/>
            <a:ext cx="4404360" cy="646331"/>
          </a:xfrm>
          <a:prstGeom prst="rect">
            <a:avLst/>
          </a:prstGeom>
          <a:noFill/>
        </p:spPr>
        <p:txBody>
          <a:bodyPr wrap="square" rtlCol="0">
            <a:spAutoFit/>
          </a:bodyPr>
          <a:lstStyle/>
          <a:p>
            <a:endParaRPr lang="en-US" altLang="zh-CN" b="0" i="0" dirty="0">
              <a:solidFill>
                <a:srgbClr val="191B1F"/>
              </a:solidFill>
              <a:effectLst/>
              <a:latin typeface="-apple-system"/>
            </a:endParaRPr>
          </a:p>
          <a:p>
            <a:endParaRPr lang="zh-CN" altLang="en-US" dirty="0"/>
          </a:p>
        </p:txBody>
      </p:sp>
      <p:pic>
        <p:nvPicPr>
          <p:cNvPr id="6" name="图片 5">
            <a:extLst>
              <a:ext uri="{FF2B5EF4-FFF2-40B4-BE49-F238E27FC236}">
                <a16:creationId xmlns:a16="http://schemas.microsoft.com/office/drawing/2014/main" id="{499E425F-0C90-6D58-8450-16A41BF01D69}"/>
              </a:ext>
            </a:extLst>
          </p:cNvPr>
          <p:cNvPicPr>
            <a:picLocks noChangeAspect="1"/>
          </p:cNvPicPr>
          <p:nvPr/>
        </p:nvPicPr>
        <p:blipFill>
          <a:blip r:embed="rId4"/>
          <a:stretch>
            <a:fillRect/>
          </a:stretch>
        </p:blipFill>
        <p:spPr>
          <a:xfrm>
            <a:off x="140970" y="1046962"/>
            <a:ext cx="5267589" cy="5267589"/>
          </a:xfrm>
          <a:prstGeom prst="rect">
            <a:avLst/>
          </a:prstGeom>
        </p:spPr>
      </p:pic>
      <p:sp>
        <p:nvSpPr>
          <p:cNvPr id="10" name="文本框 9">
            <a:extLst>
              <a:ext uri="{FF2B5EF4-FFF2-40B4-BE49-F238E27FC236}">
                <a16:creationId xmlns:a16="http://schemas.microsoft.com/office/drawing/2014/main" id="{33BE4E24-BB9D-A9B9-4A91-64F63C8E1760}"/>
              </a:ext>
            </a:extLst>
          </p:cNvPr>
          <p:cNvSpPr txBox="1"/>
          <p:nvPr/>
        </p:nvSpPr>
        <p:spPr>
          <a:xfrm>
            <a:off x="6411372" y="1239255"/>
            <a:ext cx="4936037" cy="3789627"/>
          </a:xfrm>
          <a:prstGeom prst="rect">
            <a:avLst/>
          </a:prstGeom>
          <a:noFill/>
        </p:spPr>
        <p:txBody>
          <a:bodyPr wrap="square" rtlCol="0">
            <a:spAutoFit/>
          </a:bodyPr>
          <a:lstStyle/>
          <a:p>
            <a:pPr indent="457200">
              <a:lnSpc>
                <a:spcPct val="150000"/>
              </a:lnSpc>
            </a:pPr>
            <a:r>
              <a:rPr lang="zh-CN" altLang="en-US" dirty="0"/>
              <a:t>图一是训练集中的类别及其数量的示意图</a:t>
            </a:r>
            <a:endParaRPr lang="en-US" altLang="zh-CN" dirty="0"/>
          </a:p>
          <a:p>
            <a:pPr indent="457200">
              <a:lnSpc>
                <a:spcPct val="150000"/>
              </a:lnSpc>
            </a:pPr>
            <a:r>
              <a:rPr lang="zh-CN" altLang="en-US" dirty="0"/>
              <a:t>图二是热力图，代表目标集中在图像的中部</a:t>
            </a:r>
            <a:endParaRPr lang="en-US" altLang="zh-CN" dirty="0"/>
          </a:p>
          <a:p>
            <a:pPr indent="457200">
              <a:lnSpc>
                <a:spcPct val="150000"/>
              </a:lnSpc>
            </a:pPr>
            <a:r>
              <a:rPr lang="zh-CN" altLang="en-US" dirty="0"/>
              <a:t>图三是散点图，表示目标框中心点的分布情况，进一步确认了图二中目标集中在图像的中部的结论</a:t>
            </a:r>
            <a:endParaRPr lang="en-US" altLang="zh-CN" dirty="0"/>
          </a:p>
          <a:p>
            <a:pPr indent="457200">
              <a:lnSpc>
                <a:spcPct val="150000"/>
              </a:lnSpc>
            </a:pPr>
            <a:r>
              <a:rPr lang="zh-CN" altLang="en-US" b="0" i="0" dirty="0">
                <a:solidFill>
                  <a:srgbClr val="060607"/>
                </a:solidFill>
                <a:effectLst/>
                <a:latin typeface="-apple-system"/>
              </a:rPr>
              <a:t>图四是散点图，表示了目标框宽度和高度的分布情况</a:t>
            </a:r>
            <a:endParaRPr lang="en-US" altLang="zh-CN" b="0" i="0" dirty="0">
              <a:solidFill>
                <a:srgbClr val="060607"/>
              </a:solidFill>
              <a:effectLst/>
              <a:latin typeface="-apple-system"/>
            </a:endParaRPr>
          </a:p>
          <a:p>
            <a:pPr indent="457200">
              <a:lnSpc>
                <a:spcPct val="150000"/>
              </a:lnSpc>
            </a:pPr>
            <a:endParaRPr lang="zh-CN" altLang="en-US" dirty="0"/>
          </a:p>
        </p:txBody>
      </p:sp>
    </p:spTree>
    <p:extLst>
      <p:ext uri="{BB962C8B-B14F-4D97-AF65-F5344CB8AC3E}">
        <p14:creationId xmlns:p14="http://schemas.microsoft.com/office/powerpoint/2010/main" val="2998872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13200-6832-20E5-858E-73BB19DE55CA}"/>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1ADC4F1E-AAFF-9F9D-9948-D36C309031C2}"/>
              </a:ext>
            </a:extLst>
          </p:cNvPr>
          <p:cNvSpPr txBox="1"/>
          <p:nvPr/>
        </p:nvSpPr>
        <p:spPr>
          <a:xfrm>
            <a:off x="2150631" y="296863"/>
            <a:ext cx="5662409"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华文中宋" panose="02010600040101010101" pitchFamily="2" charset="-122"/>
                <a:ea typeface="华文中宋" panose="02010600040101010101" pitchFamily="2" charset="-122"/>
              </a:rPr>
              <a:t>实验结果</a:t>
            </a:r>
          </a:p>
        </p:txBody>
      </p:sp>
      <p:sp>
        <p:nvSpPr>
          <p:cNvPr id="1048679" name="等腰三角形 3">
            <a:extLst>
              <a:ext uri="{FF2B5EF4-FFF2-40B4-BE49-F238E27FC236}">
                <a16:creationId xmlns:a16="http://schemas.microsoft.com/office/drawing/2014/main" id="{C4BCEEBF-6E46-63C4-4A76-58CFB7B04B98}"/>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sp>
        <p:nvSpPr>
          <p:cNvPr id="1048680" name="文本占位符 2">
            <a:extLst>
              <a:ext uri="{FF2B5EF4-FFF2-40B4-BE49-F238E27FC236}">
                <a16:creationId xmlns:a16="http://schemas.microsoft.com/office/drawing/2014/main" id="{C3DC0DFD-28D1-059F-8525-FAFB5BD1CFAF}"/>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03</a:t>
            </a:r>
            <a:endParaRPr lang="zh-CN" altLang="en-US" dirty="0">
              <a:latin typeface="+mn-lt"/>
              <a:ea typeface="华文中宋" panose="02010600040101010101" pitchFamily="2" charset="-122"/>
            </a:endParaRPr>
          </a:p>
        </p:txBody>
      </p:sp>
      <p:pic>
        <p:nvPicPr>
          <p:cNvPr id="2097166" name="图片 5">
            <a:extLst>
              <a:ext uri="{FF2B5EF4-FFF2-40B4-BE49-F238E27FC236}">
                <a16:creationId xmlns:a16="http://schemas.microsoft.com/office/drawing/2014/main" id="{608F17D1-0394-28B4-2400-5142F48119B7}"/>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F2AB56EF-BEF5-96DB-A0EF-297FC3167E89}"/>
              </a:ext>
            </a:extLst>
          </p:cNvPr>
          <p:cNvCxnSpPr/>
          <p:nvPr/>
        </p:nvCxnSpPr>
        <p:spPr>
          <a:xfrm>
            <a:off x="2196000" y="936000"/>
            <a:ext cx="8280000" cy="0"/>
          </a:xfrm>
          <a:prstGeom prst="line">
            <a:avLst/>
          </a:prstGeom>
          <a:ln w="41275">
            <a:solidFill>
              <a:srgbClr val="203864"/>
            </a:solidFill>
          </a:ln>
        </p:spPr>
        <p:style>
          <a:lnRef idx="1">
            <a:schemeClr val="dk1"/>
          </a:lnRef>
          <a:fillRef idx="0">
            <a:schemeClr val="dk1"/>
          </a:fillRef>
          <a:effectRef idx="0">
            <a:schemeClr val="dk1"/>
          </a:effectRef>
          <a:fontRef idx="minor">
            <a:schemeClr val="tx1"/>
          </a:fontRef>
        </p:style>
      </p:cxnSp>
      <p:sp>
        <p:nvSpPr>
          <p:cNvPr id="8" name="灯片编号占位符 7">
            <a:extLst>
              <a:ext uri="{FF2B5EF4-FFF2-40B4-BE49-F238E27FC236}">
                <a16:creationId xmlns:a16="http://schemas.microsoft.com/office/drawing/2014/main" id="{F91EB07A-0E02-F92F-F12D-F17D75735C6A}"/>
              </a:ext>
            </a:extLst>
          </p:cNvPr>
          <p:cNvSpPr>
            <a:spLocks noGrp="1"/>
          </p:cNvSpPr>
          <p:nvPr>
            <p:ph type="sldNum" sz="quarter" idx="12"/>
          </p:nvPr>
        </p:nvSpPr>
        <p:spPr>
          <a:xfrm>
            <a:off x="8829675" y="6388958"/>
            <a:ext cx="2743200" cy="365125"/>
          </a:xfrm>
        </p:spPr>
        <p:txBody>
          <a:bodyPr/>
          <a:lstStyle/>
          <a:p>
            <a:fld id="{4C728F51-6063-40BC-906F-D6FBF0AE26BF}" type="slidenum">
              <a:rPr lang="zh-CN" altLang="en-US" smtClean="0"/>
              <a:t>12</a:t>
            </a:fld>
            <a:endParaRPr lang="zh-CN" altLang="en-US" dirty="0"/>
          </a:p>
        </p:txBody>
      </p:sp>
      <p:graphicFrame>
        <p:nvGraphicFramePr>
          <p:cNvPr id="3" name="表格 2">
            <a:extLst>
              <a:ext uri="{FF2B5EF4-FFF2-40B4-BE49-F238E27FC236}">
                <a16:creationId xmlns:a16="http://schemas.microsoft.com/office/drawing/2014/main" id="{6DFE91F4-5338-0593-7115-941A2BCA173C}"/>
              </a:ext>
            </a:extLst>
          </p:cNvPr>
          <p:cNvGraphicFramePr>
            <a:graphicFrameLocks noGrp="1"/>
          </p:cNvGraphicFramePr>
          <p:nvPr>
            <p:extLst>
              <p:ext uri="{D42A27DB-BD31-4B8C-83A1-F6EECF244321}">
                <p14:modId xmlns:p14="http://schemas.microsoft.com/office/powerpoint/2010/main" val="2548912206"/>
              </p:ext>
            </p:extLst>
          </p:nvPr>
        </p:nvGraphicFramePr>
        <p:xfrm>
          <a:off x="924180" y="1319757"/>
          <a:ext cx="10448673" cy="3283233"/>
        </p:xfrm>
        <a:graphic>
          <a:graphicData uri="http://schemas.openxmlformats.org/drawingml/2006/table">
            <a:tbl>
              <a:tblPr firstRow="1" bandRow="1">
                <a:tableStyleId>{5C22544A-7EE6-4342-B048-85BDC9FD1C3A}</a:tableStyleId>
              </a:tblPr>
              <a:tblGrid>
                <a:gridCol w="1306084">
                  <a:extLst>
                    <a:ext uri="{9D8B030D-6E8A-4147-A177-3AD203B41FA5}">
                      <a16:colId xmlns:a16="http://schemas.microsoft.com/office/drawing/2014/main" val="3923908374"/>
                    </a:ext>
                  </a:extLst>
                </a:gridCol>
                <a:gridCol w="1399958">
                  <a:extLst>
                    <a:ext uri="{9D8B030D-6E8A-4147-A177-3AD203B41FA5}">
                      <a16:colId xmlns:a16="http://schemas.microsoft.com/office/drawing/2014/main" val="1296184841"/>
                    </a:ext>
                  </a:extLst>
                </a:gridCol>
                <a:gridCol w="1310904">
                  <a:extLst>
                    <a:ext uri="{9D8B030D-6E8A-4147-A177-3AD203B41FA5}">
                      <a16:colId xmlns:a16="http://schemas.microsoft.com/office/drawing/2014/main" val="2978796392"/>
                    </a:ext>
                  </a:extLst>
                </a:gridCol>
                <a:gridCol w="1207391">
                  <a:extLst>
                    <a:ext uri="{9D8B030D-6E8A-4147-A177-3AD203B41FA5}">
                      <a16:colId xmlns:a16="http://schemas.microsoft.com/office/drawing/2014/main" val="2940509800"/>
                    </a:ext>
                  </a:extLst>
                </a:gridCol>
                <a:gridCol w="1306084">
                  <a:extLst>
                    <a:ext uri="{9D8B030D-6E8A-4147-A177-3AD203B41FA5}">
                      <a16:colId xmlns:a16="http://schemas.microsoft.com/office/drawing/2014/main" val="4269299891"/>
                    </a:ext>
                  </a:extLst>
                </a:gridCol>
                <a:gridCol w="1306084">
                  <a:extLst>
                    <a:ext uri="{9D8B030D-6E8A-4147-A177-3AD203B41FA5}">
                      <a16:colId xmlns:a16="http://schemas.microsoft.com/office/drawing/2014/main" val="1158576442"/>
                    </a:ext>
                  </a:extLst>
                </a:gridCol>
                <a:gridCol w="1306084">
                  <a:extLst>
                    <a:ext uri="{9D8B030D-6E8A-4147-A177-3AD203B41FA5}">
                      <a16:colId xmlns:a16="http://schemas.microsoft.com/office/drawing/2014/main" val="218880307"/>
                    </a:ext>
                  </a:extLst>
                </a:gridCol>
                <a:gridCol w="1306084">
                  <a:extLst>
                    <a:ext uri="{9D8B030D-6E8A-4147-A177-3AD203B41FA5}">
                      <a16:colId xmlns:a16="http://schemas.microsoft.com/office/drawing/2014/main" val="3154300475"/>
                    </a:ext>
                  </a:extLst>
                </a:gridCol>
              </a:tblGrid>
              <a:tr h="576174">
                <a:tc>
                  <a:txBody>
                    <a:bodyPr/>
                    <a:lstStyle/>
                    <a:p>
                      <a:pPr algn="ctr"/>
                      <a:r>
                        <a:rPr lang="zh-CN" altLang="en-US" dirty="0">
                          <a:solidFill>
                            <a:schemeClr val="tx1"/>
                          </a:solidFill>
                        </a:rPr>
                        <a:t>训练</a:t>
                      </a:r>
                      <a:r>
                        <a:rPr lang="en-US" altLang="zh-CN" dirty="0">
                          <a:solidFill>
                            <a:schemeClr val="tx1"/>
                          </a:solidFill>
                        </a:rPr>
                        <a:t>id</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dirty="0">
                          <a:solidFill>
                            <a:schemeClr val="tx1"/>
                          </a:solidFill>
                        </a:rPr>
                        <a:t>模型</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dirty="0">
                          <a:solidFill>
                            <a:schemeClr val="tx1"/>
                          </a:solidFill>
                        </a:rPr>
                        <a:t>图像清晰度</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dirty="0">
                          <a:solidFill>
                            <a:schemeClr val="tx1"/>
                          </a:solidFill>
                        </a:rPr>
                        <a:t>迭代次数</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dirty="0">
                          <a:solidFill>
                            <a:schemeClr val="tx1"/>
                          </a:solidFill>
                        </a:rPr>
                        <a:t>参数量</a:t>
                      </a:r>
                      <a:r>
                        <a:rPr lang="en-US" altLang="zh-CN" dirty="0">
                          <a:solidFill>
                            <a:schemeClr val="tx1"/>
                          </a:solidFill>
                        </a:rPr>
                        <a:t>(M)</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800" b="1" kern="1200" dirty="0">
                          <a:solidFill>
                            <a:schemeClr val="tx1"/>
                          </a:solidFill>
                          <a:latin typeface="+mn-lt"/>
                          <a:ea typeface="+mn-ea"/>
                          <a:cs typeface="+mn-cs"/>
                        </a:rPr>
                        <a:t>是否修改锚定框</a:t>
                      </a:r>
                      <a:r>
                        <a:rPr lang="zh-CN" altLang="en-US" dirty="0">
                          <a:solidFill>
                            <a:schemeClr val="tx1"/>
                          </a:solidFill>
                        </a:rPr>
                        <a:t>大小</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mAP@0.5</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dirty="0">
                          <a:solidFill>
                            <a:schemeClr val="tx1"/>
                          </a:solidFill>
                        </a:rPr>
                        <a:t>备注</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166822"/>
                  </a:ext>
                </a:extLst>
              </a:tr>
              <a:tr h="329242">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yolov5s</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640</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200</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7.03</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dirty="0">
                          <a:solidFill>
                            <a:schemeClr val="tx1"/>
                          </a:solidFill>
                        </a:rPr>
                        <a:t>否</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75.2%</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dirty="0">
                          <a:solidFill>
                            <a:schemeClr val="tx1"/>
                          </a:solidFill>
                        </a:rPr>
                        <a:t>无</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3355002"/>
                  </a:ext>
                </a:extLst>
              </a:tr>
              <a:tr h="454331">
                <a:tc>
                  <a:txBody>
                    <a:bodyPr/>
                    <a:lstStyle/>
                    <a:p>
                      <a:pPr algn="ctr"/>
                      <a:r>
                        <a:rPr lang="en-US" altLang="zh-CN" dirty="0">
                          <a:solidFill>
                            <a:schemeClr val="tx1"/>
                          </a:solidFill>
                        </a:rPr>
                        <a:t>2</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HIC_yolov5s</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640</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200</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9.32</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dirty="0">
                          <a:solidFill>
                            <a:schemeClr val="tx1"/>
                          </a:solidFill>
                        </a:rPr>
                        <a:t>否</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79.8%</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dirty="0">
                          <a:solidFill>
                            <a:schemeClr val="tx1"/>
                          </a:solidFill>
                        </a:rPr>
                        <a:t>无</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6537252"/>
                  </a:ext>
                </a:extLst>
              </a:tr>
              <a:tr h="454331">
                <a:tc>
                  <a:txBody>
                    <a:bodyPr/>
                    <a:lstStyle/>
                    <a:p>
                      <a:pPr algn="ctr"/>
                      <a:r>
                        <a:rPr lang="en-US" altLang="zh-CN" dirty="0">
                          <a:solidFill>
                            <a:schemeClr val="tx1"/>
                          </a:solidFill>
                        </a:rPr>
                        <a:t>3</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HIC_yolov5s</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1024</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200</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9.32</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dirty="0">
                          <a:solidFill>
                            <a:schemeClr val="tx1"/>
                          </a:solidFill>
                        </a:rPr>
                        <a:t>否</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82.6%</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dirty="0">
                          <a:solidFill>
                            <a:schemeClr val="tx1"/>
                          </a:solidFill>
                        </a:rPr>
                        <a:t>无</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03144112"/>
                  </a:ext>
                </a:extLst>
              </a:tr>
              <a:tr h="454331">
                <a:tc>
                  <a:txBody>
                    <a:bodyPr/>
                    <a:lstStyle/>
                    <a:p>
                      <a:pPr algn="ctr"/>
                      <a:r>
                        <a:rPr lang="en-US" altLang="zh-CN" dirty="0">
                          <a:solidFill>
                            <a:schemeClr val="tx1"/>
                          </a:solidFill>
                        </a:rPr>
                        <a:t>4</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HIC_yolov5s</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1024</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200</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9.32</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dirty="0">
                          <a:solidFill>
                            <a:schemeClr val="tx1"/>
                          </a:solidFill>
                        </a:rPr>
                        <a:t>是</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85%</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dirty="0">
                          <a:solidFill>
                            <a:schemeClr val="tx1"/>
                          </a:solidFill>
                        </a:rPr>
                        <a:t>无</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0228579"/>
                  </a:ext>
                </a:extLst>
              </a:tr>
              <a:tr h="454331">
                <a:tc>
                  <a:txBody>
                    <a:bodyPr/>
                    <a:lstStyle/>
                    <a:p>
                      <a:pPr algn="ctr"/>
                      <a:r>
                        <a:rPr lang="en-US" altLang="zh-CN" dirty="0">
                          <a:solidFill>
                            <a:schemeClr val="tx1"/>
                          </a:solidFill>
                        </a:rPr>
                        <a:t>5</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HIC_yolo5s</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1024</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200</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6.48</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dirty="0">
                          <a:solidFill>
                            <a:schemeClr val="tx1"/>
                          </a:solidFill>
                        </a:rPr>
                        <a:t>是</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83.87%</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dirty="0">
                          <a:solidFill>
                            <a:schemeClr val="tx1"/>
                          </a:solidFill>
                        </a:rPr>
                        <a:t>去除了</a:t>
                      </a:r>
                      <a:r>
                        <a:rPr lang="en-US" altLang="zh-CN" dirty="0">
                          <a:solidFill>
                            <a:schemeClr val="tx1"/>
                          </a:solidFill>
                        </a:rPr>
                        <a:t>CBAM</a:t>
                      </a:r>
                      <a:r>
                        <a:rPr lang="zh-CN" altLang="en-US" dirty="0">
                          <a:solidFill>
                            <a:schemeClr val="tx1"/>
                          </a:solidFill>
                        </a:rPr>
                        <a:t>模块</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513028"/>
                  </a:ext>
                </a:extLst>
              </a:tr>
            </a:tbl>
          </a:graphicData>
        </a:graphic>
      </p:graphicFrame>
      <p:sp>
        <p:nvSpPr>
          <p:cNvPr id="4" name="文本框 3">
            <a:extLst>
              <a:ext uri="{FF2B5EF4-FFF2-40B4-BE49-F238E27FC236}">
                <a16:creationId xmlns:a16="http://schemas.microsoft.com/office/drawing/2014/main" id="{6144C1CC-ED98-C91C-694C-D07AB3307252}"/>
              </a:ext>
            </a:extLst>
          </p:cNvPr>
          <p:cNvSpPr txBox="1"/>
          <p:nvPr/>
        </p:nvSpPr>
        <p:spPr>
          <a:xfrm>
            <a:off x="4591050" y="1002514"/>
            <a:ext cx="3695700" cy="338554"/>
          </a:xfrm>
          <a:prstGeom prst="rect">
            <a:avLst/>
          </a:prstGeom>
          <a:noFill/>
        </p:spPr>
        <p:txBody>
          <a:bodyPr wrap="square" rtlCol="0">
            <a:spAutoFit/>
          </a:bodyPr>
          <a:lstStyle/>
          <a:p>
            <a:r>
              <a:rPr lang="zh-CN" altLang="en-US" sz="1600" dirty="0"/>
              <a:t>表</a:t>
            </a:r>
            <a:r>
              <a:rPr lang="en-US" altLang="zh-CN" sz="1600" dirty="0"/>
              <a:t>1 </a:t>
            </a:r>
            <a:r>
              <a:rPr lang="zh-CN" altLang="en-US" sz="1600" dirty="0"/>
              <a:t>模型在</a:t>
            </a:r>
            <a:r>
              <a:rPr lang="en-US" altLang="zh-CN" sz="1600" dirty="0"/>
              <a:t>OSV</a:t>
            </a:r>
            <a:r>
              <a:rPr lang="zh-CN" altLang="en-US" sz="1600" dirty="0"/>
              <a:t>数据集的训练结果</a:t>
            </a:r>
          </a:p>
        </p:txBody>
      </p:sp>
      <p:sp>
        <p:nvSpPr>
          <p:cNvPr id="5" name="文本框 4">
            <a:extLst>
              <a:ext uri="{FF2B5EF4-FFF2-40B4-BE49-F238E27FC236}">
                <a16:creationId xmlns:a16="http://schemas.microsoft.com/office/drawing/2014/main" id="{738D5D3A-DC46-6453-0632-8D7950438E10}"/>
              </a:ext>
            </a:extLst>
          </p:cNvPr>
          <p:cNvSpPr txBox="1"/>
          <p:nvPr/>
        </p:nvSpPr>
        <p:spPr>
          <a:xfrm>
            <a:off x="824168" y="4340852"/>
            <a:ext cx="10648695" cy="1711944"/>
          </a:xfrm>
          <a:prstGeom prst="rect">
            <a:avLst/>
          </a:prstGeom>
          <a:noFill/>
        </p:spPr>
        <p:txBody>
          <a:bodyPr wrap="square" rtlCol="0">
            <a:spAutoFit/>
          </a:bodyPr>
          <a:lstStyle/>
          <a:p>
            <a:pPr indent="457200" algn="l" fontAlgn="base">
              <a:lnSpc>
                <a:spcPct val="150000"/>
              </a:lnSpc>
              <a:buNone/>
            </a:pPr>
            <a:endParaRPr lang="en-US" altLang="zh-CN" b="0" i="0" dirty="0">
              <a:solidFill>
                <a:srgbClr val="060607"/>
              </a:solidFill>
              <a:effectLst/>
              <a:latin typeface="-apple-system"/>
            </a:endParaRPr>
          </a:p>
          <a:p>
            <a:pPr indent="457200" algn="l" fontAlgn="base">
              <a:lnSpc>
                <a:spcPct val="150000"/>
              </a:lnSpc>
              <a:buNone/>
            </a:pPr>
            <a:r>
              <a:rPr lang="zh-CN" altLang="en-US" b="0" i="0" dirty="0">
                <a:solidFill>
                  <a:srgbClr val="060607"/>
                </a:solidFill>
                <a:effectLst/>
                <a:latin typeface="-apple-system"/>
              </a:rPr>
              <a:t>首先，训练</a:t>
            </a:r>
            <a:r>
              <a:rPr lang="en-US" altLang="zh-CN" b="0" i="0" dirty="0">
                <a:solidFill>
                  <a:srgbClr val="060607"/>
                </a:solidFill>
                <a:effectLst/>
                <a:latin typeface="-apple-system"/>
              </a:rPr>
              <a:t>1</a:t>
            </a:r>
            <a:r>
              <a:rPr lang="zh-CN" altLang="en-US" b="0" i="0" dirty="0">
                <a:solidFill>
                  <a:srgbClr val="060607"/>
                </a:solidFill>
                <a:effectLst/>
                <a:latin typeface="-apple-system"/>
              </a:rPr>
              <a:t>和</a:t>
            </a:r>
            <a:r>
              <a:rPr lang="en-US" altLang="zh-CN" b="0" i="0" dirty="0">
                <a:solidFill>
                  <a:srgbClr val="060607"/>
                </a:solidFill>
                <a:effectLst/>
                <a:latin typeface="-apple-system"/>
              </a:rPr>
              <a:t>2</a:t>
            </a:r>
            <a:r>
              <a:rPr lang="zh-CN" altLang="en-US" b="0" i="0" dirty="0">
                <a:solidFill>
                  <a:srgbClr val="060607"/>
                </a:solidFill>
                <a:effectLst/>
                <a:latin typeface="-apple-system"/>
              </a:rPr>
              <a:t>可以证明，在相同的实验条件下，</a:t>
            </a:r>
            <a:r>
              <a:rPr lang="en-US" altLang="zh-CN" b="0" i="0" dirty="0">
                <a:solidFill>
                  <a:srgbClr val="060607"/>
                </a:solidFill>
                <a:effectLst/>
                <a:latin typeface="-apple-system"/>
              </a:rPr>
              <a:t>HIC_yolov5s</a:t>
            </a:r>
            <a:r>
              <a:rPr lang="zh-CN" altLang="en-US" b="0" i="0" dirty="0">
                <a:solidFill>
                  <a:srgbClr val="060607"/>
                </a:solidFill>
                <a:effectLst/>
                <a:latin typeface="-apple-system"/>
              </a:rPr>
              <a:t>模型结构的改进显著提升了检测性能。</a:t>
            </a:r>
          </a:p>
          <a:p>
            <a:pPr indent="457200" algn="l" fontAlgn="base">
              <a:lnSpc>
                <a:spcPct val="150000"/>
              </a:lnSpc>
              <a:buNone/>
            </a:pPr>
            <a:r>
              <a:rPr lang="zh-CN" altLang="en-US" dirty="0">
                <a:solidFill>
                  <a:srgbClr val="060607"/>
                </a:solidFill>
                <a:latin typeface="-apple-system"/>
              </a:rPr>
              <a:t>其次</a:t>
            </a:r>
            <a:r>
              <a:rPr lang="zh-CN" altLang="en-US" b="0" i="0" dirty="0">
                <a:solidFill>
                  <a:srgbClr val="060607"/>
                </a:solidFill>
                <a:effectLst/>
                <a:latin typeface="-apple-system"/>
              </a:rPr>
              <a:t>，当图像清晰度从</a:t>
            </a:r>
            <a:r>
              <a:rPr lang="en-US" altLang="zh-CN" b="0" i="0" dirty="0">
                <a:solidFill>
                  <a:srgbClr val="060607"/>
                </a:solidFill>
                <a:effectLst/>
                <a:latin typeface="-apple-system"/>
              </a:rPr>
              <a:t>640</a:t>
            </a:r>
            <a:r>
              <a:rPr lang="zh-CN" altLang="en-US" b="0" i="0" dirty="0">
                <a:solidFill>
                  <a:srgbClr val="060607"/>
                </a:solidFill>
                <a:effectLst/>
                <a:latin typeface="-apple-system"/>
              </a:rPr>
              <a:t>提高到</a:t>
            </a:r>
            <a:r>
              <a:rPr lang="en-US" altLang="zh-CN" b="0" i="0" dirty="0">
                <a:solidFill>
                  <a:srgbClr val="060607"/>
                </a:solidFill>
                <a:effectLst/>
                <a:latin typeface="-apple-system"/>
              </a:rPr>
              <a:t>1024</a:t>
            </a:r>
            <a:r>
              <a:rPr lang="zh-CN" altLang="en-US" b="0" i="0" dirty="0">
                <a:solidFill>
                  <a:srgbClr val="060607"/>
                </a:solidFill>
                <a:effectLst/>
                <a:latin typeface="-apple-system"/>
              </a:rPr>
              <a:t>时，</a:t>
            </a:r>
            <a:r>
              <a:rPr lang="en-US" altLang="zh-CN" b="0" i="0" dirty="0">
                <a:solidFill>
                  <a:srgbClr val="060607"/>
                </a:solidFill>
                <a:effectLst/>
                <a:latin typeface="-apple-system"/>
              </a:rPr>
              <a:t>mAP@0.5</a:t>
            </a:r>
            <a:r>
              <a:rPr lang="zh-CN" altLang="en-US" b="0" i="0" dirty="0">
                <a:solidFill>
                  <a:srgbClr val="060607"/>
                </a:solidFill>
                <a:effectLst/>
                <a:latin typeface="-apple-system"/>
              </a:rPr>
              <a:t>进一步提升到了</a:t>
            </a:r>
            <a:r>
              <a:rPr lang="en-US" altLang="zh-CN" b="0" i="0" dirty="0">
                <a:solidFill>
                  <a:srgbClr val="060607"/>
                </a:solidFill>
                <a:effectLst/>
                <a:latin typeface="-apple-system"/>
              </a:rPr>
              <a:t>82.6%</a:t>
            </a:r>
            <a:r>
              <a:rPr lang="zh-CN" altLang="en-US" b="0" i="0" dirty="0">
                <a:solidFill>
                  <a:srgbClr val="060607"/>
                </a:solidFill>
                <a:effectLst/>
                <a:latin typeface="-apple-system"/>
              </a:rPr>
              <a:t>。说明</a:t>
            </a:r>
            <a:r>
              <a:rPr lang="zh-CN" altLang="en-US" b="1" i="0" dirty="0">
                <a:solidFill>
                  <a:srgbClr val="060607"/>
                </a:solidFill>
                <a:effectLst/>
                <a:latin typeface="-apple-system"/>
              </a:rPr>
              <a:t>更高的图像分辨率</a:t>
            </a:r>
            <a:r>
              <a:rPr lang="zh-CN" altLang="en-US" b="0" i="0" dirty="0">
                <a:solidFill>
                  <a:srgbClr val="060607"/>
                </a:solidFill>
                <a:effectLst/>
                <a:latin typeface="-apple-system"/>
              </a:rPr>
              <a:t>有助于模型捕捉更多细节，从而提高检测精度。</a:t>
            </a:r>
          </a:p>
        </p:txBody>
      </p:sp>
    </p:spTree>
    <p:extLst>
      <p:ext uri="{BB962C8B-B14F-4D97-AF65-F5344CB8AC3E}">
        <p14:creationId xmlns:p14="http://schemas.microsoft.com/office/powerpoint/2010/main" val="1383455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57C50-216C-A696-67F6-44C6B285788A}"/>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0FD74B75-C781-C727-9AD8-3F7014EF2945}"/>
              </a:ext>
            </a:extLst>
          </p:cNvPr>
          <p:cNvSpPr txBox="1"/>
          <p:nvPr/>
        </p:nvSpPr>
        <p:spPr>
          <a:xfrm>
            <a:off x="2150631" y="296863"/>
            <a:ext cx="5662409"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华文中宋" panose="02010600040101010101" pitchFamily="2" charset="-122"/>
                <a:ea typeface="华文中宋" panose="02010600040101010101" pitchFamily="2" charset="-122"/>
              </a:rPr>
              <a:t>实验结果</a:t>
            </a:r>
          </a:p>
        </p:txBody>
      </p:sp>
      <p:sp>
        <p:nvSpPr>
          <p:cNvPr id="1048679" name="等腰三角形 3">
            <a:extLst>
              <a:ext uri="{FF2B5EF4-FFF2-40B4-BE49-F238E27FC236}">
                <a16:creationId xmlns:a16="http://schemas.microsoft.com/office/drawing/2014/main" id="{3C6E26BE-379E-DE6B-D712-E46C65C75BC6}"/>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sp>
        <p:nvSpPr>
          <p:cNvPr id="1048680" name="文本占位符 2">
            <a:extLst>
              <a:ext uri="{FF2B5EF4-FFF2-40B4-BE49-F238E27FC236}">
                <a16:creationId xmlns:a16="http://schemas.microsoft.com/office/drawing/2014/main" id="{CBF2CD82-4AB8-E035-7A1D-F7B63DF3CBDC}"/>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03</a:t>
            </a:r>
            <a:endParaRPr lang="zh-CN" altLang="en-US" dirty="0">
              <a:latin typeface="+mn-lt"/>
              <a:ea typeface="华文中宋" panose="02010600040101010101" pitchFamily="2" charset="-122"/>
            </a:endParaRPr>
          </a:p>
        </p:txBody>
      </p:sp>
      <p:pic>
        <p:nvPicPr>
          <p:cNvPr id="2097166" name="图片 5">
            <a:extLst>
              <a:ext uri="{FF2B5EF4-FFF2-40B4-BE49-F238E27FC236}">
                <a16:creationId xmlns:a16="http://schemas.microsoft.com/office/drawing/2014/main" id="{6968C6AC-061F-F1EC-6CAD-1F6D7B78A949}"/>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42F51831-CE7A-8889-4B35-DE653917E0B8}"/>
              </a:ext>
            </a:extLst>
          </p:cNvPr>
          <p:cNvCxnSpPr/>
          <p:nvPr/>
        </p:nvCxnSpPr>
        <p:spPr>
          <a:xfrm>
            <a:off x="2196000" y="936000"/>
            <a:ext cx="8280000" cy="0"/>
          </a:xfrm>
          <a:prstGeom prst="line">
            <a:avLst/>
          </a:prstGeom>
          <a:ln w="41275">
            <a:solidFill>
              <a:srgbClr val="203864"/>
            </a:solidFill>
          </a:ln>
        </p:spPr>
        <p:style>
          <a:lnRef idx="1">
            <a:schemeClr val="dk1"/>
          </a:lnRef>
          <a:fillRef idx="0">
            <a:schemeClr val="dk1"/>
          </a:fillRef>
          <a:effectRef idx="0">
            <a:schemeClr val="dk1"/>
          </a:effectRef>
          <a:fontRef idx="minor">
            <a:schemeClr val="tx1"/>
          </a:fontRef>
        </p:style>
      </p:cxnSp>
      <p:sp>
        <p:nvSpPr>
          <p:cNvPr id="8" name="灯片编号占位符 7">
            <a:extLst>
              <a:ext uri="{FF2B5EF4-FFF2-40B4-BE49-F238E27FC236}">
                <a16:creationId xmlns:a16="http://schemas.microsoft.com/office/drawing/2014/main" id="{CC33E743-320C-46A3-515F-188A93544C01}"/>
              </a:ext>
            </a:extLst>
          </p:cNvPr>
          <p:cNvSpPr>
            <a:spLocks noGrp="1"/>
          </p:cNvSpPr>
          <p:nvPr>
            <p:ph type="sldNum" sz="quarter" idx="12"/>
          </p:nvPr>
        </p:nvSpPr>
        <p:spPr>
          <a:xfrm>
            <a:off x="8829675" y="6388958"/>
            <a:ext cx="2743200" cy="365125"/>
          </a:xfrm>
        </p:spPr>
        <p:txBody>
          <a:bodyPr/>
          <a:lstStyle/>
          <a:p>
            <a:fld id="{4C728F51-6063-40BC-906F-D6FBF0AE26BF}" type="slidenum">
              <a:rPr lang="zh-CN" altLang="en-US" smtClean="0"/>
              <a:t>13</a:t>
            </a:fld>
            <a:endParaRPr lang="zh-CN" altLang="en-US" dirty="0"/>
          </a:p>
        </p:txBody>
      </p:sp>
      <p:sp>
        <p:nvSpPr>
          <p:cNvPr id="2" name="文本框 1">
            <a:extLst>
              <a:ext uri="{FF2B5EF4-FFF2-40B4-BE49-F238E27FC236}">
                <a16:creationId xmlns:a16="http://schemas.microsoft.com/office/drawing/2014/main" id="{81FF3415-81DC-1B79-1744-EDA76C17BD4E}"/>
              </a:ext>
            </a:extLst>
          </p:cNvPr>
          <p:cNvSpPr txBox="1"/>
          <p:nvPr/>
        </p:nvSpPr>
        <p:spPr>
          <a:xfrm>
            <a:off x="1590675" y="1323975"/>
            <a:ext cx="8885325" cy="2958630"/>
          </a:xfrm>
          <a:prstGeom prst="rect">
            <a:avLst/>
          </a:prstGeom>
          <a:noFill/>
        </p:spPr>
        <p:txBody>
          <a:bodyPr wrap="square" rtlCol="0">
            <a:spAutoFit/>
          </a:bodyPr>
          <a:lstStyle/>
          <a:p>
            <a:pPr indent="457200">
              <a:lnSpc>
                <a:spcPct val="150000"/>
              </a:lnSpc>
            </a:pPr>
            <a:r>
              <a:rPr lang="zh-CN" altLang="en-US" dirty="0">
                <a:solidFill>
                  <a:srgbClr val="060607"/>
                </a:solidFill>
                <a:latin typeface="-apple-system"/>
              </a:rPr>
              <a:t>然后</a:t>
            </a:r>
            <a:r>
              <a:rPr lang="zh-CN" altLang="en-US" b="0" i="0" dirty="0">
                <a:solidFill>
                  <a:srgbClr val="060607"/>
                </a:solidFill>
                <a:effectLst/>
                <a:latin typeface="-apple-system"/>
              </a:rPr>
              <a:t>，在其他条件相同时，</a:t>
            </a:r>
            <a:r>
              <a:rPr lang="en-US" altLang="zh-CN" b="0" i="0" dirty="0">
                <a:solidFill>
                  <a:srgbClr val="060607"/>
                </a:solidFill>
                <a:effectLst/>
                <a:latin typeface="-apple-system"/>
              </a:rPr>
              <a:t>yolo</a:t>
            </a:r>
            <a:r>
              <a:rPr lang="zh-CN" altLang="en-US" b="0" i="0" dirty="0">
                <a:solidFill>
                  <a:srgbClr val="060607"/>
                </a:solidFill>
                <a:effectLst/>
                <a:latin typeface="-apple-system"/>
              </a:rPr>
              <a:t>中通过</a:t>
            </a:r>
            <a:r>
              <a:rPr lang="en-US" altLang="zh-CN" b="0" i="0" dirty="0">
                <a:solidFill>
                  <a:srgbClr val="060607"/>
                </a:solidFill>
                <a:effectLst/>
                <a:latin typeface="-apple-system"/>
              </a:rPr>
              <a:t>k-means</a:t>
            </a:r>
            <a:r>
              <a:rPr lang="zh-CN" altLang="en-US" b="0" i="0" dirty="0">
                <a:solidFill>
                  <a:srgbClr val="060607"/>
                </a:solidFill>
                <a:effectLst/>
                <a:latin typeface="-apple-system"/>
              </a:rPr>
              <a:t>算法计算得到了</a:t>
            </a:r>
            <a:r>
              <a:rPr lang="en-US" altLang="zh-CN" b="0" i="0" dirty="0" err="1">
                <a:solidFill>
                  <a:srgbClr val="060607"/>
                </a:solidFill>
                <a:effectLst/>
                <a:latin typeface="-apple-system"/>
              </a:rPr>
              <a:t>StreetView</a:t>
            </a:r>
            <a:r>
              <a:rPr lang="zh-CN" altLang="en-US" b="0" i="0" dirty="0">
                <a:solidFill>
                  <a:srgbClr val="060607"/>
                </a:solidFill>
                <a:effectLst/>
                <a:latin typeface="-apple-system"/>
              </a:rPr>
              <a:t>数据集的最佳锚定框大小，在训练</a:t>
            </a:r>
            <a:r>
              <a:rPr lang="en-US" altLang="zh-CN" b="0" i="0" dirty="0">
                <a:solidFill>
                  <a:srgbClr val="060607"/>
                </a:solidFill>
                <a:effectLst/>
                <a:latin typeface="-apple-system"/>
              </a:rPr>
              <a:t>3</a:t>
            </a:r>
            <a:r>
              <a:rPr lang="zh-CN" altLang="en-US" b="0" i="0" dirty="0">
                <a:solidFill>
                  <a:srgbClr val="060607"/>
                </a:solidFill>
                <a:effectLst/>
                <a:latin typeface="-apple-system"/>
              </a:rPr>
              <a:t>的基础上对锚定框进行了修改，最终</a:t>
            </a:r>
            <a:r>
              <a:rPr lang="en-US" altLang="zh-CN" b="0" i="0" dirty="0">
                <a:solidFill>
                  <a:srgbClr val="060607"/>
                </a:solidFill>
                <a:effectLst/>
                <a:latin typeface="-apple-system"/>
              </a:rPr>
              <a:t>mAP@0.5</a:t>
            </a:r>
            <a:r>
              <a:rPr lang="zh-CN" altLang="en-US" b="0" i="0" dirty="0">
                <a:solidFill>
                  <a:srgbClr val="060607"/>
                </a:solidFill>
                <a:effectLst/>
                <a:latin typeface="-apple-system"/>
              </a:rPr>
              <a:t>达到了</a:t>
            </a:r>
            <a:r>
              <a:rPr lang="en-US" altLang="zh-CN" b="0" i="0" dirty="0">
                <a:solidFill>
                  <a:srgbClr val="060607"/>
                </a:solidFill>
                <a:effectLst/>
                <a:latin typeface="-apple-system"/>
              </a:rPr>
              <a:t>85%</a:t>
            </a:r>
            <a:r>
              <a:rPr lang="zh-CN" altLang="en-US" b="0" i="0" dirty="0">
                <a:solidFill>
                  <a:srgbClr val="060607"/>
                </a:solidFill>
                <a:effectLst/>
                <a:latin typeface="-apple-system"/>
              </a:rPr>
              <a:t>，相比训练</a:t>
            </a:r>
            <a:r>
              <a:rPr lang="en-US" altLang="zh-CN" b="0" i="0" dirty="0">
                <a:solidFill>
                  <a:srgbClr val="060607"/>
                </a:solidFill>
                <a:effectLst/>
                <a:latin typeface="-apple-system"/>
              </a:rPr>
              <a:t>3</a:t>
            </a:r>
            <a:r>
              <a:rPr lang="zh-CN" altLang="en-US" b="0" i="0" dirty="0">
                <a:solidFill>
                  <a:srgbClr val="060607"/>
                </a:solidFill>
                <a:effectLst/>
                <a:latin typeface="-apple-system"/>
              </a:rPr>
              <a:t>的情况提升了</a:t>
            </a:r>
            <a:r>
              <a:rPr lang="en-US" altLang="zh-CN" b="0" i="0" dirty="0">
                <a:solidFill>
                  <a:srgbClr val="060607"/>
                </a:solidFill>
                <a:effectLst/>
                <a:latin typeface="-apple-system"/>
              </a:rPr>
              <a:t>2.4</a:t>
            </a:r>
            <a:r>
              <a:rPr lang="zh-CN" altLang="en-US" b="0" i="0" dirty="0">
                <a:solidFill>
                  <a:srgbClr val="060607"/>
                </a:solidFill>
                <a:effectLst/>
                <a:latin typeface="-apple-system"/>
              </a:rPr>
              <a:t>个百分点。说明根据</a:t>
            </a:r>
            <a:r>
              <a:rPr lang="zh-CN" altLang="en-US" b="1" i="0" dirty="0">
                <a:solidFill>
                  <a:srgbClr val="060607"/>
                </a:solidFill>
                <a:effectLst/>
                <a:latin typeface="-apple-system"/>
              </a:rPr>
              <a:t>数据集特性调整锚定框大小</a:t>
            </a:r>
            <a:r>
              <a:rPr lang="zh-CN" altLang="en-US" b="0" i="0" dirty="0">
                <a:solidFill>
                  <a:srgbClr val="060607"/>
                </a:solidFill>
                <a:effectLst/>
                <a:latin typeface="-apple-system"/>
              </a:rPr>
              <a:t>是提高检测精度的因素之一。</a:t>
            </a:r>
            <a:endParaRPr lang="en-US" altLang="zh-CN" b="0" i="0" dirty="0">
              <a:solidFill>
                <a:srgbClr val="060607"/>
              </a:solidFill>
              <a:effectLst/>
              <a:latin typeface="-apple-system"/>
            </a:endParaRPr>
          </a:p>
          <a:p>
            <a:pPr indent="457200">
              <a:lnSpc>
                <a:spcPct val="150000"/>
              </a:lnSpc>
            </a:pPr>
            <a:r>
              <a:rPr lang="zh-CN" altLang="en-US" dirty="0"/>
              <a:t>训练</a:t>
            </a:r>
            <a:r>
              <a:rPr lang="en-US" altLang="zh-CN" dirty="0"/>
              <a:t>5</a:t>
            </a:r>
            <a:r>
              <a:rPr lang="zh-CN" altLang="en-US" dirty="0"/>
              <a:t>是将</a:t>
            </a:r>
            <a:r>
              <a:rPr lang="en-US" altLang="zh-CN" dirty="0"/>
              <a:t>HIC-yolov5</a:t>
            </a:r>
            <a:r>
              <a:rPr lang="zh-CN" altLang="en-US" dirty="0"/>
              <a:t>中的</a:t>
            </a:r>
            <a:r>
              <a:rPr lang="en-US" altLang="zh-CN" dirty="0"/>
              <a:t>CBAM</a:t>
            </a:r>
            <a:r>
              <a:rPr lang="zh-CN" altLang="en-US" dirty="0"/>
              <a:t>模块去除后的训练测试，目的是为了验证</a:t>
            </a:r>
            <a:r>
              <a:rPr lang="en-US" altLang="zh-CN" dirty="0"/>
              <a:t>CBAM</a:t>
            </a:r>
            <a:r>
              <a:rPr lang="zh-CN" altLang="en-US" dirty="0"/>
              <a:t>在全景目标检测中的效果。从训练</a:t>
            </a:r>
            <a:r>
              <a:rPr lang="en-US" altLang="zh-CN" dirty="0"/>
              <a:t>4</a:t>
            </a:r>
            <a:r>
              <a:rPr lang="zh-CN" altLang="en-US" dirty="0"/>
              <a:t>和训练</a:t>
            </a:r>
            <a:r>
              <a:rPr lang="en-US" altLang="zh-CN" dirty="0"/>
              <a:t>5</a:t>
            </a:r>
            <a:r>
              <a:rPr lang="zh-CN" altLang="en-US" dirty="0"/>
              <a:t>的对比，</a:t>
            </a:r>
            <a:r>
              <a:rPr lang="en-US" altLang="zh-CN" dirty="0"/>
              <a:t>CBAM</a:t>
            </a:r>
            <a:r>
              <a:rPr lang="zh-CN" altLang="en-US" dirty="0"/>
              <a:t>使模型参数量提升了</a:t>
            </a:r>
            <a:r>
              <a:rPr lang="en-US" altLang="zh-CN" dirty="0"/>
              <a:t>2.8M</a:t>
            </a:r>
            <a:r>
              <a:rPr lang="zh-CN" altLang="en-US" dirty="0"/>
              <a:t>，但检测精度有</a:t>
            </a:r>
            <a:r>
              <a:rPr lang="en-US" altLang="zh-CN" dirty="0"/>
              <a:t>1.13%</a:t>
            </a:r>
            <a:r>
              <a:rPr lang="zh-CN" altLang="en-US"/>
              <a:t>的提升</a:t>
            </a:r>
            <a:endParaRPr lang="en-US" altLang="zh-CN" dirty="0"/>
          </a:p>
        </p:txBody>
      </p:sp>
    </p:spTree>
    <p:extLst>
      <p:ext uri="{BB962C8B-B14F-4D97-AF65-F5344CB8AC3E}">
        <p14:creationId xmlns:p14="http://schemas.microsoft.com/office/powerpoint/2010/main" val="3888888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7D8C2-CDE6-3B90-C5B7-3E37108F6FDB}"/>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8D407D75-2253-EF56-B7FB-0CC3912FADB9}"/>
              </a:ext>
            </a:extLst>
          </p:cNvPr>
          <p:cNvSpPr txBox="1"/>
          <p:nvPr/>
        </p:nvSpPr>
        <p:spPr>
          <a:xfrm>
            <a:off x="2150631" y="296863"/>
            <a:ext cx="5662409"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华文中宋" panose="02010600040101010101" pitchFamily="2" charset="-122"/>
                <a:ea typeface="华文中宋" panose="02010600040101010101" pitchFamily="2" charset="-122"/>
              </a:rPr>
              <a:t>实验结果</a:t>
            </a:r>
          </a:p>
        </p:txBody>
      </p:sp>
      <p:sp>
        <p:nvSpPr>
          <p:cNvPr id="1048679" name="等腰三角形 3">
            <a:extLst>
              <a:ext uri="{FF2B5EF4-FFF2-40B4-BE49-F238E27FC236}">
                <a16:creationId xmlns:a16="http://schemas.microsoft.com/office/drawing/2014/main" id="{85DF42FB-2A7C-5EBD-E5D2-4A08859E8245}"/>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sp>
        <p:nvSpPr>
          <p:cNvPr id="1048680" name="文本占位符 2">
            <a:extLst>
              <a:ext uri="{FF2B5EF4-FFF2-40B4-BE49-F238E27FC236}">
                <a16:creationId xmlns:a16="http://schemas.microsoft.com/office/drawing/2014/main" id="{A61E0EA0-C789-984C-9607-E36707668C2F}"/>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03</a:t>
            </a:r>
            <a:endParaRPr lang="zh-CN" altLang="en-US" dirty="0">
              <a:latin typeface="+mn-lt"/>
              <a:ea typeface="华文中宋" panose="02010600040101010101" pitchFamily="2" charset="-122"/>
            </a:endParaRPr>
          </a:p>
        </p:txBody>
      </p:sp>
      <p:pic>
        <p:nvPicPr>
          <p:cNvPr id="2097166" name="图片 5">
            <a:extLst>
              <a:ext uri="{FF2B5EF4-FFF2-40B4-BE49-F238E27FC236}">
                <a16:creationId xmlns:a16="http://schemas.microsoft.com/office/drawing/2014/main" id="{148662A2-357C-F897-A6E0-19F3FAA5A2FB}"/>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28F2E6EF-D912-A4FC-773A-99CF91C437CE}"/>
              </a:ext>
            </a:extLst>
          </p:cNvPr>
          <p:cNvCxnSpPr/>
          <p:nvPr/>
        </p:nvCxnSpPr>
        <p:spPr>
          <a:xfrm>
            <a:off x="2196000" y="936000"/>
            <a:ext cx="8280000" cy="0"/>
          </a:xfrm>
          <a:prstGeom prst="line">
            <a:avLst/>
          </a:prstGeom>
          <a:ln w="41275">
            <a:solidFill>
              <a:srgbClr val="203864"/>
            </a:solidFill>
          </a:ln>
        </p:spPr>
        <p:style>
          <a:lnRef idx="1">
            <a:schemeClr val="dk1"/>
          </a:lnRef>
          <a:fillRef idx="0">
            <a:schemeClr val="dk1"/>
          </a:fillRef>
          <a:effectRef idx="0">
            <a:schemeClr val="dk1"/>
          </a:effectRef>
          <a:fontRef idx="minor">
            <a:schemeClr val="tx1"/>
          </a:fontRef>
        </p:style>
      </p:cxnSp>
      <p:sp>
        <p:nvSpPr>
          <p:cNvPr id="8" name="灯片编号占位符 7">
            <a:extLst>
              <a:ext uri="{FF2B5EF4-FFF2-40B4-BE49-F238E27FC236}">
                <a16:creationId xmlns:a16="http://schemas.microsoft.com/office/drawing/2014/main" id="{B3974D63-6D0C-E0D9-FADA-700159178F0D}"/>
              </a:ext>
            </a:extLst>
          </p:cNvPr>
          <p:cNvSpPr>
            <a:spLocks noGrp="1"/>
          </p:cNvSpPr>
          <p:nvPr>
            <p:ph type="sldNum" sz="quarter" idx="12"/>
          </p:nvPr>
        </p:nvSpPr>
        <p:spPr>
          <a:xfrm>
            <a:off x="8829675" y="6388958"/>
            <a:ext cx="2743200" cy="365125"/>
          </a:xfrm>
        </p:spPr>
        <p:txBody>
          <a:bodyPr/>
          <a:lstStyle/>
          <a:p>
            <a:fld id="{4C728F51-6063-40BC-906F-D6FBF0AE26BF}" type="slidenum">
              <a:rPr lang="zh-CN" altLang="en-US" smtClean="0"/>
              <a:t>14</a:t>
            </a:fld>
            <a:endParaRPr lang="zh-CN" altLang="en-US" dirty="0"/>
          </a:p>
        </p:txBody>
      </p:sp>
      <p:pic>
        <p:nvPicPr>
          <p:cNvPr id="6" name="图片 5">
            <a:extLst>
              <a:ext uri="{FF2B5EF4-FFF2-40B4-BE49-F238E27FC236}">
                <a16:creationId xmlns:a16="http://schemas.microsoft.com/office/drawing/2014/main" id="{62EC574A-014A-1A6F-1876-1B9EC74DA703}"/>
              </a:ext>
            </a:extLst>
          </p:cNvPr>
          <p:cNvPicPr>
            <a:picLocks noChangeAspect="1"/>
          </p:cNvPicPr>
          <p:nvPr/>
        </p:nvPicPr>
        <p:blipFill>
          <a:blip r:embed="rId4"/>
          <a:stretch>
            <a:fillRect/>
          </a:stretch>
        </p:blipFill>
        <p:spPr>
          <a:xfrm>
            <a:off x="6468437" y="1190485"/>
            <a:ext cx="5054950" cy="2523708"/>
          </a:xfrm>
          <a:prstGeom prst="rect">
            <a:avLst/>
          </a:prstGeom>
        </p:spPr>
      </p:pic>
      <p:pic>
        <p:nvPicPr>
          <p:cNvPr id="9" name="图片 8">
            <a:extLst>
              <a:ext uri="{FF2B5EF4-FFF2-40B4-BE49-F238E27FC236}">
                <a16:creationId xmlns:a16="http://schemas.microsoft.com/office/drawing/2014/main" id="{A728F1A3-E925-0E41-C213-2C9B31D4434F}"/>
              </a:ext>
            </a:extLst>
          </p:cNvPr>
          <p:cNvPicPr>
            <a:picLocks noChangeAspect="1"/>
          </p:cNvPicPr>
          <p:nvPr/>
        </p:nvPicPr>
        <p:blipFill>
          <a:blip r:embed="rId5"/>
          <a:stretch>
            <a:fillRect/>
          </a:stretch>
        </p:blipFill>
        <p:spPr>
          <a:xfrm>
            <a:off x="125700" y="1190485"/>
            <a:ext cx="6096000" cy="2518176"/>
          </a:xfrm>
          <a:prstGeom prst="rect">
            <a:avLst/>
          </a:prstGeom>
        </p:spPr>
      </p:pic>
      <p:sp>
        <p:nvSpPr>
          <p:cNvPr id="10" name="文本框 9">
            <a:extLst>
              <a:ext uri="{FF2B5EF4-FFF2-40B4-BE49-F238E27FC236}">
                <a16:creationId xmlns:a16="http://schemas.microsoft.com/office/drawing/2014/main" id="{E60D69B3-E2A1-9F04-99BE-A7A609CDDB02}"/>
              </a:ext>
            </a:extLst>
          </p:cNvPr>
          <p:cNvSpPr txBox="1"/>
          <p:nvPr/>
        </p:nvSpPr>
        <p:spPr>
          <a:xfrm>
            <a:off x="1657350" y="3886200"/>
            <a:ext cx="2533650" cy="369332"/>
          </a:xfrm>
          <a:prstGeom prst="rect">
            <a:avLst/>
          </a:prstGeom>
          <a:noFill/>
        </p:spPr>
        <p:txBody>
          <a:bodyPr wrap="square" rtlCol="0">
            <a:spAutoFit/>
          </a:bodyPr>
          <a:lstStyle/>
          <a:p>
            <a:pPr algn="ctr"/>
            <a:r>
              <a:rPr lang="en-US" altLang="zh-CN" dirty="0"/>
              <a:t>Street View</a:t>
            </a:r>
            <a:r>
              <a:rPr lang="zh-CN" altLang="en-US" dirty="0"/>
              <a:t>训练集</a:t>
            </a:r>
          </a:p>
        </p:txBody>
      </p:sp>
      <p:sp>
        <p:nvSpPr>
          <p:cNvPr id="11" name="文本框 10">
            <a:extLst>
              <a:ext uri="{FF2B5EF4-FFF2-40B4-BE49-F238E27FC236}">
                <a16:creationId xmlns:a16="http://schemas.microsoft.com/office/drawing/2014/main" id="{C46E9F8C-2BE6-821F-DEB9-30600E5665B4}"/>
              </a:ext>
            </a:extLst>
          </p:cNvPr>
          <p:cNvSpPr txBox="1"/>
          <p:nvPr/>
        </p:nvSpPr>
        <p:spPr>
          <a:xfrm>
            <a:off x="7918101" y="3886200"/>
            <a:ext cx="2250831" cy="369332"/>
          </a:xfrm>
          <a:prstGeom prst="rect">
            <a:avLst/>
          </a:prstGeom>
          <a:noFill/>
        </p:spPr>
        <p:txBody>
          <a:bodyPr wrap="square" rtlCol="0">
            <a:spAutoFit/>
          </a:bodyPr>
          <a:lstStyle/>
          <a:p>
            <a:pPr algn="ctr"/>
            <a:r>
              <a:rPr lang="en-US" altLang="zh-CN" dirty="0"/>
              <a:t>Wuhan3d_</a:t>
            </a:r>
            <a:r>
              <a:rPr lang="zh-CN" altLang="en-US" dirty="0"/>
              <a:t>测试集</a:t>
            </a:r>
          </a:p>
        </p:txBody>
      </p:sp>
      <p:sp>
        <p:nvSpPr>
          <p:cNvPr id="12" name="文本框 11">
            <a:extLst>
              <a:ext uri="{FF2B5EF4-FFF2-40B4-BE49-F238E27FC236}">
                <a16:creationId xmlns:a16="http://schemas.microsoft.com/office/drawing/2014/main" id="{7B2F164A-14D7-F2F1-4830-849DBC82B0A4}"/>
              </a:ext>
            </a:extLst>
          </p:cNvPr>
          <p:cNvSpPr txBox="1"/>
          <p:nvPr/>
        </p:nvSpPr>
        <p:spPr>
          <a:xfrm>
            <a:off x="742950" y="4255533"/>
            <a:ext cx="10458449" cy="2723823"/>
          </a:xfrm>
          <a:prstGeom prst="rect">
            <a:avLst/>
          </a:prstGeom>
          <a:noFill/>
        </p:spPr>
        <p:txBody>
          <a:bodyPr wrap="square" rtlCol="0">
            <a:spAutoFit/>
          </a:bodyPr>
          <a:lstStyle/>
          <a:p>
            <a:pPr indent="457200">
              <a:lnSpc>
                <a:spcPct val="150000"/>
              </a:lnSpc>
            </a:pPr>
            <a:r>
              <a:rPr lang="zh-CN" altLang="en-US" dirty="0"/>
              <a:t>将目前在</a:t>
            </a:r>
            <a:r>
              <a:rPr lang="en-US" altLang="zh-CN" dirty="0" err="1"/>
              <a:t>StreetView</a:t>
            </a:r>
            <a:r>
              <a:rPr lang="zh-CN" altLang="en-US" dirty="0"/>
              <a:t>数据集上训练的模型在</a:t>
            </a:r>
            <a:r>
              <a:rPr lang="en-US" altLang="zh-CN" dirty="0"/>
              <a:t>Wuhan3d</a:t>
            </a:r>
            <a:r>
              <a:rPr lang="zh-CN" altLang="en-US" dirty="0"/>
              <a:t>数据集中的全景图进行测试可以发现以下几个问题：</a:t>
            </a:r>
            <a:endParaRPr lang="en-US" altLang="zh-CN" dirty="0"/>
          </a:p>
          <a:p>
            <a:pPr indent="457200">
              <a:lnSpc>
                <a:spcPct val="150000"/>
              </a:lnSpc>
            </a:pPr>
            <a:r>
              <a:rPr lang="en-US" altLang="zh-CN" dirty="0"/>
              <a:t>1.StreetView</a:t>
            </a:r>
            <a:r>
              <a:rPr lang="zh-CN" altLang="en-US" dirty="0"/>
              <a:t>中汽车的类型主要是普通汽车，所以对</a:t>
            </a:r>
            <a:r>
              <a:rPr lang="en-US" altLang="zh-CN" dirty="0"/>
              <a:t>wuhan3d</a:t>
            </a:r>
            <a:r>
              <a:rPr lang="zh-CN" altLang="en-US" dirty="0"/>
              <a:t>数据集中的公交汽车的目标框回归不好</a:t>
            </a:r>
            <a:endParaRPr lang="en-US" altLang="zh-CN" dirty="0"/>
          </a:p>
          <a:p>
            <a:pPr indent="457200">
              <a:lnSpc>
                <a:spcPct val="150000"/>
              </a:lnSpc>
            </a:pPr>
            <a:r>
              <a:rPr lang="en-US" altLang="zh-CN" dirty="0"/>
              <a:t>2.</a:t>
            </a:r>
            <a:r>
              <a:rPr lang="zh-CN" altLang="en-US" dirty="0"/>
              <a:t>由于两种数据集的特征不同，所以在</a:t>
            </a:r>
            <a:r>
              <a:rPr lang="en-US" altLang="zh-CN" dirty="0"/>
              <a:t>wuhan3d</a:t>
            </a:r>
            <a:r>
              <a:rPr lang="zh-CN" altLang="en-US" dirty="0"/>
              <a:t>数据集上存在一定数量的误识别和漏识别</a:t>
            </a:r>
            <a:endParaRPr lang="en-US" altLang="zh-CN" dirty="0"/>
          </a:p>
          <a:p>
            <a:endParaRPr lang="en-US" altLang="zh-CN" dirty="0"/>
          </a:p>
          <a:p>
            <a:endParaRPr lang="zh-CN" altLang="en-US" dirty="0"/>
          </a:p>
        </p:txBody>
      </p:sp>
    </p:spTree>
    <p:extLst>
      <p:ext uri="{BB962C8B-B14F-4D97-AF65-F5344CB8AC3E}">
        <p14:creationId xmlns:p14="http://schemas.microsoft.com/office/powerpoint/2010/main" val="903517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组合 6"/>
          <p:cNvGrpSpPr/>
          <p:nvPr/>
        </p:nvGrpSpPr>
        <p:grpSpPr>
          <a:xfrm>
            <a:off x="0" y="0"/>
            <a:ext cx="12192000" cy="1034473"/>
            <a:chOff x="0" y="0"/>
            <a:chExt cx="12192000" cy="1034473"/>
          </a:xfrm>
        </p:grpSpPr>
        <p:sp>
          <p:nvSpPr>
            <p:cNvPr id="1048616" name="矩形 4"/>
            <p:cNvSpPr/>
            <p:nvPr/>
          </p:nvSpPr>
          <p:spPr>
            <a:xfrm flipV="1">
              <a:off x="0" y="0"/>
              <a:ext cx="12192000" cy="1034473"/>
            </a:xfrm>
            <a:prstGeom prst="rect">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alibri" panose="020F0502020204030204" pitchFamily="34" charset="0"/>
                <a:ea typeface="微软雅黑" panose="020B0503020204020204" pitchFamily="34" charset="-122"/>
                <a:sym typeface="Calibri" panose="020F0502020204030204" pitchFamily="34" charset="0"/>
              </a:endParaRPr>
            </a:p>
          </p:txBody>
        </p:sp>
        <p:cxnSp>
          <p:nvCxnSpPr>
            <p:cNvPr id="3145730" name="直接连接符 5"/>
            <p:cNvCxnSpPr>
              <a:cxnSpLocks/>
            </p:cNvCxnSpPr>
            <p:nvPr/>
          </p:nvCxnSpPr>
          <p:spPr>
            <a:xfrm>
              <a:off x="1184530" y="132043"/>
              <a:ext cx="0" cy="77038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048617" name="标题 1"/>
          <p:cNvSpPr txBox="1"/>
          <p:nvPr/>
        </p:nvSpPr>
        <p:spPr>
          <a:xfrm>
            <a:off x="1516716" y="188273"/>
            <a:ext cx="5292012" cy="7516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000"/>
              </a:spcBef>
            </a:pPr>
            <a:r>
              <a:rPr lang="zh-CN" altLang="en-US" sz="4000" b="1" dirty="0">
                <a:solidFill>
                  <a:schemeClr val="bg1"/>
                </a:solidFill>
                <a:latin typeface="Microsoft YaHei" panose="020B0503020204020204" pitchFamily="34" charset="-122"/>
                <a:ea typeface="Microsoft YaHei" panose="020B0503020204020204" pitchFamily="34" charset="-122"/>
                <a:cs typeface="+mn-cs"/>
              </a:rPr>
              <a:t>总结及后续计划</a:t>
            </a:r>
          </a:p>
        </p:txBody>
      </p:sp>
      <p:sp>
        <p:nvSpPr>
          <p:cNvPr id="1048618" name="内容占位符 2"/>
          <p:cNvSpPr txBox="1"/>
          <p:nvPr/>
        </p:nvSpPr>
        <p:spPr>
          <a:xfrm>
            <a:off x="221658" y="185490"/>
            <a:ext cx="836392" cy="56301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4000" b="1" dirty="0">
                <a:solidFill>
                  <a:schemeClr val="bg1"/>
                </a:solidFill>
                <a:latin typeface="Microsoft YaHei" panose="020B0503020204020204" pitchFamily="34" charset="-122"/>
                <a:ea typeface="Microsoft YaHei" panose="020B0503020204020204" pitchFamily="34" charset="-122"/>
              </a:rPr>
              <a:t>04</a:t>
            </a:r>
            <a:endParaRPr lang="zh-CN" altLang="en-US" sz="4000" b="1" dirty="0">
              <a:solidFill>
                <a:schemeClr val="bg1"/>
              </a:solidFill>
              <a:latin typeface="Microsoft YaHei" panose="020B0503020204020204" pitchFamily="34" charset="-122"/>
              <a:ea typeface="Microsoft YaHei" panose="020B0503020204020204" pitchFamily="34" charset="-122"/>
            </a:endParaRPr>
          </a:p>
        </p:txBody>
      </p:sp>
      <p:pic>
        <p:nvPicPr>
          <p:cNvPr id="8" name="图片 10">
            <a:extLst>
              <a:ext uri="{FF2B5EF4-FFF2-40B4-BE49-F238E27FC236}">
                <a16:creationId xmlns:a16="http://schemas.microsoft.com/office/drawing/2014/main" id="{87BE1292-BE8B-F846-9598-38B71EE135E0}"/>
              </a:ext>
            </a:extLst>
          </p:cNvPr>
          <p:cNvPicPr>
            <a:picLocks noChangeAspect="1"/>
          </p:cNvPicPr>
          <p:nvPr/>
        </p:nvPicPr>
        <p:blipFill>
          <a:blip r:embed="rId3" cstate="print"/>
          <a:stretch>
            <a:fillRect/>
          </a:stretch>
        </p:blipFill>
        <p:spPr>
          <a:xfrm>
            <a:off x="10977921" y="173331"/>
            <a:ext cx="1134836" cy="744182"/>
          </a:xfrm>
          <a:prstGeom prst="rect">
            <a:avLst/>
          </a:prstGeom>
        </p:spPr>
      </p:pic>
      <p:sp>
        <p:nvSpPr>
          <p:cNvPr id="3" name="文本框 2">
            <a:extLst>
              <a:ext uri="{FF2B5EF4-FFF2-40B4-BE49-F238E27FC236}">
                <a16:creationId xmlns:a16="http://schemas.microsoft.com/office/drawing/2014/main" id="{A22DFA00-9112-C98E-8489-B1EDFAE42ECD}"/>
              </a:ext>
            </a:extLst>
          </p:cNvPr>
          <p:cNvSpPr txBox="1"/>
          <p:nvPr/>
        </p:nvSpPr>
        <p:spPr>
          <a:xfrm>
            <a:off x="595951" y="1225864"/>
            <a:ext cx="9843450" cy="1615827"/>
          </a:xfrm>
          <a:prstGeom prst="rect">
            <a:avLst/>
          </a:prstGeom>
          <a:noFill/>
        </p:spPr>
        <p:txBody>
          <a:bodyPr wrap="square" rtlCol="0">
            <a:spAutoFit/>
          </a:bodyPr>
          <a:lstStyle/>
          <a:p>
            <a:pPr marL="0" lvl="1" indent="457200" algn="l">
              <a:lnSpc>
                <a:spcPct val="150000"/>
              </a:lnSpc>
            </a:pPr>
            <a:r>
              <a:rPr lang="en-US" altLang="zh-CN" dirty="0">
                <a:latin typeface="Inter"/>
              </a:rPr>
              <a:t>1.</a:t>
            </a:r>
            <a:r>
              <a:rPr lang="zh-CN" altLang="en-US" dirty="0">
                <a:latin typeface="Inter"/>
              </a:rPr>
              <a:t>目前还没对</a:t>
            </a:r>
            <a:r>
              <a:rPr lang="en-US" altLang="zh-CN" dirty="0"/>
              <a:t>Involution</a:t>
            </a:r>
            <a:r>
              <a:rPr lang="zh-CN" altLang="en-US" dirty="0">
                <a:latin typeface="Inter"/>
              </a:rPr>
              <a:t>做消融实验，验证</a:t>
            </a:r>
            <a:r>
              <a:rPr lang="en-US" altLang="zh-CN" dirty="0"/>
              <a:t>Involution</a:t>
            </a:r>
            <a:r>
              <a:rPr lang="zh-CN" altLang="en-US" dirty="0"/>
              <a:t>对检测精度的效果</a:t>
            </a:r>
            <a:endParaRPr lang="en-US" altLang="zh-CN" dirty="0">
              <a:latin typeface="Inter"/>
            </a:endParaRPr>
          </a:p>
          <a:p>
            <a:pPr marL="0" lvl="1" indent="457200" algn="l">
              <a:lnSpc>
                <a:spcPct val="150000"/>
              </a:lnSpc>
            </a:pPr>
            <a:r>
              <a:rPr lang="en-US" altLang="zh-CN" dirty="0">
                <a:latin typeface="Inter"/>
              </a:rPr>
              <a:t>2.</a:t>
            </a:r>
            <a:r>
              <a:rPr lang="zh-CN" altLang="en-US" dirty="0">
                <a:latin typeface="Inter"/>
              </a:rPr>
              <a:t>目前</a:t>
            </a:r>
            <a:r>
              <a:rPr lang="en-US" altLang="zh-CN" dirty="0">
                <a:latin typeface="Inter"/>
              </a:rPr>
              <a:t>HIC-yolov5</a:t>
            </a:r>
            <a:r>
              <a:rPr lang="zh-CN" altLang="en-US" dirty="0">
                <a:latin typeface="Inter"/>
              </a:rPr>
              <a:t>对</a:t>
            </a:r>
            <a:r>
              <a:rPr lang="en-US" altLang="zh-CN" dirty="0" err="1">
                <a:latin typeface="Inter"/>
              </a:rPr>
              <a:t>StreetView</a:t>
            </a:r>
            <a:r>
              <a:rPr lang="zh-CN" altLang="en-US" dirty="0">
                <a:latin typeface="Inter"/>
              </a:rPr>
              <a:t>数据集的复现效果尚可，但是</a:t>
            </a:r>
            <a:r>
              <a:rPr lang="en-US" altLang="zh-CN" dirty="0" err="1">
                <a:latin typeface="Inter"/>
              </a:rPr>
              <a:t>StreetView</a:t>
            </a:r>
            <a:r>
              <a:rPr lang="zh-CN" altLang="en-US" dirty="0">
                <a:latin typeface="Inter"/>
              </a:rPr>
              <a:t>数据集类别和目标尺寸存在着一定的局限，后续可能需要补充更多的数据进行训练</a:t>
            </a:r>
            <a:endParaRPr lang="en-US" altLang="zh-CN" dirty="0">
              <a:latin typeface="Inter"/>
            </a:endParaRPr>
          </a:p>
          <a:p>
            <a:pPr indent="457200" algn="l"/>
            <a:r>
              <a:rPr lang="en-US" altLang="zh-CN" dirty="0">
                <a:latin typeface="Inter"/>
              </a:rPr>
              <a:t>3.</a:t>
            </a:r>
            <a:r>
              <a:rPr lang="zh-CN" altLang="en-US" dirty="0">
                <a:latin typeface="Inter"/>
              </a:rPr>
              <a:t>调研近几年常用的模块，分析哪种更适合全景目标检测的场景</a:t>
            </a:r>
            <a:endParaRPr lang="en-US" altLang="zh-CN" dirty="0">
              <a:latin typeface="Inter"/>
            </a:endParaRPr>
          </a:p>
        </p:txBody>
      </p:sp>
    </p:spTree>
    <p:extLst>
      <p:ext uri="{BB962C8B-B14F-4D97-AF65-F5344CB8AC3E}">
        <p14:creationId xmlns:p14="http://schemas.microsoft.com/office/powerpoint/2010/main" val="709838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03864"/>
        </a:solidFill>
        <a:effectLst/>
      </p:bgPr>
    </p:bg>
    <p:spTree>
      <p:nvGrpSpPr>
        <p:cNvPr id="1" name=""/>
        <p:cNvGrpSpPr/>
        <p:nvPr/>
      </p:nvGrpSpPr>
      <p:grpSpPr>
        <a:xfrm>
          <a:off x="0" y="0"/>
          <a:ext cx="0" cy="0"/>
          <a:chOff x="0" y="0"/>
          <a:chExt cx="0" cy="0"/>
        </a:xfrm>
      </p:grpSpPr>
      <p:cxnSp>
        <p:nvCxnSpPr>
          <p:cNvPr id="3145731" name="直接连接符 4"/>
          <p:cNvCxnSpPr>
            <a:cxnSpLocks/>
          </p:cNvCxnSpPr>
          <p:nvPr/>
        </p:nvCxnSpPr>
        <p:spPr>
          <a:xfrm>
            <a:off x="4636777" y="623405"/>
            <a:ext cx="8544" cy="223045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097158" name="图片 2"/>
          <p:cNvPicPr>
            <a:picLocks noChangeAspect="1"/>
          </p:cNvPicPr>
          <p:nvPr/>
        </p:nvPicPr>
        <p:blipFill>
          <a:blip r:embed="rId3" cstate="print"/>
          <a:stretch>
            <a:fillRect/>
          </a:stretch>
        </p:blipFill>
        <p:spPr>
          <a:xfrm>
            <a:off x="2935404" y="903985"/>
            <a:ext cx="1240694" cy="1240694"/>
          </a:xfrm>
          <a:prstGeom prst="rect">
            <a:avLst/>
          </a:prstGeom>
        </p:spPr>
      </p:pic>
      <p:sp>
        <p:nvSpPr>
          <p:cNvPr id="1048620" name="TextBox 1"/>
          <p:cNvSpPr txBox="1"/>
          <p:nvPr/>
        </p:nvSpPr>
        <p:spPr>
          <a:xfrm>
            <a:off x="3931920" y="6178104"/>
            <a:ext cx="5685906" cy="307777"/>
          </a:xfrm>
          <a:prstGeom prst="rect">
            <a:avLst/>
          </a:prstGeom>
          <a:noFill/>
        </p:spPr>
        <p:txBody>
          <a:bodyPr wrap="square" rtlCol="0">
            <a:spAutoFit/>
          </a:bodyPr>
          <a:lstStyle/>
          <a:p>
            <a:r>
              <a:rPr lang="en-AU" sz="1400" dirty="0">
                <a:solidFill>
                  <a:schemeClr val="bg1">
                    <a:lumMod val="75000"/>
                  </a:schemeClr>
                </a:solidFill>
                <a:latin typeface="微软雅黑 Light" panose="020B0502040204020203" pitchFamily="34" charset="-122"/>
                <a:ea typeface="微软雅黑 Light" panose="020B0502040204020203" pitchFamily="34" charset="-122"/>
              </a:rPr>
              <a:t>High-</a:t>
            </a:r>
            <a:r>
              <a:rPr lang="en-AU" sz="1400" dirty="0" err="1">
                <a:solidFill>
                  <a:schemeClr val="bg1">
                    <a:lumMod val="75000"/>
                  </a:schemeClr>
                </a:solidFill>
                <a:latin typeface="微软雅黑 Light" panose="020B0502040204020203" pitchFamily="34" charset="-122"/>
                <a:ea typeface="微软雅黑 Light" panose="020B0502040204020203" pitchFamily="34" charset="-122"/>
              </a:rPr>
              <a:t>performanceSpatialComputationalIntelligenceLab</a:t>
            </a:r>
            <a:r>
              <a:rPr lang="en-US" altLang="zh-CN" sz="1400" dirty="0">
                <a:solidFill>
                  <a:schemeClr val="bg1">
                    <a:lumMod val="75000"/>
                  </a:schemeClr>
                </a:solidFill>
                <a:latin typeface="微软雅黑 Light" panose="020B0502040204020203" pitchFamily="34" charset="-122"/>
                <a:ea typeface="微软雅黑 Light" panose="020B0502040204020203" pitchFamily="34" charset="-122"/>
              </a:rPr>
              <a:t>@CUG</a:t>
            </a:r>
            <a:endParaRPr lang="en-AU" sz="1400" dirty="0">
              <a:solidFill>
                <a:schemeClr val="bg1">
                  <a:lumMod val="75000"/>
                </a:schemeClr>
              </a:solidFill>
              <a:latin typeface="微软雅黑 Light" panose="020B0502040204020203" pitchFamily="34" charset="-122"/>
              <a:ea typeface="微软雅黑 Light" panose="020B0502040204020203" pitchFamily="34" charset="-122"/>
            </a:endParaRPr>
          </a:p>
        </p:txBody>
      </p:sp>
      <p:pic>
        <p:nvPicPr>
          <p:cNvPr id="2097159" name="图片 4"/>
          <p:cNvPicPr>
            <a:picLocks noChangeAspect="1"/>
          </p:cNvPicPr>
          <p:nvPr/>
        </p:nvPicPr>
        <p:blipFill>
          <a:blip r:embed="rId4" cstate="print"/>
          <a:stretch>
            <a:fillRect/>
          </a:stretch>
        </p:blipFill>
        <p:spPr>
          <a:xfrm>
            <a:off x="2873829" y="5858179"/>
            <a:ext cx="1134836" cy="744182"/>
          </a:xfrm>
          <a:prstGeom prst="rect">
            <a:avLst/>
          </a:prstGeom>
        </p:spPr>
      </p:pic>
      <p:sp>
        <p:nvSpPr>
          <p:cNvPr id="1048623" name="标题占位符 1"/>
          <p:cNvSpPr txBox="1"/>
          <p:nvPr/>
        </p:nvSpPr>
        <p:spPr>
          <a:xfrm>
            <a:off x="1728108" y="3533275"/>
            <a:ext cx="838774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5400" kern="1200">
                <a:solidFill>
                  <a:schemeClr val="bg1"/>
                </a:solidFill>
                <a:latin typeface="Arial" panose="020B0604020202020204" pitchFamily="34" charset="0"/>
                <a:ea typeface="+mj-ea"/>
                <a:cs typeface="Arial" panose="020B0604020202020204" pitchFamily="34" charset="0"/>
              </a:defRPr>
            </a:lvl1pPr>
          </a:lstStyle>
          <a:p>
            <a:r>
              <a:rPr lang="zh-CN" altLang="en-US" sz="4800" b="1" dirty="0">
                <a:latin typeface="Microsoft YaHei" panose="020B0503020204020204" pitchFamily="34" charset="-122"/>
                <a:ea typeface="Microsoft YaHei" panose="020B0503020204020204" pitchFamily="34" charset="-122"/>
              </a:rPr>
              <a:t>感谢您的聆听！</a:t>
            </a:r>
          </a:p>
        </p:txBody>
      </p:sp>
      <p:sp>
        <p:nvSpPr>
          <p:cNvPr id="9" name="内容占位符 2"/>
          <p:cNvSpPr txBox="1"/>
          <p:nvPr/>
        </p:nvSpPr>
        <p:spPr>
          <a:xfrm>
            <a:off x="4863484" y="533454"/>
            <a:ext cx="5428181" cy="815635"/>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chemeClr val="bg1"/>
                </a:solidFill>
                <a:latin typeface="Meiryo UI" panose="020B0604030504040204" pitchFamily="34" charset="-128"/>
                <a:ea typeface="Meiryo UI" panose="020B0604030504040204" pitchFamily="34" charset="-128"/>
                <a:cs typeface="Meiryo UI" panose="020B0604030504040204" pitchFamily="34" charset="-128"/>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dobe 黑体 Std R" panose="020B0400000000000000" pitchFamily="34" charset="-122"/>
                <a:ea typeface="Adobe 黑体 Std R" panose="020B04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华文细黑" panose="02010600040101010101" pitchFamily="2" charset="-122"/>
                <a:ea typeface="华文细黑"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600" dirty="0">
                <a:solidFill>
                  <a:schemeClr val="bg1"/>
                </a:solidFill>
                <a:latin typeface="微软雅黑" panose="020B0503020204020204" pitchFamily="34" charset="-122"/>
                <a:ea typeface="微软雅黑" panose="020B0503020204020204" pitchFamily="34" charset="-122"/>
              </a:rPr>
              <a:t>组会汇报</a:t>
            </a:r>
            <a:endParaRPr lang="en-US" altLang="zh-CN" sz="1600" dirty="0">
              <a:solidFill>
                <a:schemeClr val="bg1"/>
              </a:solidFill>
              <a:latin typeface="微软雅黑" panose="020B0503020204020204" pitchFamily="34" charset="-122"/>
              <a:ea typeface="微软雅黑" panose="020B0503020204020204" pitchFamily="34" charset="-122"/>
            </a:endParaRPr>
          </a:p>
          <a:p>
            <a:pPr marL="0" indent="0">
              <a:buNone/>
            </a:pPr>
            <a:r>
              <a:rPr lang="en-US" altLang="zh-CN" sz="1600" dirty="0">
                <a:solidFill>
                  <a:schemeClr val="bg1"/>
                </a:solidFill>
                <a:latin typeface="微软雅黑" panose="020B0503020204020204" pitchFamily="34" charset="-122"/>
                <a:ea typeface="微软雅黑" panose="020B0503020204020204" pitchFamily="34" charset="-122"/>
              </a:rPr>
              <a:t>202</a:t>
            </a:r>
            <a:r>
              <a:rPr lang="en-US" altLang="zh-CN" sz="1600" dirty="0">
                <a:latin typeface="微软雅黑" panose="020B0503020204020204" pitchFamily="34" charset="-122"/>
                <a:ea typeface="微软雅黑" panose="020B0503020204020204" pitchFamily="34" charset="-122"/>
              </a:rPr>
              <a:t>5</a:t>
            </a:r>
            <a:r>
              <a:rPr lang="en-US" altLang="zh-CN" sz="1600" dirty="0">
                <a:solidFill>
                  <a:schemeClr val="bg1"/>
                </a:solidFill>
                <a:latin typeface="微软雅黑" panose="020B0503020204020204" pitchFamily="34" charset="-122"/>
                <a:ea typeface="微软雅黑" panose="020B0503020204020204" pitchFamily="34" charset="-122"/>
              </a:rPr>
              <a:t>/3/</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0" name="内容占位符 2"/>
          <p:cNvSpPr txBox="1"/>
          <p:nvPr/>
        </p:nvSpPr>
        <p:spPr>
          <a:xfrm>
            <a:off x="4863484" y="1435783"/>
            <a:ext cx="6016719" cy="145665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1800" b="0" kern="1200">
                <a:solidFill>
                  <a:schemeClr val="bg1"/>
                </a:solidFill>
                <a:latin typeface="Meiryo UI" panose="020B0604030504040204" pitchFamily="34" charset="-128"/>
                <a:ea typeface="Meiryo UI" panose="020B0604030504040204" pitchFamily="34" charset="-128"/>
                <a:cs typeface="Meiryo UI" panose="020B0604030504040204" pitchFamily="34" charset="-128"/>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dobe 黑体 Std R" panose="020B0400000000000000" pitchFamily="34" charset="-122"/>
                <a:ea typeface="Adobe 黑体 Std R" panose="020B04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华文细黑" panose="02010600040101010101" pitchFamily="2" charset="-122"/>
                <a:ea typeface="华文细黑"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lvl="0">
              <a:lnSpc>
                <a:spcPct val="150000"/>
              </a:lnSpc>
              <a:spcBef>
                <a:spcPts val="0"/>
              </a:spcBef>
            </a:pPr>
            <a:r>
              <a:rPr lang="zh-CN" altLang="en-US" sz="1400" b="1" dirty="0">
                <a:solidFill>
                  <a:prstClr val="white"/>
                </a:solidFill>
                <a:latin typeface="Microsoft YaHei" panose="020B0503020204020204" pitchFamily="34" charset="-122"/>
                <a:ea typeface="Microsoft YaHei" panose="020B0503020204020204" pitchFamily="34" charset="-122"/>
                <a:cs typeface="+mn-cs"/>
              </a:rPr>
              <a:t>刘高峰</a:t>
            </a:r>
            <a:endParaRPr lang="en-US" altLang="zh-CN" sz="1400" b="1" dirty="0">
              <a:solidFill>
                <a:prstClr val="white"/>
              </a:solidFill>
              <a:latin typeface="Microsoft YaHei" panose="020B0503020204020204" pitchFamily="34" charset="-122"/>
              <a:ea typeface="Microsoft YaHei" panose="020B0503020204020204" pitchFamily="34" charset="-122"/>
              <a:cs typeface="+mn-cs"/>
            </a:endParaRPr>
          </a:p>
          <a:p>
            <a:pPr lvl="0">
              <a:lnSpc>
                <a:spcPct val="150000"/>
              </a:lnSpc>
              <a:spcBef>
                <a:spcPts val="0"/>
              </a:spcBef>
            </a:pPr>
            <a:r>
              <a:rPr lang="zh-CN" altLang="en-US" sz="1400" b="1" dirty="0">
                <a:solidFill>
                  <a:prstClr val="white"/>
                </a:solidFill>
                <a:latin typeface="Microsoft YaHei" panose="020B0503020204020204" pitchFamily="34" charset="-122"/>
                <a:ea typeface="Microsoft YaHei" panose="020B0503020204020204" pitchFamily="34" charset="-122"/>
                <a:cs typeface="+mn-cs"/>
              </a:rPr>
              <a:t>导师：曾文</a:t>
            </a:r>
            <a:endParaRPr lang="en-US" altLang="zh-CN" sz="1400" b="1" dirty="0">
              <a:solidFill>
                <a:prstClr val="white"/>
              </a:solidFill>
              <a:latin typeface="Microsoft YaHei" panose="020B0503020204020204" pitchFamily="34" charset="-122"/>
              <a:ea typeface="Microsoft YaHei" panose="020B0503020204020204" pitchFamily="34" charset="-122"/>
              <a:cs typeface="+mn-cs"/>
            </a:endParaRPr>
          </a:p>
          <a:p>
            <a:pPr lvl="0">
              <a:lnSpc>
                <a:spcPct val="150000"/>
              </a:lnSpc>
              <a:spcBef>
                <a:spcPts val="0"/>
              </a:spcBef>
            </a:pPr>
            <a:r>
              <a:rPr lang="en-US" altLang="zh-CN" sz="1400" dirty="0" err="1">
                <a:solidFill>
                  <a:prstClr val="white"/>
                </a:solidFill>
                <a:latin typeface="Microsoft YaHei" panose="020B0503020204020204" pitchFamily="34" charset="-122"/>
                <a:ea typeface="Microsoft YaHei" panose="020B0503020204020204" pitchFamily="34" charset="-122"/>
                <a:cs typeface="+mn-cs"/>
              </a:rPr>
              <a:t>中国地质大学（武汉</a:t>
            </a:r>
            <a:r>
              <a:rPr lang="en-US" altLang="zh-CN" sz="1400" dirty="0">
                <a:solidFill>
                  <a:prstClr val="white"/>
                </a:solidFill>
                <a:latin typeface="Microsoft YaHei" panose="020B0503020204020204" pitchFamily="34" charset="-122"/>
                <a:ea typeface="Microsoft YaHei" panose="020B0503020204020204" pitchFamily="34" charset="-122"/>
                <a:cs typeface="+mn-cs"/>
              </a:rPr>
              <a:t>）</a:t>
            </a:r>
          </a:p>
          <a:p>
            <a:pPr lvl="0">
              <a:lnSpc>
                <a:spcPct val="150000"/>
              </a:lnSpc>
              <a:spcBef>
                <a:spcPts val="0"/>
              </a:spcBef>
            </a:pPr>
            <a:r>
              <a:rPr lang="zh-CN" altLang="en-US" sz="1400" dirty="0">
                <a:solidFill>
                  <a:prstClr val="white"/>
                </a:solidFill>
                <a:latin typeface="Microsoft YaHei" panose="020B0503020204020204" pitchFamily="34" charset="-122"/>
                <a:ea typeface="Microsoft YaHei" panose="020B0503020204020204" pitchFamily="34" charset="-122"/>
                <a:cs typeface="+mn-cs"/>
              </a:rPr>
              <a:t>地理与信息工程学院</a:t>
            </a:r>
            <a:endParaRPr lang="en-US" altLang="zh-CN" sz="1400" dirty="0">
              <a:solidFill>
                <a:prstClr val="white"/>
              </a:solidFill>
              <a:latin typeface="Microsoft YaHei" panose="020B0503020204020204" pitchFamily="34" charset="-122"/>
              <a:ea typeface="Microsoft YaHei" panose="020B0503020204020204" pitchFamily="34" charset="-122"/>
              <a:cs typeface="+mn-cs"/>
            </a:endParaRPr>
          </a:p>
          <a:p>
            <a:pPr lvl="0">
              <a:lnSpc>
                <a:spcPct val="150000"/>
              </a:lnSpc>
              <a:spcBef>
                <a:spcPts val="0"/>
              </a:spcBef>
            </a:pPr>
            <a:r>
              <a:rPr lang="en-US" altLang="zh-CN" sz="1400" dirty="0" err="1">
                <a:solidFill>
                  <a:prstClr val="white"/>
                </a:solidFill>
                <a:latin typeface="Microsoft YaHei" panose="020B0503020204020204" pitchFamily="34" charset="-122"/>
                <a:ea typeface="Microsoft YaHei" panose="020B0503020204020204" pitchFamily="34" charset="-122"/>
                <a:cs typeface="+mn-cs"/>
              </a:rPr>
              <a:t>高性能空间计算智能实验室（HPSCIL</a:t>
            </a:r>
            <a:r>
              <a:rPr lang="en-US" altLang="zh-CN" sz="1400" dirty="0">
                <a:solidFill>
                  <a:prstClr val="white"/>
                </a:solidFill>
                <a:latin typeface="Microsoft YaHei" panose="020B0503020204020204" pitchFamily="34" charset="-122"/>
                <a:ea typeface="Microsoft YaHei" panose="020B0503020204020204" pitchFamily="34" charset="-122"/>
                <a:cs typeface="+mn-cs"/>
              </a:rPr>
              <a:t>）</a:t>
            </a:r>
          </a:p>
        </p:txBody>
      </p:sp>
    </p:spTree>
    <p:extLst>
      <p:ext uri="{BB962C8B-B14F-4D97-AF65-F5344CB8AC3E}">
        <p14:creationId xmlns:p14="http://schemas.microsoft.com/office/powerpoint/2010/main" val="268049801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13512</TotalTime>
  <Words>2339</Words>
  <Application>Microsoft Office PowerPoint</Application>
  <PresentationFormat>宽屏</PresentationFormat>
  <Paragraphs>208</Paragraphs>
  <Slides>16</Slides>
  <Notes>16</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16</vt:i4>
      </vt:variant>
    </vt:vector>
  </HeadingPairs>
  <TitlesOfParts>
    <vt:vector size="33" baseType="lpstr">
      <vt:lpstr>-apple-system</vt:lpstr>
      <vt:lpstr>inherit</vt:lpstr>
      <vt:lpstr>Inter</vt:lpstr>
      <vt:lpstr>KaTeX_Main</vt:lpstr>
      <vt:lpstr>KaTeX_Math</vt:lpstr>
      <vt:lpstr>Monospaced Number</vt:lpstr>
      <vt:lpstr>等线</vt:lpstr>
      <vt:lpstr>等线 Light</vt:lpstr>
      <vt:lpstr>华文中宋</vt:lpstr>
      <vt:lpstr>宋体</vt:lpstr>
      <vt:lpstr>Microsoft YaHei</vt:lpstr>
      <vt:lpstr>Microsoft YaHei</vt:lpstr>
      <vt:lpstr>微软雅黑 Light</vt:lpstr>
      <vt:lpstr>Arial</vt:lpstr>
      <vt:lpstr>Calibri</vt:lpstr>
      <vt:lpstr>Times New Roman</vt:lpstr>
      <vt:lpstr>Office 主题​​</vt:lpstr>
      <vt:lpstr>基于多相机的图像拼接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主题一主题一主题一主题一主题一主题一主题一主题一</dc:title>
  <dc:creator>Gao Huan</dc:creator>
  <cp:lastModifiedBy>高峰 刘</cp:lastModifiedBy>
  <cp:revision>1001</cp:revision>
  <dcterms:created xsi:type="dcterms:W3CDTF">2018-11-14T20:24:13Z</dcterms:created>
  <dcterms:modified xsi:type="dcterms:W3CDTF">2025-05-27T06:57:00Z</dcterms:modified>
</cp:coreProperties>
</file>