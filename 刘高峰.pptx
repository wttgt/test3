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42" r:id="rId2"/>
    <p:sldId id="352" r:id="rId3"/>
    <p:sldId id="347" r:id="rId4"/>
    <p:sldId id="348" r:id="rId5"/>
    <p:sldId id="35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F6C6E-A057-4CA4-BE7C-9A6D5A2B2A4E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5A14D-879F-4F1F-9120-9F6C8CE917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52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2985A-7DA3-0493-CCE5-E7BBDC07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1FDA72-A222-1A87-7371-839C8D752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BD9184-4B2E-75D3-8E2A-157A9A650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2B2F6-6DE4-EF8A-1A17-7E8950A40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157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C174-0601-0C71-05F6-8A986A5F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4ECCD-D534-3EB5-BD2C-A39179DB5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E5459B-2EFF-42D3-8048-3038A832B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329EA1-94C0-BCBD-9EB2-EEA415D6B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27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C174-0601-0C71-05F6-8A986A5F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C4ECCD-D534-3EB5-BD2C-A39179DB5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E5459B-2EFF-42D3-8048-3038A832B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329EA1-94C0-BCBD-9EB2-EEA415D6B1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27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6D7B4-C746-1E9D-2ED3-7E671DCDA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E6AAB3-05FA-5001-49FB-DE84F0329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EBA629-CCCE-D69F-2438-AEB919A9C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64A60-DEA3-B6CB-F0EA-EAFC9427D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931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CA64E-9CE9-919B-8F3B-29A4D70F2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79E874-31E9-112F-B5D9-76EBF3086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B7AB40-6F80-ADDA-F575-D86464D6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A62078-7733-7A47-F005-FFBD64CE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BC72F7-5F8B-22F6-3A7E-DB0EF64AB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8082AC-E2F8-4B72-E809-8AE326A8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6ADD3-F2D3-E08C-2C0B-8ED6047B9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E0FC98-D038-7422-3644-0B46C8A6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F82747-B92A-D631-A48B-1BB8D9B4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04B1DE-8281-2008-10CE-3D709E1B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02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1E8AF-9EA9-A4FE-A095-674C3EE3B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E7E85B-2864-64B9-85B5-F3BDDC502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838AE2-308B-30DF-435C-3247B476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5C0ECC-ADEC-55D0-0DF8-BB971F08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CAA1EB-7F85-F982-9C71-91773A9DD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85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A668B-102D-B42D-FB03-DF113EB1C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A85EFA-89C0-5A46-B587-1DA6530D5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B838D0-3761-7E04-A498-F7A26D46A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D00CD6-AC4A-902A-EE7E-68B0E8B7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418050-9D3D-77DB-80CE-FB4D2729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B73AC-AF2C-3356-7E7A-9D143CF3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55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36A24-678B-B6A6-5474-9A8E6CBE7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481C2-CE91-B78F-9ECB-CFDBCDFA4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D1DA96-37F0-3A04-68DC-447FEF89C2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4BF018-18D1-FC8A-9C91-1B1F1182F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41C119-2DB4-391F-CA93-CE46A22E2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EB131C-B817-3996-1DB1-F5AA1CBD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0C51FA-0B4B-8EBC-F5A7-B63F5ACBD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153CBA-0FA0-D3E5-AF28-A0EB461E3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818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16D68-148B-40BE-8C51-88D59F0F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4618F2-40D0-9F07-C51E-578BD703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D484A5-742F-1E7D-1555-A186A19D3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346376-7356-7A1F-23D4-23CBB94E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43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F1733F-D694-7495-F599-3493B2F7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2A2A47-98A5-466B-65D0-741E7642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200A9F-AF76-4AB4-1D82-83DEC3D72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54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D32578-B0F1-7FBC-E580-7F24615E0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7F2E01-ABBA-5C04-31AE-3AC290C5F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699CF2-ED9B-EED8-0123-DA7279F20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B69323-D40D-B7F8-215C-2F3D9A90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A37072-C4BB-11A8-6B96-903071F57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906A37-7AC3-218B-B315-694C22E01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15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59A910-5E27-CB4E-F7F2-02620652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BE92D9-E07F-2DD0-047B-F0410D75C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794611-F26A-2616-4CE6-C33D07039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750107-44EA-D393-6E0D-161DE061B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AD8781-BB4D-1EA4-F666-6B6EE9E58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A9E659-163D-F6B2-DE3D-A5243A2A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61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44F13-4B32-8024-685E-68694FF72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C80B90-C417-41E6-CEBF-CA2BE7F29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C4630-24B7-629F-996C-93D2DFF53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8EF289-CEAC-02EF-0498-6BE66669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C1E840-E501-52BA-7494-BA69C007A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24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A2A377-3487-220E-6F2A-27A7C1AC68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4ED906-36A4-ED00-BDF8-1367A54986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DB97E6-2303-E584-8C10-EB4533B0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66D268-9FA5-3203-85BD-4D6EA396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4C4298-F9D6-2976-6A5A-3539ACEAE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196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BA80E8-D13B-BB10-9C04-80EA0863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051CF-DDFA-D876-D5AA-4DC7B0CAB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EF1AD9-4866-F70C-9936-ED1947E2C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46D55-11C0-4CFB-A98A-E3E01C5FF7ED}" type="datetimeFigureOut">
              <a:rPr lang="zh-CN" altLang="en-US" smtClean="0"/>
              <a:t>2025/10/11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F0BE36-B2ED-064A-5F05-72E93C9AA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5FAEE4-3C31-67B3-FE0B-5397A65CD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0C58F-6AFD-4005-90A6-3438A71D93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43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+mj-lt"/>
                <a:ea typeface="华文中宋" panose="02010600040101010101" pitchFamily="2" charset="-122"/>
              </a:rPr>
              <a:t>研究背景和意义</a:t>
            </a:r>
          </a:p>
        </p:txBody>
      </p:sp>
      <p:sp>
        <p:nvSpPr>
          <p:cNvPr id="1048679" name="等腰三角形 3"/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/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13" name="文本占位符 2"/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852E36-D523-A6AC-34F5-2AE6977A9BF2}"/>
              </a:ext>
            </a:extLst>
          </p:cNvPr>
          <p:cNvSpPr txBox="1"/>
          <p:nvPr/>
        </p:nvSpPr>
        <p:spPr>
          <a:xfrm>
            <a:off x="459276" y="1259841"/>
            <a:ext cx="60024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1F1646-E9C8-3C01-C805-072DB0FFDC05}"/>
              </a:ext>
            </a:extLst>
          </p:cNvPr>
          <p:cNvSpPr txBox="1"/>
          <p:nvPr/>
        </p:nvSpPr>
        <p:spPr>
          <a:xfrm>
            <a:off x="315310" y="1387366"/>
            <a:ext cx="73152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>
              <a:lnSpc>
                <a:spcPct val="150000"/>
              </a:lnSpc>
            </a:pPr>
            <a:r>
              <a:rPr lang="en-US" altLang="zh-CN" sz="1200" baseline="30000" dirty="0">
                <a:solidFill>
                  <a:srgbClr val="FF0000"/>
                </a:solidFill>
              </a:rPr>
              <a:t>[1]</a:t>
            </a:r>
            <a:r>
              <a:rPr lang="zh-CN" altLang="zh-CN" dirty="0">
                <a:solidFill>
                  <a:srgbClr val="FF0000"/>
                </a:solidFill>
              </a:rPr>
              <a:t>随着城市基础设施的不断发展，地下管线已广泛分布于城市各区域，形成庞大而复杂的</a:t>
            </a:r>
            <a:r>
              <a:rPr lang="en-US" altLang="zh-CN" dirty="0">
                <a:solidFill>
                  <a:srgbClr val="FF0000"/>
                </a:solidFill>
              </a:rPr>
              <a:t>“</a:t>
            </a:r>
            <a:r>
              <a:rPr lang="zh-CN" altLang="zh-CN" dirty="0">
                <a:solidFill>
                  <a:srgbClr val="FF0000"/>
                </a:solidFill>
              </a:rPr>
              <a:t>城市生命线系统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zh-CN" dirty="0">
                <a:solidFill>
                  <a:srgbClr val="FF0000"/>
                </a:solidFill>
              </a:rPr>
              <a:t>。然而</a:t>
            </a:r>
            <a:r>
              <a:rPr lang="zh-CN" altLang="zh-CN" dirty="0"/>
              <a:t>，由于地下管线隐蔽性强，</a:t>
            </a:r>
            <a:r>
              <a:rPr lang="zh-CN" altLang="zh-CN" dirty="0">
                <a:solidFill>
                  <a:srgbClr val="FF0000"/>
                </a:solidFill>
              </a:rPr>
              <a:t>近年来误挖、误碰地下管网的事件频发</a:t>
            </a:r>
            <a:r>
              <a:rPr lang="zh-CN" altLang="zh-CN" dirty="0"/>
              <a:t>。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zh-CN" altLang="zh-CN" dirty="0"/>
              <a:t>传统的地下管线保护方式依然主要依赖人工巡检、图纸查询和被动响应</a:t>
            </a:r>
            <a:r>
              <a:rPr lang="zh-CN" altLang="en-US" dirty="0"/>
              <a:t>等方式</a:t>
            </a:r>
            <a:r>
              <a:rPr lang="zh-CN" altLang="zh-CN" dirty="0"/>
              <a:t>，</a:t>
            </a:r>
            <a:r>
              <a:rPr lang="en-US" altLang="zh-CN" sz="1200" baseline="30000" dirty="0"/>
              <a:t>[2]</a:t>
            </a:r>
            <a:r>
              <a:rPr lang="zh-CN" altLang="en-US" dirty="0">
                <a:solidFill>
                  <a:srgbClr val="FF0000"/>
                </a:solidFill>
              </a:rPr>
              <a:t>由于</a:t>
            </a:r>
            <a:r>
              <a:rPr lang="zh-CN" altLang="zh-CN" dirty="0">
                <a:solidFill>
                  <a:srgbClr val="FF0000"/>
                </a:solidFill>
              </a:rPr>
              <a:t>施工单位</a:t>
            </a:r>
            <a:r>
              <a:rPr lang="zh-CN" altLang="en-US" dirty="0">
                <a:solidFill>
                  <a:srgbClr val="FF0000"/>
                </a:solidFill>
              </a:rPr>
              <a:t>存在侥幸心理</a:t>
            </a:r>
            <a:r>
              <a:rPr lang="zh-CN" altLang="zh-CN" dirty="0">
                <a:solidFill>
                  <a:srgbClr val="FF0000"/>
                </a:solidFill>
              </a:rPr>
              <a:t>或监管资源有限</a:t>
            </a:r>
            <a:r>
              <a:rPr lang="zh-CN" altLang="zh-CN" dirty="0"/>
              <a:t>，现有手段在作业发现、响应效率和精度上存在明显短板，</a:t>
            </a:r>
            <a:r>
              <a:rPr lang="zh-CN" altLang="zh-CN" dirty="0">
                <a:solidFill>
                  <a:srgbClr val="FF0000"/>
                </a:solidFill>
              </a:rPr>
              <a:t>难以满足现代城市建设中对实时感知与风险预警的需求。</a:t>
            </a:r>
            <a:endParaRPr lang="en-US" altLang="zh-CN" dirty="0">
              <a:solidFill>
                <a:srgbClr val="FF0000"/>
              </a:solidFill>
            </a:endParaRPr>
          </a:p>
          <a:p>
            <a:pPr indent="720000">
              <a:lnSpc>
                <a:spcPct val="150000"/>
              </a:lnSpc>
            </a:pPr>
            <a:r>
              <a:rPr lang="en-US" altLang="zh-CN" sz="1200" baseline="30000" dirty="0"/>
              <a:t>[3]</a:t>
            </a:r>
            <a:r>
              <a:rPr lang="zh-CN" altLang="zh-CN" dirty="0">
                <a:solidFill>
                  <a:srgbClr val="FF0000"/>
                </a:solidFill>
              </a:rPr>
              <a:t>在此背景下</a:t>
            </a:r>
            <a:r>
              <a:rPr lang="zh-CN" altLang="zh-CN" dirty="0"/>
              <a:t>，本研究面向泛化场景下的管线保护需求，提出一种基于多视角拼接</a:t>
            </a:r>
            <a:r>
              <a:rPr lang="en-US" altLang="zh-CN" dirty="0"/>
              <a:t>,</a:t>
            </a:r>
            <a:r>
              <a:rPr lang="zh-CN" altLang="zh-CN" dirty="0"/>
              <a:t>目标检测</a:t>
            </a:r>
            <a:r>
              <a:rPr lang="en-US" altLang="zh-CN" dirty="0"/>
              <a:t>,</a:t>
            </a:r>
            <a:r>
              <a:rPr lang="zh-CN" altLang="zh-CN" dirty="0"/>
              <a:t>空间定位的综合方法，用于自动监测挖掘设备是否靠近地下管线保护区，并实现实时风险预警。提升了地下管线巡检与保护的自动化与智能化水平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CFD3C7-3412-4E8F-7C00-063FF2080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792" y="2657454"/>
            <a:ext cx="363855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91B5-5C18-0A7F-1376-FDBEF341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18B2F140-947A-9B6C-8340-370EAD433C8C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+mj-lt"/>
                <a:ea typeface="华文中宋" panose="02010600040101010101" pitchFamily="2" charset="-122"/>
              </a:rPr>
              <a:t>技术路线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52D2137F-9A80-5D65-1D5C-0C000455E45A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AEF36C24-B013-B73F-8236-61DF7DECAB3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7AC8232C-3B24-8595-A0B6-54666A8DBAF7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6FCA2C-B129-4189-EC2D-4D0CE06C3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76673D2F-6985-BE03-AE63-292363C92148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grpSp>
        <p:nvGrpSpPr>
          <p:cNvPr id="2097161" name="组合 2097160">
            <a:extLst>
              <a:ext uri="{FF2B5EF4-FFF2-40B4-BE49-F238E27FC236}">
                <a16:creationId xmlns:a16="http://schemas.microsoft.com/office/drawing/2014/main" id="{E3CF918E-1E3D-5639-4048-BFC9F98AFE6F}"/>
              </a:ext>
            </a:extLst>
          </p:cNvPr>
          <p:cNvGrpSpPr/>
          <p:nvPr/>
        </p:nvGrpSpPr>
        <p:grpSpPr>
          <a:xfrm>
            <a:off x="1060222" y="1143442"/>
            <a:ext cx="5848104" cy="5267903"/>
            <a:chOff x="1191793" y="1088446"/>
            <a:chExt cx="5848104" cy="5267903"/>
          </a:xfrm>
        </p:grpSpPr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59D7D929-E6B7-739C-71FF-03BAB64FCC92}"/>
                </a:ext>
              </a:extLst>
            </p:cNvPr>
            <p:cNvCxnSpPr>
              <a:stCxn id="4" idx="2"/>
              <a:endCxn id="33" idx="0"/>
            </p:cNvCxnSpPr>
            <p:nvPr/>
          </p:nvCxnSpPr>
          <p:spPr>
            <a:xfrm flipH="1">
              <a:off x="4115845" y="3808100"/>
              <a:ext cx="1" cy="34172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47873F55-D56A-F19B-1426-5E25D847A03E}"/>
                </a:ext>
              </a:extLst>
            </p:cNvPr>
            <p:cNvCxnSpPr>
              <a:stCxn id="33" idx="2"/>
              <a:endCxn id="43" idx="0"/>
            </p:cNvCxnSpPr>
            <p:nvPr/>
          </p:nvCxnSpPr>
          <p:spPr>
            <a:xfrm>
              <a:off x="4115845" y="4426825"/>
              <a:ext cx="0" cy="2748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97160" name="组合 2097159">
              <a:extLst>
                <a:ext uri="{FF2B5EF4-FFF2-40B4-BE49-F238E27FC236}">
                  <a16:creationId xmlns:a16="http://schemas.microsoft.com/office/drawing/2014/main" id="{A6459D80-E867-9FA2-0038-32C1AA0543DD}"/>
                </a:ext>
              </a:extLst>
            </p:cNvPr>
            <p:cNvGrpSpPr/>
            <p:nvPr/>
          </p:nvGrpSpPr>
          <p:grpSpPr>
            <a:xfrm>
              <a:off x="1191793" y="1088446"/>
              <a:ext cx="5848104" cy="5267903"/>
              <a:chOff x="1191793" y="1088446"/>
              <a:chExt cx="5848104" cy="5267903"/>
            </a:xfrm>
          </p:grpSpPr>
          <p:cxnSp>
            <p:nvCxnSpPr>
              <p:cNvPr id="57" name="直接箭头连接符 56">
                <a:extLst>
                  <a:ext uri="{FF2B5EF4-FFF2-40B4-BE49-F238E27FC236}">
                    <a16:creationId xmlns:a16="http://schemas.microsoft.com/office/drawing/2014/main" id="{1E4C3422-E886-D722-7D89-2C8DC9E0322A}"/>
                  </a:ext>
                </a:extLst>
              </p:cNvPr>
              <p:cNvCxnSpPr>
                <a:stCxn id="5" idx="2"/>
                <a:endCxn id="6" idx="0"/>
              </p:cNvCxnSpPr>
              <p:nvPr/>
            </p:nvCxnSpPr>
            <p:spPr>
              <a:xfrm flipH="1">
                <a:off x="4115846" y="1347321"/>
                <a:ext cx="1" cy="23811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箭头连接符 59">
                <a:extLst>
                  <a:ext uri="{FF2B5EF4-FFF2-40B4-BE49-F238E27FC236}">
                    <a16:creationId xmlns:a16="http://schemas.microsoft.com/office/drawing/2014/main" id="{3F779923-0545-812F-2F8A-DF96AFEE6C56}"/>
                  </a:ext>
                </a:extLst>
              </p:cNvPr>
              <p:cNvCxnSpPr>
                <a:stCxn id="6" idx="2"/>
                <a:endCxn id="4" idx="0"/>
              </p:cNvCxnSpPr>
              <p:nvPr/>
            </p:nvCxnSpPr>
            <p:spPr>
              <a:xfrm>
                <a:off x="4115846" y="2016893"/>
                <a:ext cx="0" cy="18321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97157" name="组合 2097156">
                <a:extLst>
                  <a:ext uri="{FF2B5EF4-FFF2-40B4-BE49-F238E27FC236}">
                    <a16:creationId xmlns:a16="http://schemas.microsoft.com/office/drawing/2014/main" id="{51135A17-FD61-1B39-0195-19D157F646B3}"/>
                  </a:ext>
                </a:extLst>
              </p:cNvPr>
              <p:cNvGrpSpPr/>
              <p:nvPr/>
            </p:nvGrpSpPr>
            <p:grpSpPr>
              <a:xfrm>
                <a:off x="1191793" y="1088446"/>
                <a:ext cx="5848104" cy="5267903"/>
                <a:chOff x="1191793" y="1088447"/>
                <a:chExt cx="6929652" cy="5267904"/>
              </a:xfrm>
            </p:grpSpPr>
            <p:sp>
              <p:nvSpPr>
                <p:cNvPr id="2097152" name="文本框 2097151">
                  <a:extLst>
                    <a:ext uri="{FF2B5EF4-FFF2-40B4-BE49-F238E27FC236}">
                      <a16:creationId xmlns:a16="http://schemas.microsoft.com/office/drawing/2014/main" id="{F673476E-62F1-EF37-3555-DE67A518D7B7}"/>
                    </a:ext>
                  </a:extLst>
                </p:cNvPr>
                <p:cNvSpPr txBox="1"/>
                <p:nvPr/>
              </p:nvSpPr>
              <p:spPr>
                <a:xfrm>
                  <a:off x="4670881" y="3876575"/>
                  <a:ext cx="2282294" cy="230832"/>
                </a:xfrm>
                <a:prstGeom prst="rect">
                  <a:avLst/>
                </a:prstGeom>
                <a:noFill/>
                <a:ln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900" dirty="0"/>
                    <a:t>拼接图</a:t>
                  </a:r>
                </a:p>
              </p:txBody>
            </p:sp>
            <p:grpSp>
              <p:nvGrpSpPr>
                <p:cNvPr id="2097156" name="组合 2097155">
                  <a:extLst>
                    <a:ext uri="{FF2B5EF4-FFF2-40B4-BE49-F238E27FC236}">
                      <a16:creationId xmlns:a16="http://schemas.microsoft.com/office/drawing/2014/main" id="{BAA89BD2-4EB3-D9D9-C894-E3547FA5739E}"/>
                    </a:ext>
                  </a:extLst>
                </p:cNvPr>
                <p:cNvGrpSpPr/>
                <p:nvPr/>
              </p:nvGrpSpPr>
              <p:grpSpPr>
                <a:xfrm>
                  <a:off x="1191793" y="1088447"/>
                  <a:ext cx="6929652" cy="5267904"/>
                  <a:chOff x="1191793" y="1088446"/>
                  <a:chExt cx="4969619" cy="6537707"/>
                </a:xfrm>
              </p:grpSpPr>
              <p:sp>
                <p:nvSpPr>
                  <p:cNvPr id="5" name="矩形: 圆角 4">
                    <a:extLst>
                      <a:ext uri="{FF2B5EF4-FFF2-40B4-BE49-F238E27FC236}">
                        <a16:creationId xmlns:a16="http://schemas.microsoft.com/office/drawing/2014/main" id="{FC85E316-CADA-F684-4EEC-2A28301B5BEC}"/>
                      </a:ext>
                    </a:extLst>
                  </p:cNvPr>
                  <p:cNvSpPr/>
                  <p:nvPr/>
                </p:nvSpPr>
                <p:spPr>
                  <a:xfrm>
                    <a:off x="3301783" y="1088446"/>
                    <a:ext cx="749643" cy="321276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</a:rPr>
                      <a:t>开始</a:t>
                    </a:r>
                  </a:p>
                </p:txBody>
              </p:sp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7C1151FA-D274-E1AC-B3A6-693AAEDEDC0D}"/>
                      </a:ext>
                    </a:extLst>
                  </p:cNvPr>
                  <p:cNvSpPr/>
                  <p:nvPr/>
                </p:nvSpPr>
                <p:spPr>
                  <a:xfrm>
                    <a:off x="2654317" y="1705232"/>
                    <a:ext cx="2044573" cy="535459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dirty="0">
                        <a:solidFill>
                          <a:schemeClr val="tx1"/>
                        </a:solidFill>
                      </a:rPr>
                      <a:t>三视图图像输入</a:t>
                    </a:r>
                  </a:p>
                </p:txBody>
              </p:sp>
              <p:grpSp>
                <p:nvGrpSpPr>
                  <p:cNvPr id="2097154" name="组合 2097153">
                    <a:extLst>
                      <a:ext uri="{FF2B5EF4-FFF2-40B4-BE49-F238E27FC236}">
                        <a16:creationId xmlns:a16="http://schemas.microsoft.com/office/drawing/2014/main" id="{B175047E-6F9B-2DD3-583D-3D5C3D3EE2FA}"/>
                      </a:ext>
                    </a:extLst>
                  </p:cNvPr>
                  <p:cNvGrpSpPr/>
                  <p:nvPr/>
                </p:nvGrpSpPr>
                <p:grpSpPr>
                  <a:xfrm>
                    <a:off x="1191794" y="2468072"/>
                    <a:ext cx="4969618" cy="1995589"/>
                    <a:chOff x="1191794" y="2468072"/>
                    <a:chExt cx="4969618" cy="1995589"/>
                  </a:xfrm>
                </p:grpSpPr>
                <p:sp>
                  <p:nvSpPr>
                    <p:cNvPr id="4" name="文本框 3">
                      <a:extLst>
                        <a:ext uri="{FF2B5EF4-FFF2-40B4-BE49-F238E27FC236}">
                          <a16:creationId xmlns:a16="http://schemas.microsoft.com/office/drawing/2014/main" id="{8FFF7297-3FB3-5B54-C48D-F5EF8BB767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91794" y="2468072"/>
                      <a:ext cx="4969618" cy="1995589"/>
                    </a:xfrm>
                    <a:prstGeom prst="rect">
                      <a:avLst/>
                    </a:prstGeom>
                    <a:noFill/>
                    <a:ln cmpd="sng">
                      <a:solidFill>
                        <a:schemeClr val="tx1"/>
                      </a:solidFill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7" name="矩形 6">
                      <a:extLst>
                        <a:ext uri="{FF2B5EF4-FFF2-40B4-BE49-F238E27FC236}">
                          <a16:creationId xmlns:a16="http://schemas.microsoft.com/office/drawing/2014/main" id="{D4AB7BEA-635B-6B16-600D-4E4EC59F13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32845" y="2541307"/>
                      <a:ext cx="2023517" cy="3418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三视图拼接模块</a:t>
                      </a:r>
                    </a:p>
                  </p:txBody>
                </p:sp>
                <p:sp>
                  <p:nvSpPr>
                    <p:cNvPr id="8" name="矩形 7">
                      <a:extLst>
                        <a:ext uri="{FF2B5EF4-FFF2-40B4-BE49-F238E27FC236}">
                          <a16:creationId xmlns:a16="http://schemas.microsoft.com/office/drawing/2014/main" id="{4D487A97-B9D9-C839-1425-8E0909C0EB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7879" y="3071704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特征检测匹配</a:t>
                      </a:r>
                    </a:p>
                  </p:txBody>
                </p:sp>
                <p:sp>
                  <p:nvSpPr>
                    <p:cNvPr id="9" name="矩形 8">
                      <a:extLst>
                        <a:ext uri="{FF2B5EF4-FFF2-40B4-BE49-F238E27FC236}">
                          <a16:creationId xmlns:a16="http://schemas.microsoft.com/office/drawing/2014/main" id="{3D675F9A-11B5-ECC5-02AF-8766139F9E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30403" y="3071703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线段检测匹配</a:t>
                      </a:r>
                    </a:p>
                  </p:txBody>
                </p:sp>
                <p:sp>
                  <p:nvSpPr>
                    <p:cNvPr id="10" name="矩形 9">
                      <a:extLst>
                        <a:ext uri="{FF2B5EF4-FFF2-40B4-BE49-F238E27FC236}">
                          <a16:creationId xmlns:a16="http://schemas.microsoft.com/office/drawing/2014/main" id="{4B1E5826-15D7-7136-453F-49E5E6B57B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6635" y="3071703"/>
                      <a:ext cx="109624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单应性计算</a:t>
                      </a:r>
                    </a:p>
                  </p:txBody>
                </p:sp>
                <p:sp>
                  <p:nvSpPr>
                    <p:cNvPr id="11" name="矩形 10">
                      <a:extLst>
                        <a:ext uri="{FF2B5EF4-FFF2-40B4-BE49-F238E27FC236}">
                          <a16:creationId xmlns:a16="http://schemas.microsoft.com/office/drawing/2014/main" id="{0D12561C-4460-F630-19F5-6D3692312E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77879" y="3669176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网格变形优化</a:t>
                      </a:r>
                    </a:p>
                  </p:txBody>
                </p:sp>
                <p:sp>
                  <p:nvSpPr>
                    <p:cNvPr id="12" name="矩形 11">
                      <a:extLst>
                        <a:ext uri="{FF2B5EF4-FFF2-40B4-BE49-F238E27FC236}">
                          <a16:creationId xmlns:a16="http://schemas.microsoft.com/office/drawing/2014/main" id="{BB495BC2-C8C5-61BC-AD78-644D939F2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73586" y="3669174"/>
                      <a:ext cx="1428400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基于图割的最佳缝融合</a:t>
                      </a:r>
                    </a:p>
                  </p:txBody>
                </p:sp>
                <p:sp>
                  <p:nvSpPr>
                    <p:cNvPr id="14" name="矩形 13">
                      <a:extLst>
                        <a:ext uri="{FF2B5EF4-FFF2-40B4-BE49-F238E27FC236}">
                          <a16:creationId xmlns:a16="http://schemas.microsoft.com/office/drawing/2014/main" id="{969B103D-5678-768B-603E-436BF293AE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86635" y="3669174"/>
                      <a:ext cx="1086461" cy="239413"/>
                    </a:xfrm>
                    <a:prstGeom prst="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拼接结果输出</a:t>
                      </a:r>
                    </a:p>
                  </p:txBody>
                </p:sp>
                <p:sp>
                  <p:nvSpPr>
                    <p:cNvPr id="16" name="矩形 15">
                      <a:extLst>
                        <a:ext uri="{FF2B5EF4-FFF2-40B4-BE49-F238E27FC236}">
                          <a16:creationId xmlns:a16="http://schemas.microsoft.com/office/drawing/2014/main" id="{CC3938F1-FFAC-3DA1-4DD3-7A26CDFC02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2475" y="3992068"/>
                      <a:ext cx="3970621" cy="3418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左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中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中间图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右</a:t>
                      </a:r>
                      <a:r>
                        <a:rPr lang="en-US" altLang="zh-CN" sz="1000" dirty="0">
                          <a:solidFill>
                            <a:schemeClr val="tx1"/>
                          </a:solidFill>
                        </a:rPr>
                        <a:t>--&gt;</a:t>
                      </a:r>
                      <a:r>
                        <a:rPr lang="zh-CN" altLang="en-US" sz="1000" dirty="0">
                          <a:solidFill>
                            <a:schemeClr val="tx1"/>
                          </a:solidFill>
                        </a:rPr>
                        <a:t>拼接图</a:t>
                      </a:r>
                    </a:p>
                  </p:txBody>
                </p:sp>
              </p:grpSp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BABD4D46-5179-6DD7-1E8E-37C69CBDAC9D}"/>
                      </a:ext>
                    </a:extLst>
                  </p:cNvPr>
                  <p:cNvSpPr txBox="1"/>
                  <p:nvPr/>
                </p:nvSpPr>
                <p:spPr>
                  <a:xfrm>
                    <a:off x="2590138" y="4887758"/>
                    <a:ext cx="2172929" cy="343768"/>
                  </a:xfrm>
                  <a:prstGeom prst="rect">
                    <a:avLst/>
                  </a:prstGeom>
                  <a:noFill/>
                  <a:ln cmpd="sng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/>
                      <a:t>目标检测模块</a:t>
                    </a:r>
                  </a:p>
                </p:txBody>
              </p:sp>
              <p:grpSp>
                <p:nvGrpSpPr>
                  <p:cNvPr id="2097155" name="组合 2097154">
                    <a:extLst>
                      <a:ext uri="{FF2B5EF4-FFF2-40B4-BE49-F238E27FC236}">
                        <a16:creationId xmlns:a16="http://schemas.microsoft.com/office/drawing/2014/main" id="{87066DB4-92BD-7F7C-3B98-35991E699FC2}"/>
                      </a:ext>
                    </a:extLst>
                  </p:cNvPr>
                  <p:cNvGrpSpPr/>
                  <p:nvPr/>
                </p:nvGrpSpPr>
                <p:grpSpPr>
                  <a:xfrm>
                    <a:off x="1191793" y="5307109"/>
                    <a:ext cx="4969618" cy="2319044"/>
                    <a:chOff x="1191793" y="5307109"/>
                    <a:chExt cx="4969618" cy="2319044"/>
                  </a:xfrm>
                </p:grpSpPr>
                <p:grpSp>
                  <p:nvGrpSpPr>
                    <p:cNvPr id="55" name="组合 54">
                      <a:extLst>
                        <a:ext uri="{FF2B5EF4-FFF2-40B4-BE49-F238E27FC236}">
                          <a16:creationId xmlns:a16="http://schemas.microsoft.com/office/drawing/2014/main" id="{8A2591C2-C580-F14E-0D71-8D62E3742A9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91793" y="5572573"/>
                      <a:ext cx="4969618" cy="2053580"/>
                      <a:chOff x="5796705" y="2355996"/>
                      <a:chExt cx="5112304" cy="2308324"/>
                    </a:xfrm>
                  </p:grpSpPr>
                  <p:sp>
                    <p:nvSpPr>
                      <p:cNvPr id="43" name="文本框 42">
                        <a:extLst>
                          <a:ext uri="{FF2B5EF4-FFF2-40B4-BE49-F238E27FC236}">
                            <a16:creationId xmlns:a16="http://schemas.microsoft.com/office/drawing/2014/main" id="{EDCE9FE0-9324-5492-BC13-08B25648FC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796705" y="2355996"/>
                        <a:ext cx="5112304" cy="2308324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l"/>
                        <a:r>
                          <a:rPr lang="en-US" altLang="zh-CN" dirty="0"/>
                          <a:t>	</a:t>
                        </a:r>
                      </a:p>
                      <a:p>
                        <a:pPr algn="l"/>
                        <a:r>
                          <a:rPr lang="en-US" altLang="zh-CN" dirty="0"/>
                          <a:t>		</a:t>
                        </a:r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  <a:p>
                        <a:pPr algn="l"/>
                        <a:endParaRPr lang="en-US" altLang="zh-CN" dirty="0"/>
                      </a:p>
                    </p:txBody>
                  </p:sp>
                  <p:sp>
                    <p:nvSpPr>
                      <p:cNvPr id="44" name="文本框 43">
                        <a:extLst>
                          <a:ext uri="{FF2B5EF4-FFF2-40B4-BE49-F238E27FC236}">
                            <a16:creationId xmlns:a16="http://schemas.microsoft.com/office/drawing/2014/main" id="{32F79724-89AC-B0E1-BB15-74C9599720C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708364" y="2525308"/>
                        <a:ext cx="1571068" cy="472281"/>
                      </a:xfrm>
                      <a:prstGeom prst="rect">
                        <a:avLst/>
                      </a:prstGeom>
                      <a:noFill/>
                      <a:ln cmpd="sng"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600" dirty="0">
                            <a:latin typeface="+mn-ea"/>
                          </a:rPr>
                          <a:t>定位模块</a:t>
                        </a:r>
                      </a:p>
                    </p:txBody>
                  </p:sp>
                  <p:sp>
                    <p:nvSpPr>
                      <p:cNvPr id="45" name="文本框 44">
                        <a:extLst>
                          <a:ext uri="{FF2B5EF4-FFF2-40B4-BE49-F238E27FC236}">
                            <a16:creationId xmlns:a16="http://schemas.microsoft.com/office/drawing/2014/main" id="{5288D032-A6B9-5A63-9564-0CFFAD38E51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52226" y="3280387"/>
                        <a:ext cx="1413398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将点云投影三视图</a:t>
                        </a:r>
                      </a:p>
                    </p:txBody>
                  </p:sp>
                  <p:sp>
                    <p:nvSpPr>
                      <p:cNvPr id="46" name="文本框 45">
                        <a:extLst>
                          <a:ext uri="{FF2B5EF4-FFF2-40B4-BE49-F238E27FC236}">
                            <a16:creationId xmlns:a16="http://schemas.microsoft.com/office/drawing/2014/main" id="{5631D1DA-D9F4-94DD-3FEA-C3B20C75ABB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22172" y="3278149"/>
                        <a:ext cx="1030159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检测框过滤</a:t>
                        </a:r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D4144BF3-6212-A40E-E137-31DF8FAB3CB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952225" y="3985228"/>
                        <a:ext cx="1399857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00" dirty="0"/>
                          <a:t>DBSCAN</a:t>
                        </a:r>
                        <a:r>
                          <a:rPr lang="zh-CN" altLang="en-US" sz="1000" dirty="0"/>
                          <a:t>聚类</a:t>
                        </a:r>
                      </a:p>
                    </p:txBody>
                  </p:sp>
                  <p:sp>
                    <p:nvSpPr>
                      <p:cNvPr id="50" name="文本框 49">
                        <a:extLst>
                          <a:ext uri="{FF2B5EF4-FFF2-40B4-BE49-F238E27FC236}">
                            <a16:creationId xmlns:a16="http://schemas.microsoft.com/office/drawing/2014/main" id="{5D10CAD0-B24C-DEC7-1BC1-290198A7E49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05737" y="3278150"/>
                        <a:ext cx="1376322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三视图投影到拼接图</a:t>
                        </a:r>
                      </a:p>
                    </p:txBody>
                  </p:sp>
                  <p:sp>
                    <p:nvSpPr>
                      <p:cNvPr id="51" name="文本框 50">
                        <a:extLst>
                          <a:ext uri="{FF2B5EF4-FFF2-40B4-BE49-F238E27FC236}">
                            <a16:creationId xmlns:a16="http://schemas.microsoft.com/office/drawing/2014/main" id="{B15F4E89-0296-1257-A1F6-817C3B7A867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816985" y="3985227"/>
                        <a:ext cx="1376321" cy="25307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altLang="zh-CN" sz="1000" dirty="0"/>
                          <a:t>IOU</a:t>
                        </a:r>
                        <a:r>
                          <a:rPr lang="zh-CN" altLang="en-US" sz="1000" dirty="0"/>
                          <a:t>计算并选择</a:t>
                        </a:r>
                      </a:p>
                    </p:txBody>
                  </p:sp>
                  <p:sp>
                    <p:nvSpPr>
                      <p:cNvPr id="53" name="文本框 52">
                        <a:extLst>
                          <a:ext uri="{FF2B5EF4-FFF2-40B4-BE49-F238E27FC236}">
                            <a16:creationId xmlns:a16="http://schemas.microsoft.com/office/drawing/2014/main" id="{8E56459F-FFA2-DA0B-6215-EAE3C9AD3A7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658209" y="3979902"/>
                        <a:ext cx="1030160" cy="246221"/>
                      </a:xfrm>
                      <a:prstGeom prst="rect">
                        <a:avLst/>
                      </a:prstGeom>
                      <a:noFill/>
                      <a:ln cmpd="sng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zh-CN" altLang="en-US" sz="1000" dirty="0"/>
                          <a:t>可视化</a:t>
                        </a:r>
                      </a:p>
                    </p:txBody>
                  </p:sp>
                </p:grpSp>
                <p:sp>
                  <p:nvSpPr>
                    <p:cNvPr id="2097153" name="文本框 2097152">
                      <a:extLst>
                        <a:ext uri="{FF2B5EF4-FFF2-40B4-BE49-F238E27FC236}">
                          <a16:creationId xmlns:a16="http://schemas.microsoft.com/office/drawing/2014/main" id="{FBBEB81F-FA4B-C317-6FC4-0948FCFE8E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0581" y="5307109"/>
                      <a:ext cx="2282294" cy="230832"/>
                    </a:xfrm>
                    <a:prstGeom prst="rect">
                      <a:avLst/>
                    </a:prstGeom>
                    <a:noFill/>
                    <a:ln cmpd="sng">
                      <a:noFill/>
                    </a:ln>
                  </p:spPr>
                  <p:txBody>
                    <a:bodyPr wrap="square" rtlCol="0">
                      <a:spAutoFit/>
                    </a:bodyPr>
                    <a:lstStyle/>
                    <a:p>
                      <a:pPr algn="l"/>
                      <a:r>
                        <a:rPr lang="zh-CN" altLang="en-US" sz="900" dirty="0"/>
                        <a:t>检测框</a:t>
                      </a:r>
                      <a:r>
                        <a:rPr lang="en-US" altLang="zh-CN" sz="900" dirty="0"/>
                        <a:t>+</a:t>
                      </a:r>
                      <a:r>
                        <a:rPr lang="zh-CN" altLang="en-US" sz="900" dirty="0"/>
                        <a:t>拼接图</a:t>
                      </a:r>
                    </a:p>
                  </p:txBody>
                </p:sp>
              </p:grpSp>
            </p:grpSp>
          </p:grpSp>
        </p:grpSp>
      </p:grpSp>
      <p:sp>
        <p:nvSpPr>
          <p:cNvPr id="2097158" name="文本框 2097157">
            <a:extLst>
              <a:ext uri="{FF2B5EF4-FFF2-40B4-BE49-F238E27FC236}">
                <a16:creationId xmlns:a16="http://schemas.microsoft.com/office/drawing/2014/main" id="{F720A1C4-F3C1-1D3F-7096-76161D184F17}"/>
              </a:ext>
            </a:extLst>
          </p:cNvPr>
          <p:cNvSpPr txBox="1"/>
          <p:nvPr/>
        </p:nvSpPr>
        <p:spPr>
          <a:xfrm>
            <a:off x="1914584" y="6417736"/>
            <a:ext cx="4139381" cy="369332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技术路线图</a:t>
            </a:r>
          </a:p>
        </p:txBody>
      </p:sp>
      <p:sp>
        <p:nvSpPr>
          <p:cNvPr id="2097159" name="文本框 2097158">
            <a:extLst>
              <a:ext uri="{FF2B5EF4-FFF2-40B4-BE49-F238E27FC236}">
                <a16:creationId xmlns:a16="http://schemas.microsoft.com/office/drawing/2014/main" id="{D3B805CE-A936-E202-0A1B-8F6DA74D5DF6}"/>
              </a:ext>
            </a:extLst>
          </p:cNvPr>
          <p:cNvSpPr txBox="1"/>
          <p:nvPr/>
        </p:nvSpPr>
        <p:spPr>
          <a:xfrm>
            <a:off x="7374193" y="1217883"/>
            <a:ext cx="4630994" cy="5451621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</a:pPr>
            <a:r>
              <a:rPr lang="zh-CN" altLang="en-US" dirty="0"/>
              <a:t>目前整个技术流程分为三部分，分别为三视图拼接模块，目标检测模块，定位模块。</a:t>
            </a:r>
            <a:endParaRPr lang="en-US" altLang="zh-CN" dirty="0"/>
          </a:p>
          <a:p>
            <a:pPr indent="457200">
              <a:lnSpc>
                <a:spcPct val="150000"/>
              </a:lnSpc>
            </a:pPr>
            <a:r>
              <a:rPr lang="zh-CN" altLang="en-US" dirty="0"/>
              <a:t>在三视图拼接模块中，优化传统多视图拼接流程，减小了由二次配准引起的累积误差失真</a:t>
            </a:r>
            <a:r>
              <a:rPr lang="en-US" altLang="zh-CN" dirty="0"/>
              <a:t>,</a:t>
            </a:r>
            <a:r>
              <a:rPr lang="zh-CN" altLang="en-US" dirty="0"/>
              <a:t>达到优化拼接效果的作用</a:t>
            </a:r>
            <a:endParaRPr lang="en-US" altLang="zh-CN" dirty="0"/>
          </a:p>
          <a:p>
            <a:pPr indent="457200">
              <a:lnSpc>
                <a:spcPct val="150000"/>
              </a:lnSpc>
            </a:pPr>
            <a:r>
              <a:rPr lang="zh-CN" altLang="en-US" b="1" dirty="0"/>
              <a:t>定位模块</a:t>
            </a:r>
            <a:r>
              <a:rPr lang="zh-CN" altLang="en-US" dirty="0"/>
              <a:t>结合</a:t>
            </a:r>
            <a:r>
              <a:rPr lang="en-US" altLang="zh-CN" dirty="0"/>
              <a:t>3D</a:t>
            </a:r>
            <a:r>
              <a:rPr lang="zh-CN" altLang="en-US" dirty="0"/>
              <a:t>点云数据和目标检测结果，实现精确的</a:t>
            </a:r>
            <a:r>
              <a:rPr lang="en-US" altLang="zh-CN" dirty="0"/>
              <a:t>3D</a:t>
            </a:r>
            <a:r>
              <a:rPr lang="zh-CN" altLang="en-US" dirty="0"/>
              <a:t>空间定位。首先将激光雷达获取的</a:t>
            </a:r>
            <a:r>
              <a:rPr lang="en-US" altLang="zh-CN" dirty="0"/>
              <a:t>3D</a:t>
            </a:r>
            <a:r>
              <a:rPr lang="zh-CN" altLang="en-US" dirty="0"/>
              <a:t>点云投影到拼接图像坐标系，然后利用目标检测框过滤出目标区域内的有效点云。通过</a:t>
            </a:r>
            <a:r>
              <a:rPr lang="en-US" altLang="zh-CN" dirty="0"/>
              <a:t>DBSCAN</a:t>
            </a:r>
            <a:r>
              <a:rPr lang="zh-CN" altLang="en-US" dirty="0"/>
              <a:t>聚类算法对点云进行密度聚类，并基于</a:t>
            </a:r>
            <a:r>
              <a:rPr lang="en-US" altLang="zh-CN" dirty="0" err="1"/>
              <a:t>IoU</a:t>
            </a:r>
            <a:r>
              <a:rPr lang="zh-CN" altLang="en-US" dirty="0"/>
              <a:t>匹配确定聚类中心作为目标的</a:t>
            </a:r>
            <a:r>
              <a:rPr lang="en-US" altLang="zh-CN" dirty="0"/>
              <a:t>3D</a:t>
            </a:r>
            <a:r>
              <a:rPr lang="zh-CN" altLang="en-US" dirty="0"/>
              <a:t>位置，确保了定位结果的准确性和可靠性。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56970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2E0D-9321-772E-74BB-778DB9C6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BC69E731-87D3-F2B8-DB77-2870416CD353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+mj-lt"/>
                <a:ea typeface="华文中宋" panose="02010600040101010101" pitchFamily="2" charset="-122"/>
              </a:rPr>
              <a:t>结果可视化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83AC44A2-EB8D-2527-5963-8E490A35A5AA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33C67024-A2D4-C6DB-6A11-D835BD1E10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782D559D-D1D3-160E-1D71-E1D381E5C014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DBD0D6-AD7F-A2A5-A01C-D308B9F1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A5162B70-D2CB-7ADB-2F1E-E58ED094FD4A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26C8CB-24FD-D274-B683-E525504414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19" y="3319719"/>
            <a:ext cx="3602686" cy="123396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1230839-8340-912E-EAF2-04727C0A878E}"/>
              </a:ext>
            </a:extLst>
          </p:cNvPr>
          <p:cNvSpPr txBox="1"/>
          <p:nvPr/>
        </p:nvSpPr>
        <p:spPr>
          <a:xfrm>
            <a:off x="924180" y="4578255"/>
            <a:ext cx="2047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目标检测可视化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3EFD576-05F8-BEDC-5F33-E6F01CD511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971" y="1535305"/>
            <a:ext cx="3761318" cy="136761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A773B18-CF41-A8AB-D90A-8028CA85B585}"/>
              </a:ext>
            </a:extLst>
          </p:cNvPr>
          <p:cNvSpPr txBox="1"/>
          <p:nvPr/>
        </p:nvSpPr>
        <p:spPr>
          <a:xfrm>
            <a:off x="106372" y="2895734"/>
            <a:ext cx="4179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点云投影到拼接图示意图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DCB8C6-905E-1C24-F316-EDCAE7DC2C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340" y="4886032"/>
            <a:ext cx="3528913" cy="12831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A3A96CB-242A-EBED-1E73-1CEBA6E399BB}"/>
              </a:ext>
            </a:extLst>
          </p:cNvPr>
          <p:cNvSpPr txBox="1"/>
          <p:nvPr/>
        </p:nvSpPr>
        <p:spPr>
          <a:xfrm>
            <a:off x="309387" y="6169143"/>
            <a:ext cx="3494796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基于检测框进行过滤点云示意图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AD2A4F-430C-079B-31D3-3ED54BA22DC3}"/>
              </a:ext>
            </a:extLst>
          </p:cNvPr>
          <p:cNvSpPr txBox="1"/>
          <p:nvPr/>
        </p:nvSpPr>
        <p:spPr>
          <a:xfrm>
            <a:off x="4733129" y="2777323"/>
            <a:ext cx="5775960" cy="2127634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/>
              <a:t>先利用标定参数（内外参）将点云按相机视场裁剪并投影到各相机图像，再通过</a:t>
            </a:r>
            <a:r>
              <a:rPr lang="zh-CN" altLang="en-US" b="1" dirty="0"/>
              <a:t>拼接投影变换参数</a:t>
            </a:r>
            <a:r>
              <a:rPr lang="zh-CN" altLang="en-US" dirty="0"/>
              <a:t>将点云投影到统一的拼接坐标系中；随后在拼接图上进行目标检测得到检测框，对于拼接图点云，筛选出其</a:t>
            </a:r>
            <a:r>
              <a:rPr lang="en-US" altLang="zh-CN" dirty="0"/>
              <a:t>2D</a:t>
            </a:r>
            <a:r>
              <a:rPr lang="zh-CN" altLang="en-US" dirty="0"/>
              <a:t>位置落入检测框内的点，得到目标点云</a:t>
            </a:r>
          </a:p>
        </p:txBody>
      </p:sp>
    </p:spTree>
    <p:extLst>
      <p:ext uri="{BB962C8B-B14F-4D97-AF65-F5344CB8AC3E}">
        <p14:creationId xmlns:p14="http://schemas.microsoft.com/office/powerpoint/2010/main" val="3536007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2E0D-9321-772E-74BB-778DB9C63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BC69E731-87D3-F2B8-DB77-2870416CD353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ea typeface="华文中宋" panose="02010600040101010101" pitchFamily="2" charset="-122"/>
              </a:rPr>
              <a:t>结果可视化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83AC44A2-EB8D-2527-5963-8E490A35A5AA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33C67024-A2D4-C6DB-6A11-D835BD1E10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782D559D-D1D3-160E-1D71-E1D381E5C014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DBD0D6-AD7F-A2A5-A01C-D308B9F16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A5162B70-D2CB-7ADB-2F1E-E58ED094FD4A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26C8CB-24FD-D274-B683-E525504414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519" y="3319719"/>
            <a:ext cx="3602686" cy="123396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1230839-8340-912E-EAF2-04727C0A878E}"/>
              </a:ext>
            </a:extLst>
          </p:cNvPr>
          <p:cNvSpPr txBox="1"/>
          <p:nvPr/>
        </p:nvSpPr>
        <p:spPr>
          <a:xfrm>
            <a:off x="924180" y="4578255"/>
            <a:ext cx="20472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目标检测可视化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33EFD576-05F8-BEDC-5F33-E6F01CD511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9971" y="1535305"/>
            <a:ext cx="3761318" cy="136761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4A773B18-CF41-A8AB-D90A-8028CA85B585}"/>
              </a:ext>
            </a:extLst>
          </p:cNvPr>
          <p:cNvSpPr txBox="1"/>
          <p:nvPr/>
        </p:nvSpPr>
        <p:spPr>
          <a:xfrm>
            <a:off x="106372" y="2895734"/>
            <a:ext cx="4179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点云投影到拼接图示意图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3DCB8C6-905E-1C24-F316-EDCAE7DC2C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2340" y="4886032"/>
            <a:ext cx="3528913" cy="128311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A3A96CB-242A-EBED-1E73-1CEBA6E399BB}"/>
              </a:ext>
            </a:extLst>
          </p:cNvPr>
          <p:cNvSpPr txBox="1"/>
          <p:nvPr/>
        </p:nvSpPr>
        <p:spPr>
          <a:xfrm>
            <a:off x="309387" y="6169143"/>
            <a:ext cx="3494796" cy="307777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基于检测框进行过滤点云示意图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AD2A4F-430C-079B-31D3-3ED54BA22DC3}"/>
              </a:ext>
            </a:extLst>
          </p:cNvPr>
          <p:cNvSpPr txBox="1"/>
          <p:nvPr/>
        </p:nvSpPr>
        <p:spPr>
          <a:xfrm>
            <a:off x="4733129" y="2777323"/>
            <a:ext cx="5775960" cy="2127634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/>
              <a:t>先利用标定参数（内外参）将点云按相机视场裁剪并投影到各相机图像，再通过</a:t>
            </a:r>
            <a:r>
              <a:rPr lang="zh-CN" altLang="en-US" b="1" dirty="0"/>
              <a:t>拼接投影变换参数</a:t>
            </a:r>
            <a:r>
              <a:rPr lang="zh-CN" altLang="en-US" dirty="0"/>
              <a:t>将点云投影到统一的拼接坐标系中；随后在拼接图上进行目标检测得到检测框，对于拼接图点云，筛选出其</a:t>
            </a:r>
            <a:r>
              <a:rPr lang="en-US" altLang="zh-CN" dirty="0"/>
              <a:t>2D</a:t>
            </a:r>
            <a:r>
              <a:rPr lang="zh-CN" altLang="en-US" dirty="0"/>
              <a:t>位置落入检测框内的点，得到目标点云</a:t>
            </a:r>
          </a:p>
        </p:txBody>
      </p:sp>
    </p:spTree>
    <p:extLst>
      <p:ext uri="{BB962C8B-B14F-4D97-AF65-F5344CB8AC3E}">
        <p14:creationId xmlns:p14="http://schemas.microsoft.com/office/powerpoint/2010/main" val="546363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E3F5-AD5A-57D0-E7BA-55985E3E0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CB9A4557-631C-7DE8-F593-55B937019670}"/>
              </a:ext>
            </a:extLst>
          </p:cNvPr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ea typeface="华文中宋" panose="02010600040101010101" pitchFamily="2" charset="-122"/>
              </a:rPr>
              <a:t>结果可视化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ABD7AF47-71AF-8461-CC1A-6B2FA375FDDE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438FCC80-95F1-B868-0CA6-B7718EDA73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44B6D4C8-0DAA-E4B1-A285-3278600A5D05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81F950D-02FB-B38C-E02E-186974CA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A9A5D22E-4880-9260-6D4B-7586929477E5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6E3DD4E-4A7C-4FD9-8006-DF06DDA08177}"/>
              </a:ext>
            </a:extLst>
          </p:cNvPr>
          <p:cNvGraphicFramePr>
            <a:graphicFrameLocks noGrp="1"/>
          </p:cNvGraphicFramePr>
          <p:nvPr/>
        </p:nvGraphicFramePr>
        <p:xfrm>
          <a:off x="5206436" y="1419032"/>
          <a:ext cx="6647936" cy="38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3968">
                  <a:extLst>
                    <a:ext uri="{9D8B030D-6E8A-4147-A177-3AD203B41FA5}">
                      <a16:colId xmlns:a16="http://schemas.microsoft.com/office/drawing/2014/main" val="3943020856"/>
                    </a:ext>
                  </a:extLst>
                </a:gridCol>
                <a:gridCol w="3323968">
                  <a:extLst>
                    <a:ext uri="{9D8B030D-6E8A-4147-A177-3AD203B41FA5}">
                      <a16:colId xmlns:a16="http://schemas.microsoft.com/office/drawing/2014/main" val="1371175820"/>
                    </a:ext>
                  </a:extLst>
                </a:gridCol>
              </a:tblGrid>
              <a:tr h="364778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目标框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>
                          <a:solidFill>
                            <a:schemeClr val="tx1"/>
                          </a:solidFill>
                        </a:rPr>
                        <a:t>计算坐标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433343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-26.42806,-3.62545,0.62500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77456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-26.25241,-2.61452,-1.60990)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8135405"/>
                  </a:ext>
                </a:extLst>
              </a:tr>
              <a:tr h="364778">
                <a:tc>
                  <a:txBody>
                    <a:bodyPr/>
                    <a:lstStyle/>
                    <a:p>
                      <a:pPr algn="ctr"/>
                      <a:r>
                        <a:rPr lang="en-US" altLang="zh-CN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(-24.18000,3.90077,-1.11795)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439851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-26.45441,-2.74937,3.31165)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45438"/>
                  </a:ext>
                </a:extLst>
              </a:tr>
              <a:tr h="61406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(-5.33190,-12.03388,1.91201)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628732"/>
                  </a:ext>
                </a:extLst>
              </a:tr>
              <a:tr h="6383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(-5.04961,-11.63372,-0.71488)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039577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9FEBE64-2C1C-8E0B-D1FD-13B469F299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184" y="1991066"/>
            <a:ext cx="4678014" cy="21941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59C06F6-82A9-5F2C-DF0B-D19ADBE94363}"/>
              </a:ext>
            </a:extLst>
          </p:cNvPr>
          <p:cNvSpPr txBox="1"/>
          <p:nvPr/>
        </p:nvSpPr>
        <p:spPr>
          <a:xfrm>
            <a:off x="617837" y="4275438"/>
            <a:ext cx="3797643" cy="369332"/>
          </a:xfrm>
          <a:prstGeom prst="rect">
            <a:avLst/>
          </a:prstGeom>
          <a:noFill/>
          <a:ln cmpd="sng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计算坐标在</a:t>
            </a:r>
            <a:r>
              <a:rPr lang="en-US" altLang="zh-CN" dirty="0" err="1"/>
              <a:t>cloudcompare</a:t>
            </a:r>
            <a:r>
              <a:rPr lang="zh-CN" altLang="en-US" dirty="0"/>
              <a:t>的可视化</a:t>
            </a:r>
          </a:p>
        </p:txBody>
      </p:sp>
    </p:spTree>
    <p:extLst>
      <p:ext uri="{BB962C8B-B14F-4D97-AF65-F5344CB8AC3E}">
        <p14:creationId xmlns:p14="http://schemas.microsoft.com/office/powerpoint/2010/main" val="301507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651</Words>
  <Application>Microsoft Office PowerPoint</Application>
  <PresentationFormat>宽屏</PresentationFormat>
  <Paragraphs>87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华文中宋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gaofeng liu</dc:creator>
  <cp:lastModifiedBy>gaofeng liu</cp:lastModifiedBy>
  <cp:revision>2</cp:revision>
  <dcterms:created xsi:type="dcterms:W3CDTF">2025-10-11T13:30:00Z</dcterms:created>
  <dcterms:modified xsi:type="dcterms:W3CDTF">2025-10-11T13:32:22Z</dcterms:modified>
</cp:coreProperties>
</file>