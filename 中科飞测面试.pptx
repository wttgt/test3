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8" r:id="rId2"/>
    <p:sldId id="257" r:id="rId3"/>
    <p:sldId id="357" r:id="rId4"/>
    <p:sldId id="358" r:id="rId5"/>
    <p:sldId id="352" r:id="rId6"/>
    <p:sldId id="347" r:id="rId7"/>
    <p:sldId id="350" r:id="rId8"/>
    <p:sldId id="348" r:id="rId9"/>
    <p:sldId id="359" r:id="rId10"/>
    <p:sldId id="351" r:id="rId11"/>
    <p:sldId id="30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434E"/>
    <a:srgbClr val="3A5925"/>
    <a:srgbClr val="43672B"/>
    <a:srgbClr val="945358"/>
    <a:srgbClr val="5A5A5A"/>
    <a:srgbClr val="203864"/>
    <a:srgbClr val="324C20"/>
    <a:srgbClr val="355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298" autoAdjust="0"/>
  </p:normalViewPr>
  <p:slideViewPr>
    <p:cSldViewPr snapToGrid="0">
      <p:cViewPr varScale="1">
        <p:scale>
          <a:sx n="116" d="100"/>
          <a:sy n="116" d="100"/>
        </p:scale>
        <p:origin x="108" y="14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2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2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3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3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3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6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汇报从以下几个部分展开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4F04-63EA-5BD2-AA71-4A2834FE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2CB6BE-A214-B480-138E-EC4196367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B8B1C5-D8C6-5D42-47DD-D4D40AB63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053C2-7FA3-C8A6-6733-FC39EAB8E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99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985A-7DA3-0493-CCE5-E7BBDC07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1FDA72-A222-1A87-7371-839C8D752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BD9184-4B2E-75D3-8E2A-157A9A650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2B2F6-6DE4-EF8A-1A17-7E8950A40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157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C174-0601-0C71-05F6-8A986A5F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4ECCD-D534-3EB5-BD2C-A39179DB5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E5459B-2EFF-42D3-8048-3038A832B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329EA1-94C0-BCBD-9EB2-EEA415D6B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27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D7B4-C746-1E9D-2ED3-7E671DCD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E6AAB3-05FA-5001-49FB-DE84F0329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EBA629-CCCE-D69F-2438-AEB919A9C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64A60-DEA3-B6CB-F0EA-EAFC9427D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931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1ADE6-B4AC-C255-907D-8DA554BA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CFF16-D87C-3AE8-D0C7-D112E6A6B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C9F248-CC34-6E52-A160-05549BEF5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C24827-2375-72F0-0853-900A027A7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06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E4D0-03C5-DA9A-6BF2-72370398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1A0113-3DBA-7FCA-174A-EC79CB1CA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682715-2682-50DF-FD32-F61254D41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C9627-FFE7-3515-3DC6-A21BAA78E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36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131F-EE16-3320-8DE0-185EE1AD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80C3A5-7265-0AE6-650B-9889ACD17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1EC91D-F8A2-D422-78A9-5E0340C7B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5EE05-A343-F44D-EB0D-A0E8681C8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83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以上就是本周的汇报内容，恳请各位老师、师兄师姐和同门批评指正。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1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5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0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9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0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09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91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1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1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1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1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91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8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88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8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60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2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2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2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92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2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9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89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89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9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9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90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8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8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88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BE89-CD5A-4DF5-92E2-05840E334FAA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标题 1"/>
          <p:cNvSpPr>
            <a:spLocks noGrp="1"/>
          </p:cNvSpPr>
          <p:nvPr>
            <p:ph type="ctrTitle"/>
          </p:nvPr>
        </p:nvSpPr>
        <p:spPr>
          <a:xfrm>
            <a:off x="1755627" y="1734739"/>
            <a:ext cx="8680739" cy="1647322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36" name="内容占位符 2"/>
          <p:cNvSpPr txBox="1"/>
          <p:nvPr/>
        </p:nvSpPr>
        <p:spPr>
          <a:xfrm>
            <a:off x="1755627" y="486294"/>
            <a:ext cx="6620793" cy="5784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2025/10/24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38" name="内容占位符 3"/>
          <p:cNvSpPr txBox="1"/>
          <p:nvPr/>
        </p:nvSpPr>
        <p:spPr>
          <a:xfrm>
            <a:off x="3510967" y="3847467"/>
            <a:ext cx="5170067" cy="17635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b="1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</a:t>
            </a:r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：刘高峰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导师：曾文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中国地质大学（武汉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地理与信息工程学院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高性能空间计算智能实验室（HPSCIL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cxnSp>
        <p:nvCxnSpPr>
          <p:cNvPr id="3145768" name="直接连接符 6"/>
          <p:cNvCxnSpPr>
            <a:cxnSpLocks/>
          </p:cNvCxnSpPr>
          <p:nvPr/>
        </p:nvCxnSpPr>
        <p:spPr>
          <a:xfrm>
            <a:off x="823527" y="3710152"/>
            <a:ext cx="1062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1"/>
          <p:cNvGrpSpPr/>
          <p:nvPr/>
        </p:nvGrpSpPr>
        <p:grpSpPr>
          <a:xfrm>
            <a:off x="623964" y="217522"/>
            <a:ext cx="11445869" cy="6422955"/>
            <a:chOff x="364884" y="179406"/>
            <a:chExt cx="11445869" cy="6422955"/>
          </a:xfrm>
        </p:grpSpPr>
        <p:pic>
          <p:nvPicPr>
            <p:cNvPr id="2097208" name="图片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884" y="179406"/>
              <a:ext cx="1192193" cy="1192193"/>
            </a:xfrm>
            <a:prstGeom prst="rect">
              <a:avLst/>
            </a:prstGeom>
          </p:spPr>
        </p:pic>
        <p:sp>
          <p:nvSpPr>
            <p:cNvPr id="1048940" name="TextBox 1"/>
            <p:cNvSpPr txBox="1"/>
            <p:nvPr/>
          </p:nvSpPr>
          <p:spPr>
            <a:xfrm>
              <a:off x="3253043" y="6259766"/>
              <a:ext cx="56859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High-</a:t>
              </a:r>
              <a:r>
                <a:rPr lang="en-AU" sz="1400" dirty="0" err="1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performanceSpatialComputationalIntelligenceLab</a:t>
              </a:r>
              <a:r>
                <a:rPr lang="en-US" altLang="zh-CN" sz="1400" dirty="0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@CUG</a:t>
              </a:r>
              <a:endPara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2097210" name="图片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75917" y="5858179"/>
              <a:ext cx="1134836" cy="7441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Freeform 6"/>
          <p:cNvSpPr/>
          <p:nvPr/>
        </p:nvSpPr>
        <p:spPr bwMode="auto">
          <a:xfrm>
            <a:off x="335" y="5555848"/>
            <a:ext cx="12191331" cy="1301962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596" name="Freeform 7"/>
          <p:cNvSpPr/>
          <p:nvPr/>
        </p:nvSpPr>
        <p:spPr bwMode="auto">
          <a:xfrm>
            <a:off x="0" y="5308161"/>
            <a:ext cx="12191331" cy="49537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59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048598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097154" name="图片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599" name="Freeform 6"/>
          <p:cNvSpPr/>
          <p:nvPr/>
        </p:nvSpPr>
        <p:spPr bwMode="auto">
          <a:xfrm>
            <a:off x="335" y="5555848"/>
            <a:ext cx="12191331" cy="1301962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600" name="Freeform 7"/>
          <p:cNvSpPr/>
          <p:nvPr/>
        </p:nvSpPr>
        <p:spPr bwMode="auto">
          <a:xfrm>
            <a:off x="0" y="5308161"/>
            <a:ext cx="12191331" cy="49537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601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97155" name="图片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602" name="文本框 24"/>
          <p:cNvSpPr txBox="1"/>
          <p:nvPr/>
        </p:nvSpPr>
        <p:spPr>
          <a:xfrm>
            <a:off x="1510018" y="2359727"/>
            <a:ext cx="3097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目录</a:t>
            </a:r>
          </a:p>
        </p:txBody>
      </p:sp>
      <p:sp>
        <p:nvSpPr>
          <p:cNvPr id="1048603" name="矩形 27"/>
          <p:cNvSpPr/>
          <p:nvPr/>
        </p:nvSpPr>
        <p:spPr>
          <a:xfrm>
            <a:off x="5257800" y="1250180"/>
            <a:ext cx="6477000" cy="247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en-US" altLang="zh-CN" sz="3200" dirty="0">
              <a:solidFill>
                <a:srgbClr val="20386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校园经历</a:t>
            </a:r>
            <a:endParaRPr lang="en-US" altLang="zh-CN" sz="3200" dirty="0">
              <a:solidFill>
                <a:srgbClr val="20386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个人项目介绍</a:t>
            </a:r>
            <a:r>
              <a:rPr lang="en-US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3E800-5118-5E80-8024-72047201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E5C31A91-9AFD-B868-A088-1B49A666B08E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zh-CN" altLang="en-US" sz="3200" dirty="0">
              <a:solidFill>
                <a:srgbClr val="263A5E"/>
              </a:solidFill>
              <a:latin typeface="+mj-lt"/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4959CC97-2DD4-4535-D8B7-CC6D31BEDBB0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20FFFECF-6649-C599-D140-A35385D1739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149EEDDF-6343-1151-4307-18EC3FE15004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1EAD590-EE32-1AC7-F88B-93D76303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6EA5130D-F2C5-EC15-D022-E026377D7489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3CE629-84C0-699C-6F3B-F837DD033B66}"/>
              </a:ext>
            </a:extLst>
          </p:cNvPr>
          <p:cNvSpPr txBox="1"/>
          <p:nvPr/>
        </p:nvSpPr>
        <p:spPr>
          <a:xfrm>
            <a:off x="617838" y="1210962"/>
            <a:ext cx="10602097" cy="4524315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基于智能手机移动测量方法的设计与实现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1.1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传统移动测量系统能够获取目标点三维坐标信息，这种系统的定位质量高度依赖于所使用的定位和定向系统，然而高端传感器单元，尤其是惯性系统成本较高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其次，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有时由于环境影响，人们无法接近实际位置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，这时，就需要在无接触的情况下进行定位。因此内置多种传感器的智能手机，使低成本且无接触的移动摄影测量成为了可能，为不同领域的应用需求带来了意想不到的便利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技术路线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/>
            <a:endParaRPr lang="en-US" altLang="zh-CN" dirty="0"/>
          </a:p>
          <a:p>
            <a:pPr algn="l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F63067-2DF5-CF47-6C1D-A6EAACBBE872}"/>
              </a:ext>
            </a:extLst>
          </p:cNvPr>
          <p:cNvSpPr txBox="1"/>
          <p:nvPr/>
        </p:nvSpPr>
        <p:spPr>
          <a:xfrm>
            <a:off x="1608437" y="3473118"/>
            <a:ext cx="8752546" cy="258281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l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5B2EB6-D24B-FF5C-7F9E-C35F9BE84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82" y="3473118"/>
            <a:ext cx="6966648" cy="244888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C8E5B12-02B1-F401-A0B9-10C37564DB95}"/>
              </a:ext>
            </a:extLst>
          </p:cNvPr>
          <p:cNvSpPr txBox="1"/>
          <p:nvPr/>
        </p:nvSpPr>
        <p:spPr>
          <a:xfrm>
            <a:off x="1124638" y="5810463"/>
            <a:ext cx="9942724" cy="646331"/>
          </a:xfrm>
          <a:prstGeom prst="rect">
            <a:avLst/>
          </a:prstGeom>
          <a:noFill/>
          <a:ln cmpd="sng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1.3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研究结果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dirty="0"/>
              <a:t>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通过上述技术路线，可以在距离目标十米以外的位置，实现对目标分米级的定位效果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291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zh-CN" altLang="en-US" sz="3200" dirty="0">
              <a:solidFill>
                <a:srgbClr val="263A5E"/>
              </a:solidFill>
              <a:ea typeface="华文中宋" panose="02010600040101010101" pitchFamily="2" charset="-122"/>
            </a:endParaRPr>
          </a:p>
        </p:txBody>
      </p:sp>
      <p:sp>
        <p:nvSpPr>
          <p:cNvPr id="1048679" name="等腰三角形 3"/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/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3" name="文本占位符 2"/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852E36-D523-A6AC-34F5-2AE6977A9BF2}"/>
              </a:ext>
            </a:extLst>
          </p:cNvPr>
          <p:cNvSpPr txBox="1"/>
          <p:nvPr/>
        </p:nvSpPr>
        <p:spPr>
          <a:xfrm>
            <a:off x="459276" y="1259841"/>
            <a:ext cx="60024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1F1646-E9C8-3C01-C805-072DB0FFDC05}"/>
              </a:ext>
            </a:extLst>
          </p:cNvPr>
          <p:cNvSpPr txBox="1"/>
          <p:nvPr/>
        </p:nvSpPr>
        <p:spPr>
          <a:xfrm>
            <a:off x="315310" y="1387366"/>
            <a:ext cx="731520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基于多图像拼接的目标检测与定位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en-US" altLang="zh-CN" dirty="0"/>
              <a:t>2.1 </a:t>
            </a:r>
            <a:r>
              <a:rPr lang="zh-CN" altLang="en-US" dirty="0"/>
              <a:t>研究背景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zh-CN" altLang="zh-CN" dirty="0"/>
              <a:t>随着城市基础设施的不断发展，地下管线已广泛分布于城市各区域，形成庞大而复杂的</a:t>
            </a:r>
            <a:r>
              <a:rPr lang="en-US" altLang="zh-CN" dirty="0"/>
              <a:t>“</a:t>
            </a:r>
            <a:r>
              <a:rPr lang="zh-CN" altLang="zh-CN" dirty="0"/>
              <a:t>城市生命线系统</a:t>
            </a:r>
            <a:r>
              <a:rPr lang="en-US" altLang="zh-CN" dirty="0"/>
              <a:t>”</a:t>
            </a:r>
            <a:r>
              <a:rPr lang="zh-CN" altLang="zh-CN" dirty="0"/>
              <a:t>。然而，由于地下管线隐蔽性强，近年来误挖、误碰地下管网的事件频发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zh-CN" altLang="zh-CN" dirty="0"/>
              <a:t>传统的地下管线保护方式依然主要依赖人工巡检、图纸查询和被动响应</a:t>
            </a:r>
            <a:r>
              <a:rPr lang="zh-CN" altLang="en-US" dirty="0"/>
              <a:t>等方式</a:t>
            </a:r>
            <a:r>
              <a:rPr lang="zh-CN" altLang="zh-CN" dirty="0"/>
              <a:t>，</a:t>
            </a:r>
            <a:r>
              <a:rPr lang="zh-CN" altLang="en-US" dirty="0"/>
              <a:t>由于</a:t>
            </a:r>
            <a:r>
              <a:rPr lang="zh-CN" altLang="zh-CN" dirty="0"/>
              <a:t>施工单位</a:t>
            </a:r>
            <a:r>
              <a:rPr lang="zh-CN" altLang="en-US" dirty="0"/>
              <a:t>存在侥幸心理</a:t>
            </a:r>
            <a:r>
              <a:rPr lang="zh-CN" altLang="zh-CN" dirty="0"/>
              <a:t>或监管资源有限，现有手段在作业发现、响应效率和精度上存在明显短板，难以满足现代城市建设中对实时感知与风险预警的需求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zh-CN" altLang="zh-CN" dirty="0"/>
              <a:t>在此背景下，本研究面向管线保护需求，提出一种基于多视角拼接</a:t>
            </a:r>
            <a:r>
              <a:rPr lang="en-US" altLang="zh-CN" dirty="0"/>
              <a:t>,</a:t>
            </a:r>
            <a:r>
              <a:rPr lang="zh-CN" altLang="zh-CN" dirty="0"/>
              <a:t>目标检测</a:t>
            </a:r>
            <a:r>
              <a:rPr lang="en-US" altLang="zh-CN" dirty="0"/>
              <a:t>,</a:t>
            </a:r>
            <a:r>
              <a:rPr lang="zh-CN" altLang="zh-CN" dirty="0"/>
              <a:t>空间定位的综合方法，用于自动监测挖掘设备是否靠近地下管线保护区，并实现实时风险预警。提升了地下管线巡检与保护的自动化与智能化水平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CFD3C7-3412-4E8F-7C00-063FF2080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792" y="2657454"/>
            <a:ext cx="363855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591B5-5C18-0A7F-1376-FDBEF341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18B2F140-947A-9B6C-8340-370EAD433C8C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zh-CN" altLang="en-US" sz="3200" dirty="0">
              <a:solidFill>
                <a:srgbClr val="263A5E"/>
              </a:solidFill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52D2137F-9A80-5D65-1D5C-0C000455E45A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AEF36C24-B013-B73F-8236-61DF7DECAB3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7AC8232C-3B24-8595-A0B6-54666A8DBAF7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6FCA2C-B129-4189-EC2D-4D0CE06C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76673D2F-6985-BE03-AE63-292363C92148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grpSp>
        <p:nvGrpSpPr>
          <p:cNvPr id="2097161" name="组合 2097160">
            <a:extLst>
              <a:ext uri="{FF2B5EF4-FFF2-40B4-BE49-F238E27FC236}">
                <a16:creationId xmlns:a16="http://schemas.microsoft.com/office/drawing/2014/main" id="{E3CF918E-1E3D-5639-4048-BFC9F98AFE6F}"/>
              </a:ext>
            </a:extLst>
          </p:cNvPr>
          <p:cNvGrpSpPr/>
          <p:nvPr/>
        </p:nvGrpSpPr>
        <p:grpSpPr>
          <a:xfrm>
            <a:off x="2683076" y="1149833"/>
            <a:ext cx="5848104" cy="5267903"/>
            <a:chOff x="1191793" y="1088446"/>
            <a:chExt cx="5848104" cy="5267903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59D7D929-E6B7-739C-71FF-03BAB64FCC92}"/>
                </a:ext>
              </a:extLst>
            </p:cNvPr>
            <p:cNvCxnSpPr>
              <a:stCxn id="4" idx="2"/>
              <a:endCxn id="33" idx="0"/>
            </p:cNvCxnSpPr>
            <p:nvPr/>
          </p:nvCxnSpPr>
          <p:spPr>
            <a:xfrm flipH="1">
              <a:off x="4115845" y="3808100"/>
              <a:ext cx="1" cy="3417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47873F55-D56A-F19B-1426-5E25D847A03E}"/>
                </a:ext>
              </a:extLst>
            </p:cNvPr>
            <p:cNvCxnSpPr>
              <a:stCxn id="33" idx="2"/>
              <a:endCxn id="43" idx="0"/>
            </p:cNvCxnSpPr>
            <p:nvPr/>
          </p:nvCxnSpPr>
          <p:spPr>
            <a:xfrm>
              <a:off x="4115845" y="4426825"/>
              <a:ext cx="0" cy="2748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7160" name="组合 2097159">
              <a:extLst>
                <a:ext uri="{FF2B5EF4-FFF2-40B4-BE49-F238E27FC236}">
                  <a16:creationId xmlns:a16="http://schemas.microsoft.com/office/drawing/2014/main" id="{A6459D80-E867-9FA2-0038-32C1AA0543DD}"/>
                </a:ext>
              </a:extLst>
            </p:cNvPr>
            <p:cNvGrpSpPr/>
            <p:nvPr/>
          </p:nvGrpSpPr>
          <p:grpSpPr>
            <a:xfrm>
              <a:off x="1191793" y="1088446"/>
              <a:ext cx="5848104" cy="5267903"/>
              <a:chOff x="1191793" y="1088446"/>
              <a:chExt cx="5848104" cy="5267903"/>
            </a:xfrm>
          </p:grpSpPr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1E4C3422-E886-D722-7D89-2C8DC9E0322A}"/>
                  </a:ext>
                </a:extLst>
              </p:cNvPr>
              <p:cNvCxnSpPr>
                <a:stCxn id="5" idx="2"/>
                <a:endCxn id="6" idx="0"/>
              </p:cNvCxnSpPr>
              <p:nvPr/>
            </p:nvCxnSpPr>
            <p:spPr>
              <a:xfrm flipH="1">
                <a:off x="4115846" y="1347321"/>
                <a:ext cx="1" cy="2381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3F779923-0545-812F-2F8A-DF96AFEE6C56}"/>
                  </a:ext>
                </a:extLst>
              </p:cNvPr>
              <p:cNvCxnSpPr>
                <a:stCxn id="6" idx="2"/>
                <a:endCxn id="4" idx="0"/>
              </p:cNvCxnSpPr>
              <p:nvPr/>
            </p:nvCxnSpPr>
            <p:spPr>
              <a:xfrm>
                <a:off x="4115846" y="2016893"/>
                <a:ext cx="0" cy="1832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97157" name="组合 2097156">
                <a:extLst>
                  <a:ext uri="{FF2B5EF4-FFF2-40B4-BE49-F238E27FC236}">
                    <a16:creationId xmlns:a16="http://schemas.microsoft.com/office/drawing/2014/main" id="{51135A17-FD61-1B39-0195-19D157F646B3}"/>
                  </a:ext>
                </a:extLst>
              </p:cNvPr>
              <p:cNvGrpSpPr/>
              <p:nvPr/>
            </p:nvGrpSpPr>
            <p:grpSpPr>
              <a:xfrm>
                <a:off x="1191793" y="1088446"/>
                <a:ext cx="5848104" cy="5267903"/>
                <a:chOff x="1191793" y="1088447"/>
                <a:chExt cx="6929652" cy="5267904"/>
              </a:xfrm>
            </p:grpSpPr>
            <p:sp>
              <p:nvSpPr>
                <p:cNvPr id="2097152" name="文本框 2097151">
                  <a:extLst>
                    <a:ext uri="{FF2B5EF4-FFF2-40B4-BE49-F238E27FC236}">
                      <a16:creationId xmlns:a16="http://schemas.microsoft.com/office/drawing/2014/main" id="{F673476E-62F1-EF37-3555-DE67A518D7B7}"/>
                    </a:ext>
                  </a:extLst>
                </p:cNvPr>
                <p:cNvSpPr txBox="1"/>
                <p:nvPr/>
              </p:nvSpPr>
              <p:spPr>
                <a:xfrm>
                  <a:off x="4670881" y="3876575"/>
                  <a:ext cx="2282294" cy="230832"/>
                </a:xfrm>
                <a:prstGeom prst="rect">
                  <a:avLst/>
                </a:prstGeom>
                <a:noFill/>
                <a:ln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900" dirty="0"/>
                    <a:t>拼接图</a:t>
                  </a:r>
                </a:p>
              </p:txBody>
            </p:sp>
            <p:grpSp>
              <p:nvGrpSpPr>
                <p:cNvPr id="2097156" name="组合 2097155">
                  <a:extLst>
                    <a:ext uri="{FF2B5EF4-FFF2-40B4-BE49-F238E27FC236}">
                      <a16:creationId xmlns:a16="http://schemas.microsoft.com/office/drawing/2014/main" id="{BAA89BD2-4EB3-D9D9-C894-E3547FA5739E}"/>
                    </a:ext>
                  </a:extLst>
                </p:cNvPr>
                <p:cNvGrpSpPr/>
                <p:nvPr/>
              </p:nvGrpSpPr>
              <p:grpSpPr>
                <a:xfrm>
                  <a:off x="1191793" y="1088447"/>
                  <a:ext cx="6929652" cy="5267904"/>
                  <a:chOff x="1191793" y="1088446"/>
                  <a:chExt cx="4969619" cy="6537707"/>
                </a:xfrm>
              </p:grpSpPr>
              <p:sp>
                <p:nvSpPr>
                  <p:cNvPr id="5" name="矩形: 圆角 4">
                    <a:extLst>
                      <a:ext uri="{FF2B5EF4-FFF2-40B4-BE49-F238E27FC236}">
                        <a16:creationId xmlns:a16="http://schemas.microsoft.com/office/drawing/2014/main" id="{FC85E316-CADA-F684-4EEC-2A28301B5BEC}"/>
                      </a:ext>
                    </a:extLst>
                  </p:cNvPr>
                  <p:cNvSpPr/>
                  <p:nvPr/>
                </p:nvSpPr>
                <p:spPr>
                  <a:xfrm>
                    <a:off x="3301783" y="1088446"/>
                    <a:ext cx="749643" cy="321276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</a:rPr>
                      <a:t>开始</a:t>
                    </a:r>
                  </a:p>
                </p:txBody>
              </p:sp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7C1151FA-D274-E1AC-B3A6-693AAEDEDC0D}"/>
                      </a:ext>
                    </a:extLst>
                  </p:cNvPr>
                  <p:cNvSpPr/>
                  <p:nvPr/>
                </p:nvSpPr>
                <p:spPr>
                  <a:xfrm>
                    <a:off x="2654317" y="1705232"/>
                    <a:ext cx="2044573" cy="535459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</a:rPr>
                      <a:t>三视图图像输入</a:t>
                    </a:r>
                  </a:p>
                </p:txBody>
              </p:sp>
              <p:grpSp>
                <p:nvGrpSpPr>
                  <p:cNvPr id="2097154" name="组合 2097153">
                    <a:extLst>
                      <a:ext uri="{FF2B5EF4-FFF2-40B4-BE49-F238E27FC236}">
                        <a16:creationId xmlns:a16="http://schemas.microsoft.com/office/drawing/2014/main" id="{B175047E-6F9B-2DD3-583D-3D5C3D3EE2FA}"/>
                      </a:ext>
                    </a:extLst>
                  </p:cNvPr>
                  <p:cNvGrpSpPr/>
                  <p:nvPr/>
                </p:nvGrpSpPr>
                <p:grpSpPr>
                  <a:xfrm>
                    <a:off x="1191794" y="2468072"/>
                    <a:ext cx="4969618" cy="1995589"/>
                    <a:chOff x="1191794" y="2468072"/>
                    <a:chExt cx="4969618" cy="1995589"/>
                  </a:xfrm>
                </p:grpSpPr>
                <p:sp>
                  <p:nvSpPr>
                    <p:cNvPr id="4" name="文本框 3">
                      <a:extLst>
                        <a:ext uri="{FF2B5EF4-FFF2-40B4-BE49-F238E27FC236}">
                          <a16:creationId xmlns:a16="http://schemas.microsoft.com/office/drawing/2014/main" id="{8FFF7297-3FB3-5B54-C48D-F5EF8BB767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1794" y="2468072"/>
                      <a:ext cx="4969618" cy="1995589"/>
                    </a:xfrm>
                    <a:prstGeom prst="rect">
                      <a:avLst/>
                    </a:prstGeom>
                    <a:noFill/>
                    <a:ln cmpd="sng">
                      <a:solidFill>
                        <a:schemeClr val="tx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7" name="矩形 6">
                      <a:extLst>
                        <a:ext uri="{FF2B5EF4-FFF2-40B4-BE49-F238E27FC236}">
                          <a16:creationId xmlns:a16="http://schemas.microsoft.com/office/drawing/2014/main" id="{D4AB7BEA-635B-6B16-600D-4E4EC59F13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2845" y="2541307"/>
                      <a:ext cx="2023517" cy="3418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三视图拼接模块</a:t>
                      </a:r>
                    </a:p>
                  </p:txBody>
                </p:sp>
                <p:sp>
                  <p:nvSpPr>
                    <p:cNvPr id="8" name="矩形 7">
                      <a:extLst>
                        <a:ext uri="{FF2B5EF4-FFF2-40B4-BE49-F238E27FC236}">
                          <a16:creationId xmlns:a16="http://schemas.microsoft.com/office/drawing/2014/main" id="{4D487A97-B9D9-C839-1425-8E0909C0E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7879" y="3071704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特征检测匹配</a:t>
                      </a:r>
                    </a:p>
                  </p:txBody>
                </p:sp>
                <p:sp>
                  <p:nvSpPr>
                    <p:cNvPr id="9" name="矩形 8">
                      <a:extLst>
                        <a:ext uri="{FF2B5EF4-FFF2-40B4-BE49-F238E27FC236}">
                          <a16:creationId xmlns:a16="http://schemas.microsoft.com/office/drawing/2014/main" id="{3D675F9A-11B5-ECC5-02AF-8766139F9E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0403" y="3071703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线段检测匹配</a:t>
                      </a:r>
                    </a:p>
                  </p:txBody>
                </p:sp>
                <p:sp>
                  <p:nvSpPr>
                    <p:cNvPr id="10" name="矩形 9">
                      <a:extLst>
                        <a:ext uri="{FF2B5EF4-FFF2-40B4-BE49-F238E27FC236}">
                          <a16:creationId xmlns:a16="http://schemas.microsoft.com/office/drawing/2014/main" id="{4B1E5826-15D7-7136-453F-49E5E6B57B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6635" y="3071703"/>
                      <a:ext cx="109624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单应性计算</a:t>
                      </a:r>
                    </a:p>
                  </p:txBody>
                </p:sp>
                <p:sp>
                  <p:nvSpPr>
                    <p:cNvPr id="11" name="矩形 10">
                      <a:extLst>
                        <a:ext uri="{FF2B5EF4-FFF2-40B4-BE49-F238E27FC236}">
                          <a16:creationId xmlns:a16="http://schemas.microsoft.com/office/drawing/2014/main" id="{0D12561C-4460-F630-19F5-6D3692312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7879" y="3669176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网格变形优化</a:t>
                      </a:r>
                    </a:p>
                  </p:txBody>
                </p:sp>
                <p:sp>
                  <p:nvSpPr>
                    <p:cNvPr id="12" name="矩形 11">
                      <a:extLst>
                        <a:ext uri="{FF2B5EF4-FFF2-40B4-BE49-F238E27FC236}">
                          <a16:creationId xmlns:a16="http://schemas.microsoft.com/office/drawing/2014/main" id="{BB495BC2-C8C5-61BC-AD78-644D939F2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3586" y="3669174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基于图割的最佳缝融合</a:t>
                      </a:r>
                    </a:p>
                  </p:txBody>
                </p:sp>
                <p:sp>
                  <p:nvSpPr>
                    <p:cNvPr id="14" name="矩形 13">
                      <a:extLst>
                        <a:ext uri="{FF2B5EF4-FFF2-40B4-BE49-F238E27FC236}">
                          <a16:creationId xmlns:a16="http://schemas.microsoft.com/office/drawing/2014/main" id="{969B103D-5678-768B-603E-436BF293AE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6635" y="3669174"/>
                      <a:ext cx="1086461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拼接结果输出</a:t>
                      </a:r>
                    </a:p>
                  </p:txBody>
                </p:sp>
                <p:sp>
                  <p:nvSpPr>
                    <p:cNvPr id="16" name="矩形 15">
                      <a:extLst>
                        <a:ext uri="{FF2B5EF4-FFF2-40B4-BE49-F238E27FC236}">
                          <a16:creationId xmlns:a16="http://schemas.microsoft.com/office/drawing/2014/main" id="{CC3938F1-FFAC-3DA1-4DD3-7A26CDFC0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2475" y="3992068"/>
                      <a:ext cx="3970621" cy="3418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左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中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中间图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右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拼接图</a:t>
                      </a:r>
                    </a:p>
                  </p:txBody>
                </p:sp>
              </p:grpSp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BABD4D46-5179-6DD7-1E8E-37C69CBDAC9D}"/>
                      </a:ext>
                    </a:extLst>
                  </p:cNvPr>
                  <p:cNvSpPr txBox="1"/>
                  <p:nvPr/>
                </p:nvSpPr>
                <p:spPr>
                  <a:xfrm>
                    <a:off x="2590138" y="4887758"/>
                    <a:ext cx="2172929" cy="343768"/>
                  </a:xfrm>
                  <a:prstGeom prst="rect">
                    <a:avLst/>
                  </a:prstGeom>
                  <a:noFill/>
                  <a:ln cmpd="sng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/>
                      <a:t>目标检测模块</a:t>
                    </a:r>
                  </a:p>
                </p:txBody>
              </p:sp>
              <p:grpSp>
                <p:nvGrpSpPr>
                  <p:cNvPr id="2097155" name="组合 2097154">
                    <a:extLst>
                      <a:ext uri="{FF2B5EF4-FFF2-40B4-BE49-F238E27FC236}">
                        <a16:creationId xmlns:a16="http://schemas.microsoft.com/office/drawing/2014/main" id="{87066DB4-92BD-7F7C-3B98-35991E699FC2}"/>
                      </a:ext>
                    </a:extLst>
                  </p:cNvPr>
                  <p:cNvGrpSpPr/>
                  <p:nvPr/>
                </p:nvGrpSpPr>
                <p:grpSpPr>
                  <a:xfrm>
                    <a:off x="1191793" y="5307109"/>
                    <a:ext cx="4969618" cy="2319044"/>
                    <a:chOff x="1191793" y="5307109"/>
                    <a:chExt cx="4969618" cy="2319044"/>
                  </a:xfrm>
                </p:grpSpPr>
                <p:grpSp>
                  <p:nvGrpSpPr>
                    <p:cNvPr id="55" name="组合 54">
                      <a:extLst>
                        <a:ext uri="{FF2B5EF4-FFF2-40B4-BE49-F238E27FC236}">
                          <a16:creationId xmlns:a16="http://schemas.microsoft.com/office/drawing/2014/main" id="{8A2591C2-C580-F14E-0D71-8D62E3742A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1793" y="5572573"/>
                      <a:ext cx="4969618" cy="2053580"/>
                      <a:chOff x="5796705" y="2355996"/>
                      <a:chExt cx="5112304" cy="2308324"/>
                    </a:xfrm>
                  </p:grpSpPr>
                  <p:sp>
                    <p:nvSpPr>
                      <p:cNvPr id="43" name="文本框 42">
                        <a:extLst>
                          <a:ext uri="{FF2B5EF4-FFF2-40B4-BE49-F238E27FC236}">
                            <a16:creationId xmlns:a16="http://schemas.microsoft.com/office/drawing/2014/main" id="{EDCE9FE0-9324-5492-BC13-08B25648FC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96705" y="2355996"/>
                        <a:ext cx="5112304" cy="2308324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:r>
                          <a:rPr lang="en-US" altLang="zh-CN" dirty="0"/>
                          <a:t>	</a:t>
                        </a:r>
                      </a:p>
                      <a:p>
                        <a:pPr algn="l"/>
                        <a:r>
                          <a:rPr lang="en-US" altLang="zh-CN" dirty="0"/>
                          <a:t>		</a:t>
                        </a:r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</p:txBody>
                  </p:sp>
                  <p:sp>
                    <p:nvSpPr>
                      <p:cNvPr id="44" name="文本框 43">
                        <a:extLst>
                          <a:ext uri="{FF2B5EF4-FFF2-40B4-BE49-F238E27FC236}">
                            <a16:creationId xmlns:a16="http://schemas.microsoft.com/office/drawing/2014/main" id="{32F79724-89AC-B0E1-BB15-74C9599720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08364" y="2525308"/>
                        <a:ext cx="1571068" cy="472281"/>
                      </a:xfrm>
                      <a:prstGeom prst="rect">
                        <a:avLst/>
                      </a:prstGeom>
                      <a:noFill/>
                      <a:ln cmpd="sng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600" dirty="0">
                            <a:latin typeface="+mn-ea"/>
                          </a:rPr>
                          <a:t>定位模块</a:t>
                        </a:r>
                      </a:p>
                    </p:txBody>
                  </p:sp>
                  <p:sp>
                    <p:nvSpPr>
                      <p:cNvPr id="45" name="文本框 44">
                        <a:extLst>
                          <a:ext uri="{FF2B5EF4-FFF2-40B4-BE49-F238E27FC236}">
                            <a16:creationId xmlns:a16="http://schemas.microsoft.com/office/drawing/2014/main" id="{5288D032-A6B9-5A63-9564-0CFFAD38E5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52226" y="3280387"/>
                        <a:ext cx="1413398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将点云投影三视图</a:t>
                        </a:r>
                      </a:p>
                    </p:txBody>
                  </p:sp>
                  <p:sp>
                    <p:nvSpPr>
                      <p:cNvPr id="46" name="文本框 45">
                        <a:extLst>
                          <a:ext uri="{FF2B5EF4-FFF2-40B4-BE49-F238E27FC236}">
                            <a16:creationId xmlns:a16="http://schemas.microsoft.com/office/drawing/2014/main" id="{5631D1DA-D9F4-94DD-3FEA-C3B20C75ABB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22172" y="3278149"/>
                        <a:ext cx="1030159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检测框过滤</a:t>
                        </a:r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D4144BF3-6212-A40E-E137-31DF8FAB3C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52225" y="3985228"/>
                        <a:ext cx="1399857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00" dirty="0"/>
                          <a:t>DBSCAN</a:t>
                        </a:r>
                        <a:r>
                          <a:rPr lang="zh-CN" altLang="en-US" sz="1000" dirty="0"/>
                          <a:t>聚类</a:t>
                        </a:r>
                      </a:p>
                    </p:txBody>
                  </p:sp>
                  <p:sp>
                    <p:nvSpPr>
                      <p:cNvPr id="50" name="文本框 49">
                        <a:extLst>
                          <a:ext uri="{FF2B5EF4-FFF2-40B4-BE49-F238E27FC236}">
                            <a16:creationId xmlns:a16="http://schemas.microsoft.com/office/drawing/2014/main" id="{5D10CAD0-B24C-DEC7-1BC1-290198A7E49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5737" y="3278150"/>
                        <a:ext cx="1376322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三视图投影到拼接图</a:t>
                        </a:r>
                      </a:p>
                    </p:txBody>
                  </p:sp>
                  <p:sp>
                    <p:nvSpPr>
                      <p:cNvPr id="51" name="文本框 50">
                        <a:extLst>
                          <a:ext uri="{FF2B5EF4-FFF2-40B4-BE49-F238E27FC236}">
                            <a16:creationId xmlns:a16="http://schemas.microsoft.com/office/drawing/2014/main" id="{B15F4E89-0296-1257-A1F6-817C3B7A867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16985" y="3985227"/>
                        <a:ext cx="1376321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00" dirty="0"/>
                          <a:t>IOU</a:t>
                        </a:r>
                        <a:r>
                          <a:rPr lang="zh-CN" altLang="en-US" sz="1000" dirty="0"/>
                          <a:t>计算并选择</a:t>
                        </a:r>
                      </a:p>
                    </p:txBody>
                  </p:sp>
                  <p:sp>
                    <p:nvSpPr>
                      <p:cNvPr id="53" name="文本框 52">
                        <a:extLst>
                          <a:ext uri="{FF2B5EF4-FFF2-40B4-BE49-F238E27FC236}">
                            <a16:creationId xmlns:a16="http://schemas.microsoft.com/office/drawing/2014/main" id="{8E56459F-FFA2-DA0B-6215-EAE3C9AD3A7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58209" y="3979902"/>
                        <a:ext cx="1030160" cy="24622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可视化</a:t>
                        </a:r>
                      </a:p>
                    </p:txBody>
                  </p:sp>
                </p:grpSp>
                <p:sp>
                  <p:nvSpPr>
                    <p:cNvPr id="2097153" name="文本框 2097152">
                      <a:extLst>
                        <a:ext uri="{FF2B5EF4-FFF2-40B4-BE49-F238E27FC236}">
                          <a16:creationId xmlns:a16="http://schemas.microsoft.com/office/drawing/2014/main" id="{FBBEB81F-FA4B-C317-6FC4-0948FCFE8E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0581" y="5307109"/>
                      <a:ext cx="2282294" cy="230832"/>
                    </a:xfrm>
                    <a:prstGeom prst="rect">
                      <a:avLst/>
                    </a:prstGeom>
                    <a:noFill/>
                    <a:ln cmpd="sng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:r>
                        <a:rPr lang="zh-CN" altLang="en-US" sz="900" dirty="0"/>
                        <a:t>检测框</a:t>
                      </a:r>
                      <a:r>
                        <a:rPr lang="en-US" altLang="zh-CN" sz="900" dirty="0"/>
                        <a:t>+</a:t>
                      </a:r>
                      <a:r>
                        <a:rPr lang="zh-CN" altLang="en-US" sz="900" dirty="0"/>
                        <a:t>拼接图</a:t>
                      </a:r>
                    </a:p>
                  </p:txBody>
                </p:sp>
              </p:grpSp>
            </p:grpSp>
          </p:grpSp>
        </p:grpSp>
      </p:grpSp>
      <p:sp>
        <p:nvSpPr>
          <p:cNvPr id="2097158" name="文本框 2097157">
            <a:extLst>
              <a:ext uri="{FF2B5EF4-FFF2-40B4-BE49-F238E27FC236}">
                <a16:creationId xmlns:a16="http://schemas.microsoft.com/office/drawing/2014/main" id="{F720A1C4-F3C1-1D3F-7096-76161D184F17}"/>
              </a:ext>
            </a:extLst>
          </p:cNvPr>
          <p:cNvSpPr txBox="1"/>
          <p:nvPr/>
        </p:nvSpPr>
        <p:spPr>
          <a:xfrm>
            <a:off x="3581401" y="6425251"/>
            <a:ext cx="4139381" cy="369332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技术路线图</a:t>
            </a:r>
          </a:p>
        </p:txBody>
      </p:sp>
    </p:spTree>
    <p:extLst>
      <p:ext uri="{BB962C8B-B14F-4D97-AF65-F5344CB8AC3E}">
        <p14:creationId xmlns:p14="http://schemas.microsoft.com/office/powerpoint/2010/main" val="105697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2E0D-9321-772E-74BB-778DB9C6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BC69E731-87D3-F2B8-DB77-2870416CD353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zh-CN" altLang="en-US" sz="3200" dirty="0">
              <a:solidFill>
                <a:srgbClr val="263A5E"/>
              </a:solidFill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83AC44A2-EB8D-2527-5963-8E490A35A5AA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33C67024-A2D4-C6DB-6A11-D835BD1E10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782D559D-D1D3-160E-1D71-E1D381E5C014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A5162B70-D2CB-7ADB-2F1E-E58ED094FD4A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26C8CB-24FD-D274-B683-E525504414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8542" y="1535305"/>
            <a:ext cx="3602686" cy="123396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1230839-8340-912E-EAF2-04727C0A878E}"/>
              </a:ext>
            </a:extLst>
          </p:cNvPr>
          <p:cNvSpPr txBox="1"/>
          <p:nvPr/>
        </p:nvSpPr>
        <p:spPr>
          <a:xfrm>
            <a:off x="5312377" y="2902919"/>
            <a:ext cx="2047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目标检测可视化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3EFD576-05F8-BEDC-5F33-E6F01CD511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971" y="1535305"/>
            <a:ext cx="3761318" cy="136761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A773B18-CF41-A8AB-D90A-8028CA85B585}"/>
              </a:ext>
            </a:extLst>
          </p:cNvPr>
          <p:cNvSpPr txBox="1"/>
          <p:nvPr/>
        </p:nvSpPr>
        <p:spPr>
          <a:xfrm>
            <a:off x="0" y="2878974"/>
            <a:ext cx="4179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点云投影到拼接图示意图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DCB8C6-905E-1C24-F316-EDCAE7DC2C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3116" y="1529440"/>
            <a:ext cx="3528913" cy="12831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A3A96CB-242A-EBED-1E73-1CEBA6E399BB}"/>
              </a:ext>
            </a:extLst>
          </p:cNvPr>
          <p:cNvSpPr txBox="1"/>
          <p:nvPr/>
        </p:nvSpPr>
        <p:spPr>
          <a:xfrm>
            <a:off x="8697204" y="2902919"/>
            <a:ext cx="3494796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基于检测框进行过滤点云示意图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9A980F-074D-59C9-27CF-E74087B6A2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875" y="3948016"/>
            <a:ext cx="2695261" cy="17855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63D9FF-D1FE-0DAA-2602-D2BD13709C14}"/>
              </a:ext>
            </a:extLst>
          </p:cNvPr>
          <p:cNvSpPr txBox="1"/>
          <p:nvPr/>
        </p:nvSpPr>
        <p:spPr>
          <a:xfrm>
            <a:off x="985913" y="5768110"/>
            <a:ext cx="2057183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3d</a:t>
            </a:r>
            <a:r>
              <a:rPr lang="zh-CN" altLang="en-US" sz="1400" dirty="0"/>
              <a:t>可视化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B1841F-D125-A20A-9561-F6996D5F9C4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5196" y="4017408"/>
            <a:ext cx="4214058" cy="153223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72AC8EF-9E4E-8731-03BE-EFD34ADE685E}"/>
              </a:ext>
            </a:extLst>
          </p:cNvPr>
          <p:cNvSpPr txBox="1"/>
          <p:nvPr/>
        </p:nvSpPr>
        <p:spPr>
          <a:xfrm>
            <a:off x="5164786" y="5743420"/>
            <a:ext cx="2057183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2d</a:t>
            </a:r>
            <a:r>
              <a:rPr lang="zh-CN" altLang="en-US" sz="1400" dirty="0"/>
              <a:t>可视化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49EB05-689A-CBF5-0340-70A17CF8E6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1068" y="4436062"/>
            <a:ext cx="1750961" cy="9787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E406972-DE79-EC65-30F6-F9927208469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3116" y="4436062"/>
            <a:ext cx="1750961" cy="9787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0B41BB9-306D-3FEE-DB5D-A85089654C88}"/>
              </a:ext>
            </a:extLst>
          </p:cNvPr>
          <p:cNvSpPr txBox="1"/>
          <p:nvPr/>
        </p:nvSpPr>
        <p:spPr>
          <a:xfrm>
            <a:off x="9115485" y="5743419"/>
            <a:ext cx="2057183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原图可视化</a:t>
            </a:r>
          </a:p>
        </p:txBody>
      </p:sp>
    </p:spTree>
    <p:extLst>
      <p:ext uri="{BB962C8B-B14F-4D97-AF65-F5344CB8AC3E}">
        <p14:creationId xmlns:p14="http://schemas.microsoft.com/office/powerpoint/2010/main" val="353600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E3F5-AD5A-57D0-E7BA-55985E3E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CB9A4557-631C-7DE8-F593-55B937019670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研究生学习</a:t>
            </a:r>
            <a:endParaRPr lang="zh-CN" altLang="en-US" sz="3200" dirty="0">
              <a:solidFill>
                <a:srgbClr val="263A5E"/>
              </a:solidFill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ABD7AF47-71AF-8461-CC1A-6B2FA375FDDE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438FCC80-95F1-B868-0CA6-B7718EDA73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44B6D4C8-0DAA-E4B1-A285-3278600A5D05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1F950D-02FB-B38C-E02E-186974CA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A9A5D22E-4880-9260-6D4B-7586929477E5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E3DD4E-4A7C-4FD9-8006-DF06DDA08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129212"/>
              </p:ext>
            </p:extLst>
          </p:nvPr>
        </p:nvGraphicFramePr>
        <p:xfrm>
          <a:off x="5206436" y="1419032"/>
          <a:ext cx="6647936" cy="38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3968">
                  <a:extLst>
                    <a:ext uri="{9D8B030D-6E8A-4147-A177-3AD203B41FA5}">
                      <a16:colId xmlns:a16="http://schemas.microsoft.com/office/drawing/2014/main" val="3943020856"/>
                    </a:ext>
                  </a:extLst>
                </a:gridCol>
                <a:gridCol w="3323968">
                  <a:extLst>
                    <a:ext uri="{9D8B030D-6E8A-4147-A177-3AD203B41FA5}">
                      <a16:colId xmlns:a16="http://schemas.microsoft.com/office/drawing/2014/main" val="1371175820"/>
                    </a:ext>
                  </a:extLst>
                </a:gridCol>
              </a:tblGrid>
              <a:tr h="36477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目标框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计算坐标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33343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-26.42806,-3.62545,0.62500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77456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-26.25241,-2.61452,-1.60990)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35405"/>
                  </a:ext>
                </a:extLst>
              </a:tr>
              <a:tr h="364778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(-24.18000,3.90077,-1.11795)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439851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-26.45441,-2.74937,3.31165)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45438"/>
                  </a:ext>
                </a:extLst>
              </a:tr>
              <a:tr h="614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(-5.33190,-12.03388,1.91201)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628732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(-5.04961,-11.63372,-0.71488)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039577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9FEBE64-2C1C-8E0B-D1FD-13B469F2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84" y="1991066"/>
            <a:ext cx="4678014" cy="21941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59C06F6-82A9-5F2C-DF0B-D19ADBE94363}"/>
              </a:ext>
            </a:extLst>
          </p:cNvPr>
          <p:cNvSpPr txBox="1"/>
          <p:nvPr/>
        </p:nvSpPr>
        <p:spPr>
          <a:xfrm>
            <a:off x="617837" y="4275438"/>
            <a:ext cx="3797643" cy="369332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计算坐标在</a:t>
            </a:r>
            <a:r>
              <a:rPr lang="en-US" altLang="zh-CN" dirty="0" err="1"/>
              <a:t>cloudcompare</a:t>
            </a:r>
            <a:r>
              <a:rPr lang="zh-CN" altLang="en-US" dirty="0"/>
              <a:t>的可视化</a:t>
            </a:r>
          </a:p>
        </p:txBody>
      </p:sp>
    </p:spTree>
    <p:extLst>
      <p:ext uri="{BB962C8B-B14F-4D97-AF65-F5344CB8AC3E}">
        <p14:creationId xmlns:p14="http://schemas.microsoft.com/office/powerpoint/2010/main" val="301507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E438-6BB8-2036-2522-4912BF78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82A7FA8D-C3BF-F672-2013-27F0FE8C46AF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研究生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endParaRPr lang="zh-CN" altLang="en-US" sz="3200" dirty="0">
              <a:solidFill>
                <a:srgbClr val="263A5E"/>
              </a:solidFill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A845A2C0-E97F-AAD3-7807-1B80EAE5625E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A3FA8031-A0EB-99F4-6FA0-231EEC083CF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44452A15-857D-4857-F529-EBBBDB427988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8838AE51-6FC2-CA99-94F3-745104A82BC7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A6995D-40D0-4098-BA69-C4435EE53F7E}"/>
              </a:ext>
            </a:extLst>
          </p:cNvPr>
          <p:cNvSpPr txBox="1"/>
          <p:nvPr/>
        </p:nvSpPr>
        <p:spPr>
          <a:xfrm>
            <a:off x="717246" y="1153298"/>
            <a:ext cx="1433384" cy="369332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精度验证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AF7A8C-A15D-2715-F153-20981B89FC0D}"/>
              </a:ext>
            </a:extLst>
          </p:cNvPr>
          <p:cNvSpPr txBox="1"/>
          <p:nvPr/>
        </p:nvSpPr>
        <p:spPr>
          <a:xfrm>
            <a:off x="1128522" y="1550030"/>
            <a:ext cx="10610458" cy="1200329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zh-CN" altLang="en-US" dirty="0"/>
              <a:t>计算步骤：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在点云中选取与真值点对应的角点</a:t>
            </a:r>
            <a:r>
              <a:rPr lang="en-US" altLang="zh-CN" dirty="0"/>
              <a:t>k</a:t>
            </a:r>
            <a:endParaRPr lang="zh-CN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计算点</a:t>
            </a:r>
            <a:r>
              <a:rPr lang="en-US" altLang="zh-CN" dirty="0"/>
              <a:t>k</a:t>
            </a:r>
            <a:r>
              <a:rPr lang="zh-CN" altLang="zh-CN" dirty="0"/>
              <a:t>与车辆前进方向的夹角以及与车辆的距离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结合车辆的</a:t>
            </a:r>
            <a:r>
              <a:rPr lang="en-US" altLang="zh-CN" dirty="0"/>
              <a:t>GPS</a:t>
            </a:r>
            <a:r>
              <a:rPr lang="zh-CN" altLang="zh-CN" dirty="0"/>
              <a:t>位置信息以及航向角计算点</a:t>
            </a:r>
            <a:r>
              <a:rPr lang="en-US" altLang="zh-CN" dirty="0"/>
              <a:t>k</a:t>
            </a:r>
            <a:r>
              <a:rPr lang="zh-CN" altLang="zh-CN" dirty="0"/>
              <a:t>的地理坐标并与真值点的地理坐标进行比较得到误差值</a:t>
            </a:r>
          </a:p>
        </p:txBody>
      </p:sp>
      <p:pic>
        <p:nvPicPr>
          <p:cNvPr id="7" name="图片 6" descr="img_19_1728961713_qujibian_1.74904108_qujibian_1">
            <a:extLst>
              <a:ext uri="{FF2B5EF4-FFF2-40B4-BE49-F238E27FC236}">
                <a16:creationId xmlns:a16="http://schemas.microsoft.com/office/drawing/2014/main" id="{8F45CF61-36F9-FDD9-9B34-8DBEBA806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4" t="28911" r="34073" b="26532"/>
          <a:stretch>
            <a:fillRect/>
          </a:stretch>
        </p:blipFill>
        <p:spPr>
          <a:xfrm>
            <a:off x="717247" y="3182560"/>
            <a:ext cx="2336228" cy="1477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7A155F-DE07-25EA-687C-E3D56C8C6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47" y="4687288"/>
            <a:ext cx="2336228" cy="1736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C2D70DC-0530-81DB-98F5-59AC6A41C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774890"/>
              </p:ext>
            </p:extLst>
          </p:nvPr>
        </p:nvGraphicFramePr>
        <p:xfrm>
          <a:off x="3284237" y="3687085"/>
          <a:ext cx="8454745" cy="23018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0949">
                  <a:extLst>
                    <a:ext uri="{9D8B030D-6E8A-4147-A177-3AD203B41FA5}">
                      <a16:colId xmlns:a16="http://schemas.microsoft.com/office/drawing/2014/main" val="839431361"/>
                    </a:ext>
                  </a:extLst>
                </a:gridCol>
                <a:gridCol w="1690949">
                  <a:extLst>
                    <a:ext uri="{9D8B030D-6E8A-4147-A177-3AD203B41FA5}">
                      <a16:colId xmlns:a16="http://schemas.microsoft.com/office/drawing/2014/main" val="251139878"/>
                    </a:ext>
                  </a:extLst>
                </a:gridCol>
                <a:gridCol w="1690949">
                  <a:extLst>
                    <a:ext uri="{9D8B030D-6E8A-4147-A177-3AD203B41FA5}">
                      <a16:colId xmlns:a16="http://schemas.microsoft.com/office/drawing/2014/main" val="2132653245"/>
                    </a:ext>
                  </a:extLst>
                </a:gridCol>
                <a:gridCol w="1690949">
                  <a:extLst>
                    <a:ext uri="{9D8B030D-6E8A-4147-A177-3AD203B41FA5}">
                      <a16:colId xmlns:a16="http://schemas.microsoft.com/office/drawing/2014/main" val="55641300"/>
                    </a:ext>
                  </a:extLst>
                </a:gridCol>
                <a:gridCol w="1690949">
                  <a:extLst>
                    <a:ext uri="{9D8B030D-6E8A-4147-A177-3AD203B41FA5}">
                      <a16:colId xmlns:a16="http://schemas.microsoft.com/office/drawing/2014/main" val="196001690"/>
                    </a:ext>
                  </a:extLst>
                </a:gridCol>
              </a:tblGrid>
              <a:tr h="7164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目标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Lidar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坐标系坐标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真值地理坐标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对应点地理坐标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误差值（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127952"/>
                  </a:ext>
                </a:extLst>
              </a:tr>
              <a:tr h="421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垃圾桶角点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-12.870109,2.695736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-2.125026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30.6863125048, 114.3760210243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30.686313281476213, 114.37602118572957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u="sng" kern="100">
                          <a:solidFill>
                            <a:schemeClr val="tx1"/>
                          </a:solidFill>
                          <a:effectLst/>
                        </a:rPr>
                        <a:t>0.08748370808201845</a:t>
                      </a:r>
                      <a:endParaRPr lang="zh-CN" sz="105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998130"/>
                  </a:ext>
                </a:extLst>
              </a:tr>
              <a:tr h="741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垃圾桶角点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-12.534517,2.808689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-2.075889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30.6863139187,114.3760242618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30.686314792837454, 114.37602444134463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u="sng" kern="100">
                          <a:solidFill>
                            <a:schemeClr val="tx1"/>
                          </a:solidFill>
                          <a:effectLst/>
                        </a:rPr>
                        <a:t>0.09842552539361099</a:t>
                      </a:r>
                      <a:endParaRPr lang="zh-CN" sz="105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877153"/>
                  </a:ext>
                </a:extLst>
              </a:tr>
              <a:tr h="421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垃圾桶角点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>
                          <a:solidFill>
                            <a:schemeClr val="tx1"/>
                          </a:solidFill>
                          <a:effectLst/>
                        </a:rPr>
                        <a:t>-12.775320,3.767249</a:t>
                      </a:r>
                      <a:r>
                        <a:rPr lang="zh-CN" sz="1050" kern="10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en-US" sz="1050" kern="100">
                          <a:solidFill>
                            <a:schemeClr val="tx1"/>
                          </a:solidFill>
                          <a:effectLst/>
                        </a:rPr>
                        <a:t>-2.152466</a:t>
                      </a:r>
                      <a:r>
                        <a:rPr lang="zh-CN" sz="1050" kern="1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30.6863227846,114.3760196497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050" kern="100" dirty="0">
                          <a:solidFill>
                            <a:schemeClr val="tx1"/>
                          </a:solidFill>
                          <a:effectLst/>
                        </a:rPr>
                        <a:t>30.686322953278367, 114.37602028834499</a:t>
                      </a:r>
                      <a:r>
                        <a:rPr lang="zh-CN" sz="1050" kern="10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u="sng" kern="100" dirty="0">
                          <a:solidFill>
                            <a:schemeClr val="tx1"/>
                          </a:solidFill>
                          <a:effectLst/>
                        </a:rPr>
                        <a:t>0.06398571289409441</a:t>
                      </a:r>
                      <a:endParaRPr lang="zh-CN" sz="105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782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5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01AF-BDA2-A471-B570-EDE584C3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B42F3256-A67A-4703-8A63-F4F5D5E5E7D6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校园经历</a:t>
            </a:r>
            <a:endParaRPr lang="zh-CN" altLang="en-US" sz="3200" dirty="0">
              <a:solidFill>
                <a:srgbClr val="263A5E"/>
              </a:solidFill>
              <a:latin typeface="+mj-lt"/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25945D39-51A0-BBCE-E291-9BEE9D0DAFCD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7EC3D2CF-8034-D61A-2D66-D66CF5E103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4204F4D6-633A-95FF-304B-1B4481541BAA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EFCC5E-9442-71AE-9F07-290EF8A1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73B1E9C1-3076-15F9-D8C5-B9FF026DD07B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04E0B7-CE96-3CF6-CB89-D0C73B14E113}"/>
              </a:ext>
            </a:extLst>
          </p:cNvPr>
          <p:cNvSpPr txBox="1"/>
          <p:nvPr/>
        </p:nvSpPr>
        <p:spPr>
          <a:xfrm>
            <a:off x="626076" y="1535767"/>
            <a:ext cx="9784022" cy="4597862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在大一期间，积极参与校园志愿者活动，如社区敬老帮扶活动，加入学校 “敬老爱老” 志愿队，每周六下午前往周边社区养老院，陪老人聊天、读报纸，了解他们的生活需求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大二担任计算机学院志愿者协会组织部长期间，主要负责志愿活动的统筹策划、志愿者团队管理及内外资源协调，除了常规活动，同时以“互联网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教学”形式为浠水县留守儿童提供日常线上托管服务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担任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gis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中心电子信息第一党支部组织委员期间，认真配合党支部书记完成上级支委交代的任务，如党员信息核查，配合支部书记分工协作，完成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名党员的档案、组织关系及党费缴纳记录核对，针对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名党员的材料模糊问题，主动补全缺失信息，确保党员信息准确无误。协助书记开展主题党日活动，从流程梳理到细节落实全程配合；同时负责积极分子、发展对象及预备党员的遴选工作，严格对照标准整理相关材料、组织考察环节，保障遴选流程规范有序</a:t>
            </a: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8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44D5E-A57A-F5E2-8AC5-36E063DD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FD86BA35-B65A-80BD-832B-DB8C0EE12AD6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个人项目介绍</a:t>
            </a:r>
            <a:endParaRPr lang="zh-CN" altLang="en-US" sz="3200" dirty="0">
              <a:solidFill>
                <a:srgbClr val="263A5E"/>
              </a:solidFill>
              <a:latin typeface="+mj-lt"/>
              <a:ea typeface="华文中宋" panose="02010600040101010101" pitchFamily="2" charset="-122"/>
            </a:endParaRP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9EECD8E0-34AC-7C0B-DE8E-F11EA08CF2CC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98DECAEE-26BE-8FA6-9984-91F1793486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FB6B8B04-F7A9-87AC-C2B3-890601E4C974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238DCD4-AA94-E58F-6B2F-2FF679B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20A85339-883A-F1AB-7F93-D8289443D399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03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1F061E-ACBD-0144-D1AD-8D389E44F3B4}"/>
              </a:ext>
            </a:extLst>
          </p:cNvPr>
          <p:cNvSpPr txBox="1"/>
          <p:nvPr/>
        </p:nvSpPr>
        <p:spPr>
          <a:xfrm>
            <a:off x="924180" y="1081270"/>
            <a:ext cx="9916815" cy="2158283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项目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indent="457200">
              <a:lnSpc>
                <a:spcPct val="150000"/>
              </a:lnSpc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作为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实习生，参与公司基于车载雷达定位业务的开发，主要是开发关于点云存储和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数据服务功能：</a:t>
            </a:r>
          </a:p>
          <a:p>
            <a:pPr lvl="0" indent="457200">
              <a:lnSpc>
                <a:spcPct val="150000"/>
              </a:lnSpc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基于池化技术实现高性能激光雷达数据存储模块，设计并实现了多线程线程池，显著提升激光雷达点云数据存储效率。</a:t>
            </a:r>
          </a:p>
          <a:p>
            <a:pPr lvl="0" indent="457200">
              <a:lnSpc>
                <a:spcPct val="150000"/>
              </a:lnSpc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技术实现数据服务器，支持本机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程序实时消费，支持点云数据的高效网络传输，能够将大规模点云数据发送至其他进程进行后续处理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D87464-387F-2CC9-9B15-3E49EF1AAF3E}"/>
              </a:ext>
            </a:extLst>
          </p:cNvPr>
          <p:cNvSpPr txBox="1"/>
          <p:nvPr/>
        </p:nvSpPr>
        <p:spPr>
          <a:xfrm>
            <a:off x="924180" y="3208095"/>
            <a:ext cx="9982717" cy="1419619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项目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++动态内存分析⼯具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该工具可以帮助开发者更直观地了解程序中的内存分配情况，从而更容易发现内存泄漏。通过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hook C/C++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new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malloc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等函数关键字，记录跟踪内存分配行为。通过单例自动构造与析构开启内存跟踪，无需修改原始代码。最终以火焰图的形式进行可视化展示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283FA8-9D91-0000-911C-08E5BAD966D9}"/>
              </a:ext>
            </a:extLst>
          </p:cNvPr>
          <p:cNvSpPr txBox="1"/>
          <p:nvPr/>
        </p:nvSpPr>
        <p:spPr>
          <a:xfrm>
            <a:off x="1014025" y="4643452"/>
            <a:ext cx="9737124" cy="1967462"/>
          </a:xfrm>
          <a:prstGeom prst="rect">
            <a:avLst/>
          </a:prstGeom>
          <a:noFill/>
          <a:ln cmpd="sng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专业技能：</a:t>
            </a:r>
            <a:endParaRPr lang="en-US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30000"/>
              </a:lnSpc>
              <a:buFont typeface="微软雅黑" panose="020B0503020204020204" pitchFamily="34" charset="-122"/>
              <a:buChar char="•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熟练掌握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C++/modern C++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STL,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面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pitchFamily="49" charset="-122"/>
              </a:rPr>
              <a:t>向对象有深刻认识；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熟练掌握常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用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pitchFamily="49" charset="-122"/>
              </a:rPr>
              <a:t>的数据结构和算法；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30000"/>
              </a:lnSpc>
              <a:buFont typeface="微软雅黑" panose="020B0503020204020204" pitchFamily="34" charset="-122"/>
              <a:buChar char="•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熟悉关系型数据库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MySQL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，熟悉索引原理和索引优化、事务隔离级别、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ACID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实现原理、共享锁、排他锁。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30000"/>
              </a:lnSpc>
              <a:buFont typeface="微软雅黑" panose="020B0503020204020204" pitchFamily="34" charset="-122"/>
              <a:buChar char="•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了解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开发环境，熟悉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程序的构建过程，常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⽤⼯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pitchFamily="49" charset="-122"/>
              </a:rPr>
              <a:t>具包括</a:t>
            </a:r>
            <a:r>
              <a:rPr lang="en-US" altLang="zh-CN" sz="16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git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CMake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gdb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valgrind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等；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30000"/>
              </a:lnSpc>
              <a:buFont typeface="微软雅黑" panose="020B0503020204020204" pitchFamily="34" charset="-122"/>
              <a:buChar char="•"/>
            </a:pP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QT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一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pitchFamily="49" charset="-122"/>
              </a:rPr>
              <a:t>定认识，包括元对象、信号与槽和</a:t>
            </a: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model/view</a:t>
            </a:r>
            <a:r>
              <a:rPr lang="zh-CN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等概念；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19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接连接符 4"/>
          <p:cNvCxnSpPr>
            <a:cxnSpLocks/>
          </p:cNvCxnSpPr>
          <p:nvPr/>
        </p:nvCxnSpPr>
        <p:spPr>
          <a:xfrm>
            <a:off x="4636777" y="623405"/>
            <a:ext cx="8544" cy="22304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8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35404" y="903985"/>
            <a:ext cx="1240694" cy="1240694"/>
          </a:xfrm>
          <a:prstGeom prst="rect">
            <a:avLst/>
          </a:prstGeom>
        </p:spPr>
      </p:pic>
      <p:sp>
        <p:nvSpPr>
          <p:cNvPr id="1048620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97159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623" name="标题占位符 1"/>
          <p:cNvSpPr txBox="1"/>
          <p:nvPr/>
        </p:nvSpPr>
        <p:spPr>
          <a:xfrm>
            <a:off x="1728108" y="3533275"/>
            <a:ext cx="83877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感谢您的聆听！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4863484" y="533454"/>
            <a:ext cx="5428181" cy="815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/10/24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4863484" y="1435783"/>
            <a:ext cx="6016719" cy="1456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刘高峰</a:t>
            </a:r>
            <a:endParaRPr lang="en-US" altLang="zh-CN" sz="14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导师：曾文</a:t>
            </a:r>
            <a:endParaRPr lang="en-US" altLang="zh-CN" sz="14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40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中国地质大学（武汉</a:t>
            </a:r>
            <a:r>
              <a:rPr lang="en-US" altLang="zh-CN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地理与信息工程学院</a:t>
            </a:r>
            <a:endParaRPr lang="en-US" altLang="zh-CN" sz="14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40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高性能空间计算智能实验室（HPSCIL</a:t>
            </a:r>
            <a:r>
              <a:rPr lang="en-US" altLang="zh-CN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80498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cmpd="sng">
          <a:solidFill>
            <a:schemeClr val="tx1"/>
          </a:solidFill>
        </a:ln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20747</TotalTime>
  <Words>1230</Words>
  <Application>Microsoft Office PowerPoint</Application>
  <PresentationFormat>宽屏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等线</vt:lpstr>
      <vt:lpstr>等线 Light</vt:lpstr>
      <vt:lpstr>华文中宋</vt:lpstr>
      <vt:lpstr>宋体</vt:lpstr>
      <vt:lpstr>微软雅黑</vt:lpstr>
      <vt:lpstr>微软雅黑</vt:lpstr>
      <vt:lpstr>微软雅黑 Light</vt:lpstr>
      <vt:lpstr>Arial</vt:lpstr>
      <vt:lpstr>Calibri</vt:lpstr>
      <vt:lpstr>Office 主题​​</vt:lpstr>
      <vt:lpstr>面试PPT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主题一主题一主题一主题一主题一主题一主题一主题一</dc:title>
  <dc:creator>Gao Huan</dc:creator>
  <cp:lastModifiedBy>gaofeng liu</cp:lastModifiedBy>
  <cp:revision>1269</cp:revision>
  <dcterms:created xsi:type="dcterms:W3CDTF">2018-11-14T20:24:13Z</dcterms:created>
  <dcterms:modified xsi:type="dcterms:W3CDTF">2025-10-23T13:32:02Z</dcterms:modified>
</cp:coreProperties>
</file>